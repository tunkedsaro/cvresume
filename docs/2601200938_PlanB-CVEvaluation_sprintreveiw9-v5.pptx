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heme/theme2.xml" ContentType="application/vnd.openxmlformats-officedocument.theme+xml"/>
  <Override PartName="/ppt/tags/tag25.xml" ContentType="application/vnd.openxmlformats-officedocument.presentationml.tags+xml"/>
  <Override PartName="/ppt/notesSlides/notesSlide1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2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3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42"/>
  </p:notesMasterIdLst>
  <p:sldIdLst>
    <p:sldId id="2147481407" r:id="rId5"/>
    <p:sldId id="2147481397" r:id="rId6"/>
    <p:sldId id="2147481438" r:id="rId7"/>
    <p:sldId id="2147481399" r:id="rId8"/>
    <p:sldId id="2147481447" r:id="rId9"/>
    <p:sldId id="2147481428" r:id="rId10"/>
    <p:sldId id="2147481419" r:id="rId11"/>
    <p:sldId id="2147481429" r:id="rId12"/>
    <p:sldId id="2147481449" r:id="rId13"/>
    <p:sldId id="2147481430" r:id="rId14"/>
    <p:sldId id="2147481439" r:id="rId15"/>
    <p:sldId id="2147481400" r:id="rId16"/>
    <p:sldId id="2147481401" r:id="rId17"/>
    <p:sldId id="2147481464" r:id="rId18"/>
    <p:sldId id="2147481440" r:id="rId19"/>
    <p:sldId id="2147481431" r:id="rId20"/>
    <p:sldId id="2147481432" r:id="rId21"/>
    <p:sldId id="2147481433" r:id="rId22"/>
    <p:sldId id="2147481415" r:id="rId23"/>
    <p:sldId id="2147481444" r:id="rId24"/>
    <p:sldId id="2147481448" r:id="rId25"/>
    <p:sldId id="2147481445" r:id="rId26"/>
    <p:sldId id="2147481446" r:id="rId27"/>
    <p:sldId id="2147481450" r:id="rId28"/>
    <p:sldId id="2147481421" r:id="rId29"/>
    <p:sldId id="2147481451" r:id="rId30"/>
    <p:sldId id="2147481453" r:id="rId31"/>
    <p:sldId id="2147481454" r:id="rId32"/>
    <p:sldId id="2147481455" r:id="rId33"/>
    <p:sldId id="2147481435" r:id="rId34"/>
    <p:sldId id="2147481457" r:id="rId35"/>
    <p:sldId id="2147481463" r:id="rId36"/>
    <p:sldId id="2147481456" r:id="rId37"/>
    <p:sldId id="2147481459" r:id="rId38"/>
    <p:sldId id="2147481434" r:id="rId39"/>
    <p:sldId id="2147481462" r:id="rId40"/>
    <p:sldId id="2147481460" r:id="rId41"/>
  </p:sldIdLst>
  <p:sldSz cx="12192000" cy="6858000"/>
  <p:notesSz cx="6858000" cy="9144000"/>
  <p:custDataLst>
    <p:tags r:id="rId43"/>
  </p:custDataLst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96BC19-84A7-71D6-ADA7-6EA315955BC1}" name="Oranid Yenradee" initials="OY" userId="S::oranid.y@terradigitalventures.com::cb78efdd-a166-4d42-83cd-1e60b643eaef" providerId="AD"/>
  <p188:author id="{473B1156-A480-8CA3-D3F2-C30DEAE1D71B}" name="Thanapark Mahathorn" initials="TM" userId="S::thanapark.m@terradigitalventures.com::ca403843-75d4-4adb-885f-0880d95e70f4" providerId="AD"/>
  <p188:author id="{B1E6349C-EB2F-5C4D-E3C1-ABA64AA9F93F}" name="Nachai Limsettho" initials="NL" userId="S::nachai.l@terradigitalventures.com::297d3269-d897-4f19-9670-2d49716f70e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E79"/>
    <a:srgbClr val="98C29A"/>
    <a:srgbClr val="509BCA"/>
    <a:srgbClr val="FFF5CD"/>
    <a:srgbClr val="EBF4F8"/>
    <a:srgbClr val="CCEBD7"/>
    <a:srgbClr val="AEDBAD"/>
    <a:srgbClr val="C4D9DA"/>
    <a:srgbClr val="EE9E59"/>
    <a:srgbClr val="009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F77FA9-1A2D-6326-74F6-3C03499CD42F}" v="19" dt="2026-01-20T03:29:52.9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gs" Target="tags/tag1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2D7AB7-5911-2A4E-80D9-27224B0E124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ED5659-5C02-E144-8DDA-FBCFBA26F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832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ED5659-5C02-E144-8DDA-FBCFBA26F6C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1918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{</a:t>
            </a:r>
          </a:p>
          <a:p>
            <a:r>
              <a:rPr lang="en-US"/>
              <a:t>  "</a:t>
            </a:r>
            <a:r>
              <a:rPr lang="en-US" err="1"/>
              <a:t>resumeJson</a:t>
            </a:r>
            <a:r>
              <a:rPr lang="en-US"/>
              <a:t>": {</a:t>
            </a:r>
          </a:p>
          <a:p>
            <a:r>
              <a:rPr lang="en-US"/>
              <a:t>    "Profile": {</a:t>
            </a:r>
          </a:p>
          <a:p>
            <a:r>
              <a:rPr lang="en-US"/>
              <a:t>      "name": "Juan Jose Carin",</a:t>
            </a:r>
          </a:p>
          <a:p>
            <a:r>
              <a:rPr lang="en-US"/>
              <a:t>      "email": "juanjosecarin@gmail.com",</a:t>
            </a:r>
          </a:p>
          <a:p>
            <a:r>
              <a:rPr lang="en-US"/>
              <a:t>      "</a:t>
            </a:r>
            <a:r>
              <a:rPr lang="en-US" err="1"/>
              <a:t>linkedin</a:t>
            </a:r>
            <a:r>
              <a:rPr lang="en-US"/>
              <a:t>": "linkedin.com/in/</a:t>
            </a:r>
            <a:r>
              <a:rPr lang="en-US" err="1"/>
              <a:t>juanjosecarin</a:t>
            </a:r>
            <a:r>
              <a:rPr lang="en-US"/>
              <a:t>"</a:t>
            </a:r>
          </a:p>
          <a:p>
            <a:r>
              <a:rPr lang="en-US"/>
              <a:t>    },</a:t>
            </a:r>
          </a:p>
          <a:p>
            <a:r>
              <a:rPr lang="en-US"/>
              <a:t>    "Summary": {</a:t>
            </a:r>
          </a:p>
          <a:p>
            <a:r>
              <a:rPr lang="en-US"/>
              <a:t>      "</a:t>
            </a:r>
            <a:r>
              <a:rPr lang="en-US" err="1"/>
              <a:t>summary_points</a:t>
            </a:r>
            <a:r>
              <a:rPr lang="en-US"/>
              <a:t>": [</a:t>
            </a:r>
          </a:p>
          <a:p>
            <a:r>
              <a:rPr lang="en-US"/>
              <a:t>        "Experienced data scientist with analytical background."</a:t>
            </a:r>
          </a:p>
          <a:p>
            <a:r>
              <a:rPr lang="en-US"/>
              <a:t>      ]</a:t>
            </a:r>
          </a:p>
          <a:p>
            <a:r>
              <a:rPr lang="en-US"/>
              <a:t>    },</a:t>
            </a:r>
          </a:p>
          <a:p>
            <a:r>
              <a:rPr lang="en-US"/>
              <a:t>    "Education": [</a:t>
            </a:r>
          </a:p>
          <a:p>
            <a:r>
              <a:rPr lang="en-US"/>
              <a:t>      {</a:t>
            </a:r>
          </a:p>
          <a:p>
            <a:r>
              <a:rPr lang="en-US"/>
              <a:t>        "institution": "University of California, Berkeley",</a:t>
            </a:r>
          </a:p>
          <a:p>
            <a:r>
              <a:rPr lang="en-US"/>
              <a:t>        "degree": "MIDS",</a:t>
            </a:r>
          </a:p>
          <a:p>
            <a:r>
              <a:rPr lang="en-US"/>
              <a:t>        "</a:t>
            </a:r>
            <a:r>
              <a:rPr lang="en-US" err="1"/>
              <a:t>gpa</a:t>
            </a:r>
            <a:r>
              <a:rPr lang="en-US"/>
              <a:t>": "3.93"</a:t>
            </a:r>
          </a:p>
          <a:p>
            <a:r>
              <a:rPr lang="en-US"/>
              <a:t>      }</a:t>
            </a:r>
          </a:p>
          <a:p>
            <a:r>
              <a:rPr lang="en-US"/>
              <a:t>    ],</a:t>
            </a:r>
          </a:p>
          <a:p>
            <a:r>
              <a:rPr lang="en-US"/>
              <a:t>    "Experience": [</a:t>
            </a:r>
          </a:p>
          <a:p>
            <a:r>
              <a:rPr lang="en-US"/>
              <a:t>      {</a:t>
            </a:r>
          </a:p>
          <a:p>
            <a:r>
              <a:rPr lang="en-US"/>
              <a:t>        "title": "Data Scientist",</a:t>
            </a:r>
          </a:p>
          <a:p>
            <a:r>
              <a:rPr lang="en-US"/>
              <a:t>        "company": "CONENTO",</a:t>
            </a:r>
          </a:p>
          <a:p>
            <a:r>
              <a:rPr lang="en-US"/>
              <a:t>        "dates": "2016",</a:t>
            </a:r>
          </a:p>
          <a:p>
            <a:r>
              <a:rPr lang="en-US"/>
              <a:t>        "description": [</a:t>
            </a:r>
          </a:p>
          <a:p>
            <a:r>
              <a:rPr lang="en-US"/>
              <a:t>          "Built ETL pipelines and predictive models."</a:t>
            </a:r>
          </a:p>
          <a:p>
            <a:r>
              <a:rPr lang="en-US"/>
              <a:t>        ]</a:t>
            </a:r>
          </a:p>
          <a:p>
            <a:r>
              <a:rPr lang="en-US"/>
              <a:t>      }</a:t>
            </a:r>
          </a:p>
          <a:p>
            <a:r>
              <a:rPr lang="en-US"/>
              <a:t>    ],</a:t>
            </a:r>
          </a:p>
          <a:p>
            <a:r>
              <a:rPr lang="en-US"/>
              <a:t>    "Activities": [</a:t>
            </a:r>
          </a:p>
          <a:p>
            <a:r>
              <a:rPr lang="en-US"/>
              <a:t>      {</a:t>
            </a:r>
          </a:p>
          <a:p>
            <a:r>
              <a:rPr lang="en-US"/>
              <a:t>        "name": "LLM Evaluation Harness"</a:t>
            </a:r>
          </a:p>
          <a:p>
            <a:r>
              <a:rPr lang="en-US"/>
              <a:t>      }</a:t>
            </a:r>
          </a:p>
          <a:p>
            <a:r>
              <a:rPr lang="en-US"/>
              <a:t>    ],</a:t>
            </a:r>
          </a:p>
          <a:p>
            <a:r>
              <a:rPr lang="en-US"/>
              <a:t>    "Skills": {</a:t>
            </a:r>
          </a:p>
          <a:p>
            <a:r>
              <a:rPr lang="en-US"/>
              <a:t>      "skills": [</a:t>
            </a:r>
          </a:p>
          <a:p>
            <a:r>
              <a:rPr lang="en-US"/>
              <a:t>        "Python",</a:t>
            </a:r>
          </a:p>
          <a:p>
            <a:r>
              <a:rPr lang="en-US"/>
              <a:t>        "RAG",</a:t>
            </a:r>
          </a:p>
          <a:p>
            <a:r>
              <a:rPr lang="en-US"/>
              <a:t>        "Data Analysis",</a:t>
            </a:r>
          </a:p>
          <a:p>
            <a:r>
              <a:rPr lang="en-US"/>
              <a:t>        "Machine Learning"</a:t>
            </a:r>
          </a:p>
          <a:p>
            <a:r>
              <a:rPr lang="en-US"/>
              <a:t>      ]</a:t>
            </a:r>
          </a:p>
          <a:p>
            <a:r>
              <a:rPr lang="en-US"/>
              <a:t>    }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ED5659-5C02-E144-8DDA-FBCFBA26F6C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53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ED5659-5C02-E144-8DDA-FBCFBA26F6C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85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B7E78-2B04-26E9-CC4D-0932914E1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9BDE3-A887-0068-D4F8-481163420A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7F6AEE-B1C9-C22D-764A-176D1E694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3452A-69F5-AC62-E67A-324609A443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ED5659-5C02-E144-8DDA-FBCFBA26F6C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51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C81B2-B92B-0AD4-2FB8-B2B5E915F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23672D-A147-7930-0291-1C2A34795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A9B691-16F6-A1B9-9DCA-5745C39E50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C3167-DE4D-1D5D-6506-08A0E96102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ED5659-5C02-E144-8DDA-FBCFBA26F6C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89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B17C1-6D2D-6241-2B28-D9B557F85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5F21B4-4FB4-9F1E-CC0E-EDFE96F17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C14E97-AB58-A978-14F5-741E22372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0BE75-2B44-B5D7-1793-47C37A160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ED5659-5C02-E144-8DDA-FBCFBA26F6C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44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98701-7BB4-5635-9A0D-0BC46F46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54DAC-72FB-C66C-1EB2-EFBBC08DD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4C345B-A35A-ACD7-824F-FE411D015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55F74-B561-9252-41FD-08012E1262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ED5659-5C02-E144-8DDA-FBCFBA26F6C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748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758C041-1489-BE4F-867D-7BAB4AF03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11221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758C041-1489-BE4F-867D-7BAB4AF03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362C321A-F03B-109C-A3F1-2A3BDAA170FA}"/>
              </a:ext>
            </a:extLst>
          </p:cNvPr>
          <p:cNvSpPr/>
          <p:nvPr/>
        </p:nvSpPr>
        <p:spPr>
          <a:xfrm>
            <a:off x="1" y="5312780"/>
            <a:ext cx="12192000" cy="1541505"/>
          </a:xfrm>
          <a:prstGeom prst="rect">
            <a:avLst/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3A5DF20-1A16-723D-9893-AE4787B01691}"/>
              </a:ext>
            </a:extLst>
          </p:cNvPr>
          <p:cNvSpPr/>
          <p:nvPr/>
        </p:nvSpPr>
        <p:spPr>
          <a:xfrm>
            <a:off x="0" y="3"/>
            <a:ext cx="12192000" cy="5312778"/>
          </a:xfrm>
          <a:prstGeom prst="rect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35798EB2-149A-161F-BBB0-24ACE2900E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4536650"/>
            <a:ext cx="10413365" cy="369539"/>
          </a:xfrm>
        </p:spPr>
        <p:txBody>
          <a:bodyPr lIns="0" tIns="45720" rIns="0" bIns="0" anchor="ctr"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DD MMM YYYY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25709-1C24-C014-6BCD-2D2460BB3E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76248"/>
            <a:ext cx="10413365" cy="2642034"/>
          </a:xfrm>
        </p:spPr>
        <p:txBody>
          <a:bodyPr vert="horz" lIns="0" tIns="0" rIns="0" bIns="0" anchor="b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44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cover title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42499B0-98AD-F54D-EE03-2A8661553F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3655157"/>
            <a:ext cx="10413365" cy="658826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000" b="0" dirty="0">
                <a:solidFill>
                  <a:schemeClr val="bg2"/>
                </a:solidFill>
              </a:defRPr>
            </a:lvl1pPr>
          </a:lstStyle>
          <a:p>
            <a:pPr lvl="0">
              <a:spcAft>
                <a:spcPts val="600"/>
              </a:spcAft>
            </a:pPr>
            <a:r>
              <a:rPr lang="en-US"/>
              <a:t>Click to edit project name / document name</a:t>
            </a:r>
          </a:p>
        </p:txBody>
      </p:sp>
      <p:pic>
        <p:nvPicPr>
          <p:cNvPr id="8" name="Picture 7" descr="A picture containing moon, astronomical object&#10;&#10;Description automatically generated">
            <a:extLst>
              <a:ext uri="{FF2B5EF4-FFF2-40B4-BE49-F238E27FC236}">
                <a16:creationId xmlns:a16="http://schemas.microsoft.com/office/drawing/2014/main" id="{C83A5C60-79BF-327B-4C48-D03018A618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2790" y="6256376"/>
            <a:ext cx="861060" cy="369539"/>
          </a:xfrm>
          <a:prstGeom prst="rect">
            <a:avLst/>
          </a:prstGeom>
        </p:spPr>
      </p:pic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9F6B5E19-D9AB-6941-DF09-35EDEE7568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5" y="5913120"/>
            <a:ext cx="3117215" cy="712794"/>
          </a:xfrm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Client logo’s placeholder</a:t>
            </a:r>
          </a:p>
          <a:p>
            <a:r>
              <a:rPr lang="en-US"/>
              <a:t>(Align bottom with the box &amp; Terra logo)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1B62F7-4A06-B70A-A07D-E9D80E01615D}"/>
              </a:ext>
            </a:extLst>
          </p:cNvPr>
          <p:cNvSpPr>
            <a:spLocks/>
          </p:cNvSpPr>
          <p:nvPr/>
        </p:nvSpPr>
        <p:spPr>
          <a:xfrm>
            <a:off x="-1" y="3340948"/>
            <a:ext cx="10892791" cy="91543"/>
          </a:xfrm>
          <a:prstGeom prst="rect">
            <a:avLst/>
          </a:prstGeom>
          <a:solidFill>
            <a:schemeClr val="tx2"/>
          </a:solidFill>
          <a:ln w="3143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75" tIns="15088" rIns="30175" bIns="150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err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016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758C041-1489-BE4F-867D-7BAB4AF03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60181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758C041-1489-BE4F-867D-7BAB4AF03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362C321A-F03B-109C-A3F1-2A3BDAA170FA}"/>
              </a:ext>
            </a:extLst>
          </p:cNvPr>
          <p:cNvSpPr/>
          <p:nvPr/>
        </p:nvSpPr>
        <p:spPr>
          <a:xfrm>
            <a:off x="1" y="5710335"/>
            <a:ext cx="12192000" cy="1143950"/>
          </a:xfrm>
          <a:prstGeom prst="rect">
            <a:avLst/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35798EB2-149A-161F-BBB0-24ACE2900E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15804" y="5913121"/>
            <a:ext cx="1938046" cy="712794"/>
          </a:xfrm>
        </p:spPr>
        <p:txBody>
          <a:bodyPr vert="horz" lIns="0" tIns="0" rIns="0" bIns="0" rtlCol="0" anchor="t">
            <a:noAutofit/>
          </a:bodyPr>
          <a:lstStyle>
            <a:lvl1pPr algn="r">
              <a:defRPr lang="en-US" sz="1800" b="0" dirty="0"/>
            </a:lvl1pPr>
          </a:lstStyle>
          <a:p>
            <a:pPr lvl="0">
              <a:spcAft>
                <a:spcPts val="600"/>
              </a:spcAft>
            </a:pPr>
            <a:r>
              <a:rPr lang="en-US"/>
              <a:t>DD MMM YYYY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25709-1C24-C014-6BCD-2D2460BB3E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1320340"/>
            <a:ext cx="11274425" cy="4161623"/>
          </a:xfrm>
        </p:spPr>
        <p:txBody>
          <a:bodyPr vert="horz" lIns="0" tIns="0" rIns="0" bIns="0" anchor="b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cover title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42499B0-98AD-F54D-EE03-2A8661553F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6" y="5913120"/>
            <a:ext cx="5790746" cy="712794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>
              <a:spcAft>
                <a:spcPts val="600"/>
              </a:spcAft>
            </a:pPr>
            <a:r>
              <a:rPr lang="en-US"/>
              <a:t>Click to edit project name / document name</a:t>
            </a:r>
          </a:p>
        </p:txBody>
      </p:sp>
      <p:pic>
        <p:nvPicPr>
          <p:cNvPr id="8" name="Picture 7" descr="A picture containing moon, astronomical object&#10;&#10;Description automatically generated">
            <a:extLst>
              <a:ext uri="{FF2B5EF4-FFF2-40B4-BE49-F238E27FC236}">
                <a16:creationId xmlns:a16="http://schemas.microsoft.com/office/drawing/2014/main" id="{C83A5C60-79BF-327B-4C48-D03018A618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2790" y="476248"/>
            <a:ext cx="861060" cy="36953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665C83C-E23C-3E94-71D4-7EA34E9D5353}"/>
              </a:ext>
            </a:extLst>
          </p:cNvPr>
          <p:cNvSpPr>
            <a:spLocks/>
          </p:cNvSpPr>
          <p:nvPr/>
        </p:nvSpPr>
        <p:spPr>
          <a:xfrm>
            <a:off x="479425" y="5674682"/>
            <a:ext cx="11274425" cy="45719"/>
          </a:xfrm>
          <a:prstGeom prst="rect">
            <a:avLst/>
          </a:prstGeom>
          <a:solidFill>
            <a:schemeClr val="tx1"/>
          </a:solidFill>
          <a:ln w="3143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75" tIns="15088" rIns="30175" bIns="150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err="1">
              <a:solidFill>
                <a:srgbClr val="FFFFFF"/>
              </a:solidFill>
            </a:endParaRP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5A79C997-C5B9-605B-95D3-B523B960400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9425" y="476248"/>
            <a:ext cx="3117215" cy="712794"/>
          </a:xfrm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Client logo’s placeholder</a:t>
            </a:r>
          </a:p>
          <a:p>
            <a:r>
              <a:rPr lang="en-US"/>
              <a:t>(Align bottom with the box &amp; Terra logo)</a:t>
            </a:r>
          </a:p>
        </p:txBody>
      </p:sp>
    </p:spTree>
    <p:extLst>
      <p:ext uri="{BB962C8B-B14F-4D97-AF65-F5344CB8AC3E}">
        <p14:creationId xmlns:p14="http://schemas.microsoft.com/office/powerpoint/2010/main" val="33557323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758C041-1489-BE4F-867D-7BAB4AF03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359699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758C041-1489-BE4F-867D-7BAB4AF03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362C321A-F03B-109C-A3F1-2A3BDAA170FA}"/>
              </a:ext>
            </a:extLst>
          </p:cNvPr>
          <p:cNvSpPr/>
          <p:nvPr/>
        </p:nvSpPr>
        <p:spPr>
          <a:xfrm>
            <a:off x="1" y="5312780"/>
            <a:ext cx="12192000" cy="1541505"/>
          </a:xfrm>
          <a:prstGeom prst="rect">
            <a:avLst/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35798EB2-149A-161F-BBB0-24ACE2900E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4593049"/>
            <a:ext cx="10413365" cy="369539"/>
          </a:xfrm>
        </p:spPr>
        <p:txBody>
          <a:bodyPr lIns="0" tIns="45720" rIns="0" bIns="0" anchor="ctr"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DD MMM YYYY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25709-1C24-C014-6BCD-2D2460BB3E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480" y="476248"/>
            <a:ext cx="10100310" cy="2950538"/>
          </a:xfrm>
        </p:spPr>
        <p:txBody>
          <a:bodyPr vert="horz" lIns="0" tIns="0" rIns="0" bIns="0" anchor="b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cover title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42499B0-98AD-F54D-EE03-2A8661553F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3711556"/>
            <a:ext cx="10413365" cy="658826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000" b="0" dirty="0">
                <a:solidFill>
                  <a:schemeClr val="bg1"/>
                </a:solidFill>
              </a:defRPr>
            </a:lvl1pPr>
          </a:lstStyle>
          <a:p>
            <a:pPr lvl="0">
              <a:spcAft>
                <a:spcPts val="600"/>
              </a:spcAft>
            </a:pPr>
            <a:r>
              <a:rPr lang="en-US"/>
              <a:t>Click to edit project name / document name</a:t>
            </a:r>
          </a:p>
        </p:txBody>
      </p:sp>
      <p:pic>
        <p:nvPicPr>
          <p:cNvPr id="8" name="Picture 7" descr="A picture containing moon, astronomical object&#10;&#10;Description automatically generated">
            <a:extLst>
              <a:ext uri="{FF2B5EF4-FFF2-40B4-BE49-F238E27FC236}">
                <a16:creationId xmlns:a16="http://schemas.microsoft.com/office/drawing/2014/main" id="{C83A5C60-79BF-327B-4C48-D03018A618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2790" y="6256376"/>
            <a:ext cx="861060" cy="369539"/>
          </a:xfrm>
          <a:prstGeom prst="rect">
            <a:avLst/>
          </a:prstGeom>
        </p:spPr>
      </p:pic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9F6B5E19-D9AB-6941-DF09-35EDEE7568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5" y="5913120"/>
            <a:ext cx="3117215" cy="712794"/>
          </a:xfrm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Client logo’s placeholder</a:t>
            </a:r>
          </a:p>
          <a:p>
            <a:r>
              <a:rPr lang="en-US"/>
              <a:t>(Align bottom with the box &amp; Terra logo)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78EA5E-79F9-9D3B-5147-45F019F7741B}"/>
              </a:ext>
            </a:extLst>
          </p:cNvPr>
          <p:cNvSpPr>
            <a:spLocks/>
          </p:cNvSpPr>
          <p:nvPr/>
        </p:nvSpPr>
        <p:spPr>
          <a:xfrm rot="5400000">
            <a:off x="-926948" y="1882619"/>
            <a:ext cx="2950538" cy="137796"/>
          </a:xfrm>
          <a:prstGeom prst="rect">
            <a:avLst/>
          </a:prstGeom>
          <a:solidFill>
            <a:schemeClr val="tx1"/>
          </a:solidFill>
          <a:ln w="3143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75" tIns="15088" rIns="30175" bIns="150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err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4741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758C041-1489-BE4F-867D-7BAB4AF03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42490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758C041-1489-BE4F-867D-7BAB4AF03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AD187E4-063A-5FDF-8EE2-8AD7E659BDA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2"/>
            <a:ext cx="12192000" cy="5312777"/>
          </a:xfrm>
        </p:spPr>
        <p:txBody>
          <a:bodyPr rIns="457200" anchor="ctr"/>
          <a:lstStyle>
            <a:lvl1pPr algn="r">
              <a:defRPr/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2C321A-F03B-109C-A3F1-2A3BDAA170FA}"/>
              </a:ext>
            </a:extLst>
          </p:cNvPr>
          <p:cNvSpPr/>
          <p:nvPr/>
        </p:nvSpPr>
        <p:spPr>
          <a:xfrm>
            <a:off x="1" y="5312780"/>
            <a:ext cx="12192000" cy="1541505"/>
          </a:xfrm>
          <a:prstGeom prst="rect">
            <a:avLst/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3" name="Right Triangle 42">
            <a:extLst>
              <a:ext uri="{FF2B5EF4-FFF2-40B4-BE49-F238E27FC236}">
                <a16:creationId xmlns:a16="http://schemas.microsoft.com/office/drawing/2014/main" id="{13A5DF20-1A16-723D-9893-AE4787B01691}"/>
              </a:ext>
            </a:extLst>
          </p:cNvPr>
          <p:cNvSpPr/>
          <p:nvPr/>
        </p:nvSpPr>
        <p:spPr>
          <a:xfrm rot="5400000">
            <a:off x="5196658" y="-383354"/>
            <a:ext cx="5312777" cy="6079490"/>
          </a:xfrm>
          <a:prstGeom prst="rtTriangle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pic>
        <p:nvPicPr>
          <p:cNvPr id="8" name="Picture 7" descr="A picture containing moon, astronomical object&#10;&#10;Description automatically generated">
            <a:extLst>
              <a:ext uri="{FF2B5EF4-FFF2-40B4-BE49-F238E27FC236}">
                <a16:creationId xmlns:a16="http://schemas.microsoft.com/office/drawing/2014/main" id="{C83A5C60-79BF-327B-4C48-D03018A618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2790" y="6256376"/>
            <a:ext cx="861060" cy="369539"/>
          </a:xfrm>
          <a:prstGeom prst="rect">
            <a:avLst/>
          </a:prstGeom>
        </p:spPr>
      </p:pic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9F6B5E19-D9AB-6941-DF09-35EDEE7568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25" y="5913120"/>
            <a:ext cx="3117215" cy="712794"/>
          </a:xfrm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Client logo’s placeholder</a:t>
            </a:r>
          </a:p>
          <a:p>
            <a:r>
              <a:rPr lang="en-US"/>
              <a:t>(Align bottom with the box &amp; Terra logo)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0669EC-5ED6-D5D8-4C1F-67DCE70B72E6}"/>
              </a:ext>
            </a:extLst>
          </p:cNvPr>
          <p:cNvSpPr/>
          <p:nvPr/>
        </p:nvSpPr>
        <p:spPr>
          <a:xfrm>
            <a:off x="1" y="2"/>
            <a:ext cx="4813300" cy="5312778"/>
          </a:xfrm>
          <a:prstGeom prst="rect">
            <a:avLst/>
          </a:prstGeom>
          <a:solidFill>
            <a:schemeClr val="tx1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35798EB2-149A-161F-BBB0-24ACE2900E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6" y="4536650"/>
            <a:ext cx="6218830" cy="369539"/>
          </a:xfrm>
        </p:spPr>
        <p:txBody>
          <a:bodyPr lIns="0" tIns="45720" rIns="0" bIns="0" anchor="ctr">
            <a:no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DD MMM YYYY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825709-1C24-C014-6BCD-2D2460BB3E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476248"/>
            <a:ext cx="6218830" cy="2642034"/>
          </a:xfrm>
        </p:spPr>
        <p:txBody>
          <a:bodyPr vert="horz" lIns="0" tIns="0" rIns="0" bIns="0" anchor="b"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44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cover title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42499B0-98AD-F54D-EE03-2A8661553F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6" y="3655157"/>
            <a:ext cx="6218830" cy="658826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000" b="0" dirty="0">
                <a:solidFill>
                  <a:schemeClr val="bg2"/>
                </a:solidFill>
              </a:defRPr>
            </a:lvl1pPr>
          </a:lstStyle>
          <a:p>
            <a:pPr lvl="0">
              <a:spcAft>
                <a:spcPts val="600"/>
              </a:spcAft>
            </a:pPr>
            <a:r>
              <a:rPr lang="en-US"/>
              <a:t>Click to edit project name / document name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1B62F7-4A06-B70A-A07D-E9D80E01615D}"/>
              </a:ext>
            </a:extLst>
          </p:cNvPr>
          <p:cNvSpPr>
            <a:spLocks/>
          </p:cNvSpPr>
          <p:nvPr/>
        </p:nvSpPr>
        <p:spPr>
          <a:xfrm>
            <a:off x="-1" y="3340948"/>
            <a:ext cx="10892791" cy="91543"/>
          </a:xfrm>
          <a:prstGeom prst="rect">
            <a:avLst/>
          </a:prstGeom>
          <a:solidFill>
            <a:schemeClr val="tx2"/>
          </a:solidFill>
          <a:ln w="3143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75" tIns="15088" rIns="30175" bIns="150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err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6852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BD1BE13-1B19-DB8D-FF40-CC7970E4DF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93257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BD1BE13-1B19-DB8D-FF40-CC7970E4DF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737AB79A-F7B0-A96D-370E-89C13DDCC1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76249"/>
            <a:ext cx="11233150" cy="492443"/>
          </a:xfrm>
        </p:spPr>
        <p:txBody>
          <a:bodyPr vert="horz" tIns="0"/>
          <a:lstStyle>
            <a:lvl1pPr>
              <a:lnSpc>
                <a:spcPct val="100000"/>
              </a:lnSpc>
              <a:spcAft>
                <a:spcPts val="300"/>
              </a:spcAft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B58324-D3D4-D66D-8B34-0CE97E9F4A16}"/>
              </a:ext>
            </a:extLst>
          </p:cNvPr>
          <p:cNvSpPr>
            <a:spLocks/>
          </p:cNvSpPr>
          <p:nvPr/>
        </p:nvSpPr>
        <p:spPr>
          <a:xfrm>
            <a:off x="0" y="351594"/>
            <a:ext cx="3689935" cy="27432"/>
          </a:xfrm>
          <a:prstGeom prst="rect">
            <a:avLst/>
          </a:prstGeom>
          <a:solidFill>
            <a:schemeClr val="tx1"/>
          </a:solidFill>
          <a:ln w="3143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75" tIns="15088" rIns="30175" bIns="150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err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340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BE8EBEF-EACD-EF49-DD16-45F38386F21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45377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BE8EBEF-EACD-EF49-DD16-45F38386F2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737AB79A-F7B0-A96D-370E-89C13DDCC1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476249"/>
            <a:ext cx="11233150" cy="369332"/>
          </a:xfrm>
        </p:spPr>
        <p:txBody>
          <a:bodyPr vert="horz" tIns="0"/>
          <a:lstStyle>
            <a:lvl1pPr>
              <a:lnSpc>
                <a:spcPct val="100000"/>
              </a:lnSpc>
              <a:spcAft>
                <a:spcPts val="600"/>
              </a:spcAft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A9E9E6-270C-E365-CCC8-26213A02F733}"/>
              </a:ext>
            </a:extLst>
          </p:cNvPr>
          <p:cNvSpPr>
            <a:spLocks/>
          </p:cNvSpPr>
          <p:nvPr/>
        </p:nvSpPr>
        <p:spPr>
          <a:xfrm>
            <a:off x="0" y="351594"/>
            <a:ext cx="3689935" cy="27432"/>
          </a:xfrm>
          <a:prstGeom prst="rect">
            <a:avLst/>
          </a:prstGeom>
          <a:solidFill>
            <a:schemeClr val="tx1"/>
          </a:solidFill>
          <a:ln w="3143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75" tIns="15088" rIns="30175" bIns="150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err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7318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_Right High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71CDF9B-277C-DDC5-9211-CEE3E7F2280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524944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1CDF9B-277C-DDC5-9211-CEE3E7F228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A94E7DE-37FB-C5C5-31F0-653029C2F561}"/>
              </a:ext>
            </a:extLst>
          </p:cNvPr>
          <p:cNvSpPr/>
          <p:nvPr/>
        </p:nvSpPr>
        <p:spPr>
          <a:xfrm>
            <a:off x="-12532" y="14"/>
            <a:ext cx="8502865" cy="6857986"/>
          </a:xfrm>
          <a:prstGeom prst="rect">
            <a:avLst/>
          </a:prstGeom>
          <a:solidFill>
            <a:schemeClr val="bg2"/>
          </a:solidFill>
          <a:ln w="9525" cap="rnd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37AB79A-F7B0-A96D-370E-89C13DDCC1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476249"/>
            <a:ext cx="7222203" cy="492443"/>
          </a:xfrm>
        </p:spPr>
        <p:txBody>
          <a:bodyPr vert="horz" tIns="0">
            <a:sp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3F68AC-2FC9-2FCB-2D18-F67E81988C6D}"/>
              </a:ext>
            </a:extLst>
          </p:cNvPr>
          <p:cNvSpPr>
            <a:spLocks/>
          </p:cNvSpPr>
          <p:nvPr/>
        </p:nvSpPr>
        <p:spPr>
          <a:xfrm>
            <a:off x="0" y="351594"/>
            <a:ext cx="3689935" cy="27432"/>
          </a:xfrm>
          <a:prstGeom prst="rect">
            <a:avLst/>
          </a:prstGeom>
          <a:solidFill>
            <a:schemeClr val="tx1"/>
          </a:solidFill>
          <a:ln w="3143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75" tIns="15088" rIns="30175" bIns="150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err="1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86A70-A8D9-F3E3-8D2D-006F4BF9300C}"/>
              </a:ext>
            </a:extLst>
          </p:cNvPr>
          <p:cNvSpPr/>
          <p:nvPr/>
        </p:nvSpPr>
        <p:spPr>
          <a:xfrm>
            <a:off x="8499138" y="14"/>
            <a:ext cx="74121" cy="6857986"/>
          </a:xfrm>
          <a:prstGeom prst="rect">
            <a:avLst/>
          </a:prstGeom>
          <a:solidFill>
            <a:schemeClr val="tx2"/>
          </a:solidFill>
          <a:ln w="9525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algn="l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75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tail_Right High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71CDF9B-277C-DDC5-9211-CEE3E7F2280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58849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1CDF9B-277C-DDC5-9211-CEE3E7F228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A94E7DE-37FB-C5C5-31F0-653029C2F561}"/>
              </a:ext>
            </a:extLst>
          </p:cNvPr>
          <p:cNvSpPr/>
          <p:nvPr/>
        </p:nvSpPr>
        <p:spPr>
          <a:xfrm>
            <a:off x="-12532" y="14"/>
            <a:ext cx="8502865" cy="6857986"/>
          </a:xfrm>
          <a:prstGeom prst="rect">
            <a:avLst/>
          </a:prstGeom>
          <a:solidFill>
            <a:schemeClr val="bg2"/>
          </a:solidFill>
          <a:ln w="9525" cap="rnd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37AB79A-F7B0-A96D-370E-89C13DDCC1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476249"/>
            <a:ext cx="7222203" cy="369332"/>
          </a:xfrm>
        </p:spPr>
        <p:txBody>
          <a:bodyPr vert="horz" tIns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3F68AC-2FC9-2FCB-2D18-F67E81988C6D}"/>
              </a:ext>
            </a:extLst>
          </p:cNvPr>
          <p:cNvSpPr>
            <a:spLocks/>
          </p:cNvSpPr>
          <p:nvPr/>
        </p:nvSpPr>
        <p:spPr>
          <a:xfrm>
            <a:off x="0" y="351594"/>
            <a:ext cx="3689935" cy="27432"/>
          </a:xfrm>
          <a:prstGeom prst="rect">
            <a:avLst/>
          </a:prstGeom>
          <a:solidFill>
            <a:schemeClr val="tx1"/>
          </a:solidFill>
          <a:ln w="3143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75" tIns="15088" rIns="30175" bIns="150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err="1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B86A70-A8D9-F3E3-8D2D-006F4BF9300C}"/>
              </a:ext>
            </a:extLst>
          </p:cNvPr>
          <p:cNvSpPr/>
          <p:nvPr/>
        </p:nvSpPr>
        <p:spPr>
          <a:xfrm>
            <a:off x="8499138" y="14"/>
            <a:ext cx="74121" cy="6857986"/>
          </a:xfrm>
          <a:prstGeom prst="rect">
            <a:avLst/>
          </a:prstGeom>
          <a:solidFill>
            <a:schemeClr val="tx2"/>
          </a:solidFill>
          <a:ln w="9525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algn="l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47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_Half_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71CDF9B-277C-DDC5-9211-CEE3E7F2280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988008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1CDF9B-277C-DDC5-9211-CEE3E7F228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A94E7DE-37FB-C5C5-31F0-653029C2F561}"/>
              </a:ext>
            </a:extLst>
          </p:cNvPr>
          <p:cNvSpPr/>
          <p:nvPr/>
        </p:nvSpPr>
        <p:spPr>
          <a:xfrm>
            <a:off x="-12532" y="14"/>
            <a:ext cx="6108532" cy="6857986"/>
          </a:xfrm>
          <a:prstGeom prst="rect">
            <a:avLst/>
          </a:prstGeom>
          <a:solidFill>
            <a:schemeClr val="bg2"/>
          </a:solidFill>
          <a:ln w="9525" cap="rnd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37AB79A-F7B0-A96D-370E-89C13DDCC1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7" y="476249"/>
            <a:ext cx="5021488" cy="492443"/>
          </a:xfrm>
        </p:spPr>
        <p:txBody>
          <a:bodyPr vert="horz" tIns="0"/>
          <a:lstStyle>
            <a:lvl1pPr>
              <a:lnSpc>
                <a:spcPct val="100000"/>
              </a:lnSpc>
              <a:spcAft>
                <a:spcPts val="600"/>
              </a:spcAft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3F68AC-2FC9-2FCB-2D18-F67E81988C6D}"/>
              </a:ext>
            </a:extLst>
          </p:cNvPr>
          <p:cNvSpPr>
            <a:spLocks/>
          </p:cNvSpPr>
          <p:nvPr/>
        </p:nvSpPr>
        <p:spPr>
          <a:xfrm>
            <a:off x="0" y="351594"/>
            <a:ext cx="3689935" cy="27432"/>
          </a:xfrm>
          <a:prstGeom prst="rect">
            <a:avLst/>
          </a:prstGeom>
          <a:solidFill>
            <a:schemeClr val="tx1"/>
          </a:solidFill>
          <a:ln w="3143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75" tIns="15088" rIns="30175" bIns="150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err="1">
              <a:solidFill>
                <a:srgbClr val="FFFFF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FFE7C4-EACF-8770-FE10-B5EC24F97888}"/>
              </a:ext>
            </a:extLst>
          </p:cNvPr>
          <p:cNvSpPr/>
          <p:nvPr/>
        </p:nvSpPr>
        <p:spPr>
          <a:xfrm>
            <a:off x="6095999" y="14"/>
            <a:ext cx="74121" cy="6857986"/>
          </a:xfrm>
          <a:prstGeom prst="rect">
            <a:avLst/>
          </a:prstGeom>
          <a:solidFill>
            <a:schemeClr val="tx2"/>
          </a:solidFill>
          <a:ln w="9525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algn="l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529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tail_Half_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71CDF9B-277C-DDC5-9211-CEE3E7F2280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04258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1CDF9B-277C-DDC5-9211-CEE3E7F228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A94E7DE-37FB-C5C5-31F0-653029C2F561}"/>
              </a:ext>
            </a:extLst>
          </p:cNvPr>
          <p:cNvSpPr/>
          <p:nvPr/>
        </p:nvSpPr>
        <p:spPr>
          <a:xfrm>
            <a:off x="-12532" y="14"/>
            <a:ext cx="6108532" cy="6857986"/>
          </a:xfrm>
          <a:prstGeom prst="rect">
            <a:avLst/>
          </a:prstGeom>
          <a:solidFill>
            <a:schemeClr val="bg2"/>
          </a:solidFill>
          <a:ln w="9525" cap="rnd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37AB79A-F7B0-A96D-370E-89C13DDCC1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7" y="476249"/>
            <a:ext cx="5021488" cy="369332"/>
          </a:xfrm>
        </p:spPr>
        <p:txBody>
          <a:bodyPr vert="horz" tIns="0"/>
          <a:lstStyle>
            <a:lvl1pPr>
              <a:lnSpc>
                <a:spcPct val="100000"/>
              </a:lnSpc>
              <a:spcAft>
                <a:spcPts val="600"/>
              </a:spcAft>
              <a:defRPr sz="2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3F68AC-2FC9-2FCB-2D18-F67E81988C6D}"/>
              </a:ext>
            </a:extLst>
          </p:cNvPr>
          <p:cNvSpPr>
            <a:spLocks/>
          </p:cNvSpPr>
          <p:nvPr/>
        </p:nvSpPr>
        <p:spPr>
          <a:xfrm>
            <a:off x="0" y="351594"/>
            <a:ext cx="3689935" cy="27432"/>
          </a:xfrm>
          <a:prstGeom prst="rect">
            <a:avLst/>
          </a:prstGeom>
          <a:solidFill>
            <a:schemeClr val="tx1"/>
          </a:solidFill>
          <a:ln w="3143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75" tIns="15088" rIns="30175" bIns="150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err="1">
              <a:solidFill>
                <a:srgbClr val="FFFFF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FFE7C4-EACF-8770-FE10-B5EC24F97888}"/>
              </a:ext>
            </a:extLst>
          </p:cNvPr>
          <p:cNvSpPr/>
          <p:nvPr/>
        </p:nvSpPr>
        <p:spPr>
          <a:xfrm>
            <a:off x="6095999" y="14"/>
            <a:ext cx="74121" cy="6857986"/>
          </a:xfrm>
          <a:prstGeom prst="rect">
            <a:avLst/>
          </a:prstGeom>
          <a:solidFill>
            <a:schemeClr val="tx2"/>
          </a:solidFill>
          <a:ln w="9525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algn="l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21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_Left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1A8A-1881-81C6-9B7D-CB3A31102CE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80526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EB1A8A-1881-81C6-9B7D-CB3A31102C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DC80779-CAD6-46D2-1BC9-2633AE3895CA}"/>
              </a:ext>
            </a:extLst>
          </p:cNvPr>
          <p:cNvSpPr/>
          <p:nvPr/>
        </p:nvSpPr>
        <p:spPr>
          <a:xfrm>
            <a:off x="0" y="0"/>
            <a:ext cx="4107543" cy="6858000"/>
          </a:xfrm>
          <a:prstGeom prst="rect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D713FF-9530-AEA3-D721-BA653DB39B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2133601"/>
            <a:ext cx="3062061" cy="2590800"/>
          </a:xfrm>
        </p:spPr>
        <p:txBody>
          <a:bodyPr vert="horz" anchor="ctr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2D0511-3913-1E85-2841-40EFA68D7678}"/>
              </a:ext>
            </a:extLst>
          </p:cNvPr>
          <p:cNvSpPr>
            <a:spLocks/>
          </p:cNvSpPr>
          <p:nvPr/>
        </p:nvSpPr>
        <p:spPr>
          <a:xfrm>
            <a:off x="0" y="351594"/>
            <a:ext cx="3689935" cy="27432"/>
          </a:xfrm>
          <a:prstGeom prst="rect">
            <a:avLst/>
          </a:prstGeom>
          <a:solidFill>
            <a:schemeClr val="bg2"/>
          </a:solidFill>
          <a:ln w="3143" cap="rnd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75" tIns="15088" rIns="30175" bIns="150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err="1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680533-70DF-4CC7-3CD6-211205CCD3EF}"/>
              </a:ext>
            </a:extLst>
          </p:cNvPr>
          <p:cNvSpPr/>
          <p:nvPr/>
        </p:nvSpPr>
        <p:spPr>
          <a:xfrm>
            <a:off x="4107543" y="14"/>
            <a:ext cx="74121" cy="6857986"/>
          </a:xfrm>
          <a:prstGeom prst="rect">
            <a:avLst/>
          </a:prstGeom>
          <a:solidFill>
            <a:schemeClr val="tx2"/>
          </a:solidFill>
          <a:ln w="9525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768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Half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1A8A-1881-81C6-9B7D-CB3A31102CE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6010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EB1A8A-1881-81C6-9B7D-CB3A31102C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DC80779-CAD6-46D2-1BC9-2633AE3895CA}"/>
              </a:ext>
            </a:extLst>
          </p:cNvPr>
          <p:cNvSpPr>
            <a:spLocks/>
          </p:cNvSpPr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4763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22860" rIns="45720" bIns="228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D713FF-9530-AEA3-D721-BA653DB39B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2133601"/>
            <a:ext cx="5123089" cy="2590800"/>
          </a:xfrm>
        </p:spPr>
        <p:txBody>
          <a:bodyPr vert="horz" anchor="ctr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2D0511-3913-1E85-2841-40EFA68D7678}"/>
              </a:ext>
            </a:extLst>
          </p:cNvPr>
          <p:cNvSpPr>
            <a:spLocks/>
          </p:cNvSpPr>
          <p:nvPr/>
        </p:nvSpPr>
        <p:spPr>
          <a:xfrm>
            <a:off x="0" y="351594"/>
            <a:ext cx="3689935" cy="27432"/>
          </a:xfrm>
          <a:prstGeom prst="rect">
            <a:avLst/>
          </a:prstGeom>
          <a:solidFill>
            <a:schemeClr val="bg2"/>
          </a:solidFill>
          <a:ln w="3143" cap="rnd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75" tIns="15088" rIns="30175" bIns="150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err="1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E6FDC3-CAFF-4E3D-ED0F-10645D8A75CD}"/>
              </a:ext>
            </a:extLst>
          </p:cNvPr>
          <p:cNvSpPr/>
          <p:nvPr/>
        </p:nvSpPr>
        <p:spPr>
          <a:xfrm>
            <a:off x="6043839" y="14"/>
            <a:ext cx="74121" cy="6857986"/>
          </a:xfrm>
          <a:prstGeom prst="rect">
            <a:avLst/>
          </a:prstGeom>
          <a:solidFill>
            <a:schemeClr val="tx2"/>
          </a:solidFill>
          <a:ln w="9525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239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WH_w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F920B9-A483-B2E9-E8BA-303B687B92CD}"/>
              </a:ext>
            </a:extLst>
          </p:cNvPr>
          <p:cNvSpPr>
            <a:spLocks/>
          </p:cNvSpPr>
          <p:nvPr/>
        </p:nvSpPr>
        <p:spPr>
          <a:xfrm>
            <a:off x="0" y="351594"/>
            <a:ext cx="3689935" cy="27432"/>
          </a:xfrm>
          <a:prstGeom prst="rect">
            <a:avLst/>
          </a:prstGeom>
          <a:solidFill>
            <a:schemeClr val="tx1"/>
          </a:solidFill>
          <a:ln w="3143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75" tIns="15088" rIns="30175" bIns="150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err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03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W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0731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BL_w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96D825-19A1-B834-22A5-D96E81F2D728}"/>
              </a:ext>
            </a:extLst>
          </p:cNvPr>
          <p:cNvSpPr>
            <a:spLocks/>
          </p:cNvSpPr>
          <p:nvPr/>
        </p:nvSpPr>
        <p:spPr>
          <a:xfrm>
            <a:off x="0" y="351594"/>
            <a:ext cx="3689935" cy="27432"/>
          </a:xfrm>
          <a:prstGeom prst="rect">
            <a:avLst/>
          </a:prstGeom>
          <a:solidFill>
            <a:schemeClr val="tx2"/>
          </a:solidFill>
          <a:ln w="3143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75" tIns="15088" rIns="30175" bIns="150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err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82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B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78612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Brea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1278890-5E3B-DC18-715F-EB47A4CE7A7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496509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1278890-5E3B-DC18-715F-EB47A4CE7A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BC8787DC-E04D-CDCE-150A-295972B3BB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3" y="1901963"/>
            <a:ext cx="11274427" cy="769441"/>
          </a:xfrm>
        </p:spPr>
        <p:txBody>
          <a:bodyPr vert="horz" tIns="91440">
            <a:sp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4400">
                <a:latin typeface="+mj-lt"/>
              </a:defRPr>
            </a:lvl1pPr>
          </a:lstStyle>
          <a:p>
            <a:r>
              <a:rPr lang="en-US"/>
              <a:t>Click to edit section 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B1FEE2C-83D4-B494-DDF7-AA29757B3C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3" y="1102398"/>
            <a:ext cx="11274426" cy="528637"/>
          </a:xfrm>
        </p:spPr>
        <p:txBody>
          <a:bodyPr lIns="91440" bIns="91440" anchor="b">
            <a:normAutofit/>
          </a:bodyPr>
          <a:lstStyle>
            <a:lvl1pPr>
              <a:spcAft>
                <a:spcPts val="600"/>
              </a:spcAft>
              <a:defRPr sz="2400" b="0">
                <a:solidFill>
                  <a:schemeClr val="bg1"/>
                </a:solidFill>
                <a:latin typeface="+mj-lt"/>
              </a:defRPr>
            </a:lvl1pPr>
            <a:lvl2pPr>
              <a:spcAft>
                <a:spcPts val="300"/>
              </a:spcAft>
              <a:defRPr/>
            </a:lvl2pPr>
            <a:lvl3pPr>
              <a:spcAft>
                <a:spcPts val="300"/>
              </a:spcAft>
              <a:defRPr/>
            </a:lvl3pPr>
            <a:lvl4pPr>
              <a:spcAft>
                <a:spcPts val="300"/>
              </a:spcAft>
              <a:defRPr/>
            </a:lvl4pPr>
            <a:lvl5pPr>
              <a:spcAft>
                <a:spcPts val="300"/>
              </a:spcAft>
              <a:defRPr/>
            </a:lvl5pPr>
          </a:lstStyle>
          <a:p>
            <a:pPr lvl="0"/>
            <a:r>
              <a:rPr lang="en-US"/>
              <a:t>Click to add text/section number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3657AC-6E36-3ECF-6BB6-15558FDD58B2}"/>
              </a:ext>
            </a:extLst>
          </p:cNvPr>
          <p:cNvSpPr>
            <a:spLocks/>
          </p:cNvSpPr>
          <p:nvPr/>
        </p:nvSpPr>
        <p:spPr>
          <a:xfrm>
            <a:off x="-1" y="1631035"/>
            <a:ext cx="11753848" cy="27432"/>
          </a:xfrm>
          <a:prstGeom prst="rect">
            <a:avLst/>
          </a:prstGeom>
          <a:solidFill>
            <a:schemeClr val="tx1"/>
          </a:solidFill>
          <a:ln w="3143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75" tIns="15088" rIns="30175" bIns="150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err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631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Brea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1278890-5E3B-DC18-715F-EB47A4CE7A7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496509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1278890-5E3B-DC18-715F-EB47A4CE7A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776BDCB-C68E-B0EE-0AD9-C3F2C9DA891A}"/>
              </a:ext>
            </a:extLst>
          </p:cNvPr>
          <p:cNvSpPr>
            <a:spLocks/>
          </p:cNvSpPr>
          <p:nvPr/>
        </p:nvSpPr>
        <p:spPr>
          <a:xfrm>
            <a:off x="-1" y="0"/>
            <a:ext cx="12192001" cy="1782147"/>
          </a:xfrm>
          <a:prstGeom prst="rect">
            <a:avLst/>
          </a:prstGeom>
          <a:solidFill>
            <a:schemeClr val="tx1"/>
          </a:solidFill>
          <a:ln w="3143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75" tIns="15088" rIns="30175" bIns="150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err="1">
              <a:solidFill>
                <a:srgbClr val="FFFFFF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C8787DC-E04D-CDCE-150A-295972B3BB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3" y="1901963"/>
            <a:ext cx="11274427" cy="769441"/>
          </a:xfrm>
        </p:spPr>
        <p:txBody>
          <a:bodyPr vert="horz" tIns="91440">
            <a:sp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4400">
                <a:latin typeface="+mj-lt"/>
              </a:defRPr>
            </a:lvl1pPr>
          </a:lstStyle>
          <a:p>
            <a:r>
              <a:rPr lang="en-US"/>
              <a:t>Click to edit section 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B1FEE2C-83D4-B494-DDF7-AA29757B3C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3" y="1102398"/>
            <a:ext cx="11274426" cy="528637"/>
          </a:xfrm>
        </p:spPr>
        <p:txBody>
          <a:bodyPr lIns="91440" bIns="91440" anchor="b">
            <a:normAutofit/>
          </a:bodyPr>
          <a:lstStyle>
            <a:lvl1pPr>
              <a:spcAft>
                <a:spcPts val="600"/>
              </a:spcAft>
              <a:defRPr sz="2400" b="0">
                <a:solidFill>
                  <a:schemeClr val="bg2"/>
                </a:solidFill>
                <a:latin typeface="+mj-lt"/>
              </a:defRPr>
            </a:lvl1pPr>
            <a:lvl2pPr>
              <a:spcAft>
                <a:spcPts val="300"/>
              </a:spcAft>
              <a:defRPr/>
            </a:lvl2pPr>
            <a:lvl3pPr>
              <a:spcAft>
                <a:spcPts val="300"/>
              </a:spcAft>
              <a:defRPr/>
            </a:lvl3pPr>
            <a:lvl4pPr>
              <a:spcAft>
                <a:spcPts val="300"/>
              </a:spcAft>
              <a:defRPr/>
            </a:lvl4pPr>
            <a:lvl5pPr>
              <a:spcAft>
                <a:spcPts val="300"/>
              </a:spcAft>
              <a:defRPr/>
            </a:lvl5pPr>
          </a:lstStyle>
          <a:p>
            <a:pPr lvl="0"/>
            <a:r>
              <a:rPr lang="en-US"/>
              <a:t>Click to add text/section number</a:t>
            </a:r>
          </a:p>
        </p:txBody>
      </p:sp>
    </p:spTree>
    <p:extLst>
      <p:ext uri="{BB962C8B-B14F-4D97-AF65-F5344CB8AC3E}">
        <p14:creationId xmlns:p14="http://schemas.microsoft.com/office/powerpoint/2010/main" val="78448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Break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1278890-5E3B-DC18-715F-EB47A4CE7A7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95294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1278890-5E3B-DC18-715F-EB47A4CE7A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776BDCB-C68E-B0EE-0AD9-C3F2C9DA891A}"/>
              </a:ext>
            </a:extLst>
          </p:cNvPr>
          <p:cNvSpPr>
            <a:spLocks/>
          </p:cNvSpPr>
          <p:nvPr/>
        </p:nvSpPr>
        <p:spPr>
          <a:xfrm>
            <a:off x="-1" y="0"/>
            <a:ext cx="12192001" cy="1782147"/>
          </a:xfrm>
          <a:prstGeom prst="rect">
            <a:avLst/>
          </a:prstGeom>
          <a:solidFill>
            <a:schemeClr val="tx2"/>
          </a:solidFill>
          <a:ln w="3143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75" tIns="15088" rIns="30175" bIns="150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err="1">
              <a:solidFill>
                <a:srgbClr val="FFFFFF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C8787DC-E04D-CDCE-150A-295972B3BB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3" y="1901963"/>
            <a:ext cx="11274427" cy="769441"/>
          </a:xfrm>
        </p:spPr>
        <p:txBody>
          <a:bodyPr vert="horz" tIns="91440">
            <a:sp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4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section 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B1FEE2C-83D4-B494-DDF7-AA29757B3C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3" y="1102398"/>
            <a:ext cx="11274426" cy="528637"/>
          </a:xfrm>
        </p:spPr>
        <p:txBody>
          <a:bodyPr lIns="91440" bIns="91440" anchor="b">
            <a:normAutofit/>
          </a:bodyPr>
          <a:lstStyle>
            <a:lvl1pPr>
              <a:spcAft>
                <a:spcPts val="600"/>
              </a:spcAft>
              <a:defRPr sz="2400" b="0">
                <a:solidFill>
                  <a:schemeClr val="bg1"/>
                </a:solidFill>
                <a:latin typeface="+mj-lt"/>
              </a:defRPr>
            </a:lvl1pPr>
            <a:lvl2pPr>
              <a:spcAft>
                <a:spcPts val="300"/>
              </a:spcAft>
              <a:defRPr/>
            </a:lvl2pPr>
            <a:lvl3pPr>
              <a:spcAft>
                <a:spcPts val="300"/>
              </a:spcAft>
              <a:defRPr/>
            </a:lvl3pPr>
            <a:lvl4pPr>
              <a:spcAft>
                <a:spcPts val="300"/>
              </a:spcAft>
              <a:defRPr/>
            </a:lvl4pPr>
            <a:lvl5pPr>
              <a:spcAft>
                <a:spcPts val="300"/>
              </a:spcAft>
              <a:defRPr/>
            </a:lvl5pPr>
          </a:lstStyle>
          <a:p>
            <a:pPr lvl="0"/>
            <a:r>
              <a:rPr lang="en-US"/>
              <a:t>Click to add text/section number</a:t>
            </a:r>
          </a:p>
        </p:txBody>
      </p:sp>
    </p:spTree>
    <p:extLst>
      <p:ext uri="{BB962C8B-B14F-4D97-AF65-F5344CB8AC3E}">
        <p14:creationId xmlns:p14="http://schemas.microsoft.com/office/powerpoint/2010/main" val="34277573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Break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1278890-5E3B-DC18-715F-EB47A4CE7A7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831993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1278890-5E3B-DC18-715F-EB47A4CE7A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BC8787DC-E04D-CDCE-150A-295972B3BB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3" y="1901963"/>
            <a:ext cx="11274427" cy="769441"/>
          </a:xfrm>
        </p:spPr>
        <p:txBody>
          <a:bodyPr vert="horz" tIns="91440">
            <a:sp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44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section 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6B1FEE2C-83D4-B494-DDF7-AA29757B3C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3" y="1102398"/>
            <a:ext cx="11274426" cy="528637"/>
          </a:xfrm>
        </p:spPr>
        <p:txBody>
          <a:bodyPr lIns="91440" bIns="91440" anchor="b">
            <a:normAutofit/>
          </a:bodyPr>
          <a:lstStyle>
            <a:lvl1pPr>
              <a:spcAft>
                <a:spcPts val="600"/>
              </a:spcAft>
              <a:defRPr sz="2400" b="0">
                <a:solidFill>
                  <a:schemeClr val="tx2"/>
                </a:solidFill>
                <a:latin typeface="+mj-lt"/>
              </a:defRPr>
            </a:lvl1pPr>
            <a:lvl2pPr>
              <a:spcAft>
                <a:spcPts val="300"/>
              </a:spcAft>
              <a:defRPr/>
            </a:lvl2pPr>
            <a:lvl3pPr>
              <a:spcAft>
                <a:spcPts val="300"/>
              </a:spcAft>
              <a:defRPr/>
            </a:lvl3pPr>
            <a:lvl4pPr>
              <a:spcAft>
                <a:spcPts val="300"/>
              </a:spcAft>
              <a:defRPr/>
            </a:lvl4pPr>
            <a:lvl5pPr>
              <a:spcAft>
                <a:spcPts val="300"/>
              </a:spcAft>
              <a:defRPr/>
            </a:lvl5pPr>
          </a:lstStyle>
          <a:p>
            <a:pPr lvl="0"/>
            <a:r>
              <a:rPr lang="en-US"/>
              <a:t>Click to add text/section number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3657AC-6E36-3ECF-6BB6-15558FDD58B2}"/>
              </a:ext>
            </a:extLst>
          </p:cNvPr>
          <p:cNvSpPr>
            <a:spLocks/>
          </p:cNvSpPr>
          <p:nvPr/>
        </p:nvSpPr>
        <p:spPr>
          <a:xfrm>
            <a:off x="-1" y="1631035"/>
            <a:ext cx="11753848" cy="27432"/>
          </a:xfrm>
          <a:prstGeom prst="rect">
            <a:avLst/>
          </a:prstGeom>
          <a:solidFill>
            <a:schemeClr val="bg2"/>
          </a:solidFill>
          <a:ln w="3143" cap="rnd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75" tIns="15088" rIns="30175" bIns="150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err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6381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Break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3BBC451-81E9-F6FA-4BD9-08BB46CCD8F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32155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BBC451-81E9-F6FA-4BD9-08BB46CCD8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925FA-9BFA-CC75-5B69-7A32798FED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46849" y="476249"/>
            <a:ext cx="7764340" cy="5908488"/>
          </a:xfrm>
        </p:spPr>
        <p:txBody>
          <a:bodyPr anchor="t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800"/>
            </a:lvl4pPr>
            <a:lvl5pPr algn="l"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F51C79-D920-09AF-3D4E-2036C548F9DF}"/>
              </a:ext>
            </a:extLst>
          </p:cNvPr>
          <p:cNvSpPr>
            <a:spLocks/>
          </p:cNvSpPr>
          <p:nvPr/>
        </p:nvSpPr>
        <p:spPr>
          <a:xfrm>
            <a:off x="0" y="351594"/>
            <a:ext cx="3689935" cy="27432"/>
          </a:xfrm>
          <a:prstGeom prst="rect">
            <a:avLst/>
          </a:prstGeom>
          <a:solidFill>
            <a:schemeClr val="tx1"/>
          </a:solidFill>
          <a:ln w="3143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75" tIns="15088" rIns="30175" bIns="150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err="1">
              <a:solidFill>
                <a:srgbClr val="FFFFFF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0465585-20D6-36C7-B8EF-22C365113D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812" y="476249"/>
            <a:ext cx="3209123" cy="1938992"/>
          </a:xfrm>
        </p:spPr>
        <p:txBody>
          <a:bodyPr vert="horz" tIns="91440">
            <a:sp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4148993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Break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62D9F09-5834-C899-E430-25E3583CA22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5815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2D9F09-5834-C899-E430-25E3583CA2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ight Triangle 3">
            <a:extLst>
              <a:ext uri="{FF2B5EF4-FFF2-40B4-BE49-F238E27FC236}">
                <a16:creationId xmlns:a16="http://schemas.microsoft.com/office/drawing/2014/main" id="{56D358EC-8147-6624-7096-D51CABE98CD0}"/>
              </a:ext>
            </a:extLst>
          </p:cNvPr>
          <p:cNvSpPr/>
          <p:nvPr/>
        </p:nvSpPr>
        <p:spPr>
          <a:xfrm rot="5400000">
            <a:off x="-1348740" y="1348742"/>
            <a:ext cx="6858000" cy="4160520"/>
          </a:xfrm>
          <a:prstGeom prst="rtTriangle">
            <a:avLst/>
          </a:prstGeom>
          <a:solidFill>
            <a:schemeClr val="bg1">
              <a:lumMod val="75000"/>
            </a:schemeClr>
          </a:solidFill>
          <a:ln w="9525" cap="rnd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2700000" algn="tl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925FA-9BFA-CC75-5B69-7A32798FED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46849" y="476249"/>
            <a:ext cx="7764340" cy="5908488"/>
          </a:xfrm>
        </p:spPr>
        <p:txBody>
          <a:bodyPr anchor="t">
            <a:normAutofit/>
          </a:bodyPr>
          <a:lstStyle>
            <a:lvl1pPr algn="l">
              <a:defRPr sz="3200"/>
            </a:lvl1pPr>
            <a:lvl2pPr algn="l">
              <a:buClr>
                <a:schemeClr val="tx2"/>
              </a:buClr>
              <a:defRPr sz="2800">
                <a:solidFill>
                  <a:schemeClr val="tx2"/>
                </a:solidFill>
              </a:defRPr>
            </a:lvl2pPr>
            <a:lvl3pPr algn="l">
              <a:defRPr sz="2400">
                <a:solidFill>
                  <a:schemeClr val="tx2"/>
                </a:solidFill>
              </a:defRPr>
            </a:lvl3pPr>
            <a:lvl4pPr algn="l">
              <a:defRPr sz="2800">
                <a:solidFill>
                  <a:schemeClr val="tx2"/>
                </a:solidFill>
              </a:defRPr>
            </a:lvl4pPr>
            <a:lvl5pPr algn="l">
              <a:defRPr sz="2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F51C79-D920-09AF-3D4E-2036C548F9DF}"/>
              </a:ext>
            </a:extLst>
          </p:cNvPr>
          <p:cNvSpPr>
            <a:spLocks/>
          </p:cNvSpPr>
          <p:nvPr/>
        </p:nvSpPr>
        <p:spPr>
          <a:xfrm>
            <a:off x="0" y="351594"/>
            <a:ext cx="3689935" cy="27432"/>
          </a:xfrm>
          <a:prstGeom prst="rect">
            <a:avLst/>
          </a:prstGeom>
          <a:solidFill>
            <a:schemeClr val="tx2"/>
          </a:solidFill>
          <a:ln w="3143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75" tIns="15088" rIns="30175" bIns="150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err="1">
              <a:solidFill>
                <a:srgbClr val="FFFFFF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84D7BA3-0E1E-EC50-07A4-0594192634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812" y="476249"/>
            <a:ext cx="3209123" cy="1938992"/>
          </a:xfrm>
        </p:spPr>
        <p:txBody>
          <a:bodyPr vert="horz" tIns="91440">
            <a:sp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40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390036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Break_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62D9F09-5834-C899-E430-25E3583CA22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55394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2D9F09-5834-C899-E430-25E3583CA2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48625271-D0B6-97C8-3327-28FB83018820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40000"/>
                  <a:lumOff val="60000"/>
                </a:schemeClr>
              </a:gs>
              <a:gs pos="47000">
                <a:schemeClr val="bg1"/>
              </a:gs>
              <a:gs pos="8000">
                <a:schemeClr val="bg1">
                  <a:lumMod val="60000"/>
                  <a:lumOff val="40000"/>
                </a:schemeClr>
              </a:gs>
              <a:gs pos="100000">
                <a:schemeClr val="bg1">
                  <a:lumMod val="7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56D358EC-8147-6624-7096-D51CABE98CD0}"/>
              </a:ext>
            </a:extLst>
          </p:cNvPr>
          <p:cNvSpPr/>
          <p:nvPr/>
        </p:nvSpPr>
        <p:spPr>
          <a:xfrm rot="5400000">
            <a:off x="-1348740" y="1348742"/>
            <a:ext cx="6858000" cy="4160520"/>
          </a:xfrm>
          <a:prstGeom prst="rtTriangle">
            <a:avLst/>
          </a:prstGeom>
          <a:solidFill>
            <a:schemeClr val="bg1"/>
          </a:solidFill>
          <a:ln w="9525" cap="rnd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2700000" algn="tl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925FA-9BFA-CC75-5B69-7A32798FED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46849" y="476249"/>
            <a:ext cx="7764340" cy="5908488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  <a:lvl2pPr algn="l">
              <a:buClr>
                <a:schemeClr val="tx2"/>
              </a:buClr>
              <a:defRPr sz="2800">
                <a:solidFill>
                  <a:schemeClr val="tx2"/>
                </a:solidFill>
              </a:defRPr>
            </a:lvl2pPr>
            <a:lvl3pPr algn="l">
              <a:defRPr sz="2400">
                <a:solidFill>
                  <a:schemeClr val="tx2"/>
                </a:solidFill>
              </a:defRPr>
            </a:lvl3pPr>
            <a:lvl4pPr algn="l">
              <a:defRPr sz="2800">
                <a:solidFill>
                  <a:schemeClr val="tx2"/>
                </a:solidFill>
              </a:defRPr>
            </a:lvl4pPr>
            <a:lvl5pPr algn="l">
              <a:defRPr sz="2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F51C79-D920-09AF-3D4E-2036C548F9DF}"/>
              </a:ext>
            </a:extLst>
          </p:cNvPr>
          <p:cNvSpPr>
            <a:spLocks/>
          </p:cNvSpPr>
          <p:nvPr/>
        </p:nvSpPr>
        <p:spPr>
          <a:xfrm>
            <a:off x="0" y="351594"/>
            <a:ext cx="3689935" cy="27432"/>
          </a:xfrm>
          <a:prstGeom prst="rect">
            <a:avLst/>
          </a:prstGeom>
          <a:solidFill>
            <a:schemeClr val="tx2"/>
          </a:solidFill>
          <a:ln w="3143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75" tIns="15088" rIns="30175" bIns="150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err="1">
              <a:solidFill>
                <a:srgbClr val="FFFFFF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2E2F684-5BCF-5D2A-E8D2-E64D5A30B2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812" y="476249"/>
            <a:ext cx="3209123" cy="1938992"/>
          </a:xfrm>
        </p:spPr>
        <p:txBody>
          <a:bodyPr vert="horz" tIns="91440">
            <a:sp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40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23968035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Break_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62D9F09-5834-C899-E430-25E3583CA22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93372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2D9F09-5834-C899-E430-25E3583CA2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48625271-D0B6-97C8-3327-28FB83018820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46000">
                <a:srgbClr val="296386"/>
              </a:gs>
              <a:gs pos="33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56D358EC-8147-6624-7096-D51CABE98CD0}"/>
              </a:ext>
            </a:extLst>
          </p:cNvPr>
          <p:cNvSpPr/>
          <p:nvPr/>
        </p:nvSpPr>
        <p:spPr>
          <a:xfrm rot="5400000">
            <a:off x="-1348740" y="1348742"/>
            <a:ext cx="6858000" cy="4160520"/>
          </a:xfrm>
          <a:prstGeom prst="rtTriangle">
            <a:avLst/>
          </a:prstGeom>
          <a:solidFill>
            <a:schemeClr val="bg1">
              <a:lumMod val="50000"/>
            </a:schemeClr>
          </a:solidFill>
          <a:ln w="9525" cap="rnd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25400" dir="2700000" algn="tl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925FA-9BFA-CC75-5B69-7A32798FED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46849" y="476249"/>
            <a:ext cx="7764340" cy="5908488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  <a:lvl2pPr algn="l">
              <a:buClr>
                <a:schemeClr val="tx2"/>
              </a:buClr>
              <a:defRPr sz="2800">
                <a:solidFill>
                  <a:schemeClr val="tx2"/>
                </a:solidFill>
              </a:defRPr>
            </a:lvl2pPr>
            <a:lvl3pPr algn="l">
              <a:defRPr sz="2400">
                <a:solidFill>
                  <a:schemeClr val="tx2"/>
                </a:solidFill>
              </a:defRPr>
            </a:lvl3pPr>
            <a:lvl4pPr algn="l">
              <a:defRPr sz="2800">
                <a:solidFill>
                  <a:schemeClr val="tx2"/>
                </a:solidFill>
              </a:defRPr>
            </a:lvl4pPr>
            <a:lvl5pPr algn="l">
              <a:defRPr sz="2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F51C79-D920-09AF-3D4E-2036C548F9DF}"/>
              </a:ext>
            </a:extLst>
          </p:cNvPr>
          <p:cNvSpPr>
            <a:spLocks/>
          </p:cNvSpPr>
          <p:nvPr/>
        </p:nvSpPr>
        <p:spPr>
          <a:xfrm>
            <a:off x="0" y="351594"/>
            <a:ext cx="3689935" cy="27432"/>
          </a:xfrm>
          <a:prstGeom prst="rect">
            <a:avLst/>
          </a:prstGeom>
          <a:solidFill>
            <a:schemeClr val="tx2"/>
          </a:solidFill>
          <a:ln w="3143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0175" tIns="15088" rIns="30175" bIns="150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 err="1">
              <a:solidFill>
                <a:srgbClr val="FFFFFF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02481F9-CE77-A00F-9005-85A6D28367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812" y="476249"/>
            <a:ext cx="3209123" cy="1938992"/>
          </a:xfrm>
        </p:spPr>
        <p:txBody>
          <a:bodyPr vert="horz" tIns="91440">
            <a:sp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40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section name</a:t>
            </a:r>
          </a:p>
        </p:txBody>
      </p:sp>
    </p:spTree>
    <p:extLst>
      <p:ext uri="{BB962C8B-B14F-4D97-AF65-F5344CB8AC3E}">
        <p14:creationId xmlns:p14="http://schemas.microsoft.com/office/powerpoint/2010/main" val="3191377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EB7C2952-985D-155A-8BB4-D399F4BF74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89824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B7C2952-985D-155A-8BB4-D399F4BF74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7FAE71F5-145F-5B74-D56B-60CC5A0A04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9525" cap="rnd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pic>
        <p:nvPicPr>
          <p:cNvPr id="4" name="Picture 3" descr="A picture containing moon, astronomical object&#10;&#10;Description automatically generated">
            <a:extLst>
              <a:ext uri="{FF2B5EF4-FFF2-40B4-BE49-F238E27FC236}">
                <a16:creationId xmlns:a16="http://schemas.microsoft.com/office/drawing/2014/main" id="{7AE2E7DA-CF93-98AB-45FE-DF47EBF5CA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27" y="2743547"/>
            <a:ext cx="3194343" cy="137090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D82C088-5877-BF89-BE15-74D89D663502}"/>
              </a:ext>
            </a:extLst>
          </p:cNvPr>
          <p:cNvSpPr/>
          <p:nvPr/>
        </p:nvSpPr>
        <p:spPr>
          <a:xfrm>
            <a:off x="4707567" y="5931056"/>
            <a:ext cx="3061334" cy="307777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rnd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TERRA DIGITAL VENTURES CO., LTD.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E35A14-32F6-D445-DACF-5D1633BF0F90}"/>
              </a:ext>
            </a:extLst>
          </p:cNvPr>
          <p:cNvSpPr/>
          <p:nvPr/>
        </p:nvSpPr>
        <p:spPr>
          <a:xfrm>
            <a:off x="5052163" y="6213355"/>
            <a:ext cx="2372143" cy="307777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rnd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0">
                <a:solidFill>
                  <a:schemeClr val="tx1"/>
                </a:solidFill>
              </a:rPr>
              <a:t>info@terradigitalventures.com</a:t>
            </a:r>
          </a:p>
        </p:txBody>
      </p:sp>
    </p:spTree>
    <p:extLst>
      <p:ext uri="{BB962C8B-B14F-4D97-AF65-F5344CB8AC3E}">
        <p14:creationId xmlns:p14="http://schemas.microsoft.com/office/powerpoint/2010/main" val="4190704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_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D6FB9369-97A7-75D5-11D2-59276F36C09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82354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6FB9369-97A7-75D5-11D2-59276F36C0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D33FC3D-C7C8-DAF3-AAD8-39EA3AD5EA4F}"/>
              </a:ext>
            </a:extLst>
          </p:cNvPr>
          <p:cNvSpPr/>
          <p:nvPr/>
        </p:nvSpPr>
        <p:spPr>
          <a:xfrm>
            <a:off x="0" y="5312782"/>
            <a:ext cx="12192000" cy="1545216"/>
          </a:xfrm>
          <a:prstGeom prst="rect">
            <a:avLst/>
          </a:prstGeom>
          <a:solidFill>
            <a:srgbClr val="FFFFFF"/>
          </a:solidFill>
          <a:ln w="9525" cap="rnd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C1960FF-7CAE-5E70-F392-AF82F27463F9}"/>
              </a:ext>
            </a:extLst>
          </p:cNvPr>
          <p:cNvGrpSpPr/>
          <p:nvPr/>
        </p:nvGrpSpPr>
        <p:grpSpPr>
          <a:xfrm>
            <a:off x="9481112" y="5518397"/>
            <a:ext cx="2047345" cy="1145353"/>
            <a:chOff x="9029699" y="5518397"/>
            <a:chExt cx="2047345" cy="1145353"/>
          </a:xfrm>
        </p:grpSpPr>
        <p:pic>
          <p:nvPicPr>
            <p:cNvPr id="4" name="Picture 3" descr="A picture containing moon, astronomical object&#10;&#10;Description automatically generated">
              <a:extLst>
                <a:ext uri="{FF2B5EF4-FFF2-40B4-BE49-F238E27FC236}">
                  <a16:creationId xmlns:a16="http://schemas.microsoft.com/office/drawing/2014/main" id="{7AE2E7DA-CF93-98AB-45FE-DF47EBF5CA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9029700" y="5518397"/>
              <a:ext cx="2047344" cy="87865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D82C088-5877-BF89-BE15-74D89D663502}"/>
                </a:ext>
              </a:extLst>
            </p:cNvPr>
            <p:cNvSpPr/>
            <p:nvPr userDrawn="1"/>
          </p:nvSpPr>
          <p:spPr>
            <a:xfrm>
              <a:off x="9029699" y="6397049"/>
              <a:ext cx="2047344" cy="266701"/>
            </a:xfrm>
            <a:prstGeom prst="rect">
              <a:avLst/>
            </a:prstGeom>
            <a:noFill/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cap="rnd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TERRA DIGITAL VENTURES CO., LTD.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6285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D. White one thir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Sarabun Light" panose="00000400000000000000" pitchFamily="2" charset="-34"/>
                <a:ea typeface="+mn-ea"/>
                <a:cs typeface="Sarabun Light" panose="00000400000000000000" pitchFamily="2" charset="-34"/>
                <a:sym typeface="Trebuchet MS" panose="020B0603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EC11E6C-C3F1-EB20-6E82-6ACCAFDF05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2628900"/>
            <a:ext cx="3127881" cy="1600200"/>
          </a:xfrm>
        </p:spPr>
        <p:txBody>
          <a:bodyPr anchor="ctr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410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. White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Sarabun Light" panose="00000400000000000000" pitchFamily="2" charset="-34"/>
                <a:ea typeface="+mn-ea"/>
                <a:cs typeface="Sarabun Light" panose="00000400000000000000" pitchFamily="2" charset="-34"/>
                <a:sym typeface="Trebuchet MS" panose="020B0603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EC11E6C-C3F1-EB20-6E82-6ACCAFDF05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2807039"/>
            <a:ext cx="2920024" cy="890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0426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E4FFF-81B3-4CDA-B0A1-3363FFB22A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350" cy="498598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A5942B5-C726-8B51-E491-71AA74003A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0000" y="1363851"/>
            <a:ext cx="10933350" cy="48131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defRPr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>
              <a:defRPr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>
              <a:defRPr sz="12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>
              <a:defRPr sz="12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  <a:lvl6pPr>
              <a:defRPr sz="12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6pPr>
            <a:lvl7pPr>
              <a:defRPr sz="12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7pPr>
            <a:lvl8pPr>
              <a:defRPr sz="12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8pPr>
            <a:lvl9pPr>
              <a:defRPr sz="12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Level six</a:t>
            </a:r>
          </a:p>
          <a:p>
            <a:pPr lvl="6"/>
            <a:r>
              <a:rPr lang="en-US"/>
              <a:t>Level seven</a:t>
            </a:r>
          </a:p>
          <a:p>
            <a:pPr lvl="7"/>
            <a:r>
              <a:rPr lang="en-US"/>
              <a:t>Level eight</a:t>
            </a:r>
          </a:p>
          <a:p>
            <a:pPr lvl="8"/>
            <a:r>
              <a:rPr lang="en-US"/>
              <a:t>Level nine</a:t>
            </a:r>
          </a:p>
        </p:txBody>
      </p:sp>
    </p:spTree>
    <p:extLst>
      <p:ext uri="{BB962C8B-B14F-4D97-AF65-F5344CB8AC3E}">
        <p14:creationId xmlns:p14="http://schemas.microsoft.com/office/powerpoint/2010/main" val="1981891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slice head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  <a:sym typeface="Trebuchet MS" panose="020B0603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630000" y="1544274"/>
            <a:ext cx="3452400" cy="1495794"/>
          </a:xfrm>
          <a:noFill/>
        </p:spPr>
        <p:txBody>
          <a:bodyPr wrap="square" lIns="0" tIns="0" rIns="320040" bIns="0" anchor="b">
            <a:noAutofit/>
          </a:bodyPr>
          <a:lstStyle>
            <a:lvl1pPr>
              <a:defRPr sz="36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2795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line">
    <p:bg bwMode="blackWhite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Sarabun Light" panose="00000400000000000000" pitchFamily="2" charset="-34"/>
                <a:ea typeface="+mn-ea"/>
                <a:cs typeface="Sarabun Light" panose="00000400000000000000" pitchFamily="2" charset="-34"/>
                <a:sym typeface="Trebuchet MS" panose="020B0603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anchor="t">
            <a:noAutofit/>
          </a:bodyPr>
          <a:lstStyle>
            <a:lvl1pPr>
              <a:defRPr sz="5400">
                <a:solidFill>
                  <a:srgbClr val="FFFFFF"/>
                </a:solidFill>
                <a:latin typeface="Poppins Light" panose="00000400000000000000" pitchFamily="2" charset="0"/>
                <a:cs typeface="Poppins Light" panose="00000400000000000000" pitchFamily="2" charset="0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1498723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one thir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Sarabun Light" panose="00000400000000000000" pitchFamily="2" charset="-34"/>
                <a:ea typeface="+mn-ea"/>
                <a:cs typeface="Sarabun Light" panose="00000400000000000000" pitchFamily="2" charset="-34"/>
                <a:sym typeface="Trebuchet MS" panose="020B0603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2681103"/>
            <a:ext cx="3127881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6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1743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White one thir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Sarabun Light" panose="00000400000000000000" pitchFamily="2" charset="-34"/>
                <a:ea typeface="+mn-ea"/>
                <a:cs typeface="Sarabun Light" panose="00000400000000000000" pitchFamily="2" charset="-34"/>
                <a:sym typeface="Trebuchet MS" panose="020B0603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6256800" cy="512448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6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17879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White one thir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9DF0147-1D1E-D5CE-407C-67873D3B7C9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800" b="0" kern="1200" baseline="0" dirty="0" smtClean="0">
                <a:solidFill>
                  <a:schemeClr val="tx2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  <a:sym typeface="Trebuchet MS" panose="020B06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​"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​"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​"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​"/>
              <a:tabLst/>
              <a:defRPr/>
            </a:pPr>
            <a:r>
              <a:rPr lang="en-US"/>
              <a:t>Click icon below to insert an image or remove this placeholder to use the whitespace in another way</a:t>
            </a:r>
          </a:p>
          <a:p>
            <a:endParaRPr lang="en-US"/>
          </a:p>
        </p:txBody>
      </p:sp>
      <p:sp>
        <p:nvSpPr>
          <p:cNvPr id="17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Sarabun Light" panose="00000400000000000000" pitchFamily="2" charset="-34"/>
                <a:ea typeface="+mn-ea"/>
                <a:cs typeface="Sarabun Light" panose="00000400000000000000" pitchFamily="2" charset="-34"/>
                <a:sym typeface="Trebuchet MS" panose="020B0603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629999" y="1785600"/>
            <a:ext cx="4388400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964846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White one thir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9DF0147-1D1E-D5CE-407C-67873D3B7C9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814779" y="0"/>
            <a:ext cx="4377221" cy="6858000"/>
          </a:xfrm>
        </p:spPr>
        <p:txBody>
          <a:bodyPr/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​"/>
              <a:defRPr lang="en-US" sz="1800" b="0" kern="1200" baseline="0" dirty="0" smtClean="0">
                <a:solidFill>
                  <a:schemeClr val="tx2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  <a:sym typeface="Trebuchet MS" panose="020B0603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​"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​"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​"/>
              <a:tabLst/>
              <a:defRPr/>
            </a:pP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​"/>
              <a:tabLst/>
              <a:defRPr/>
            </a:pPr>
            <a:r>
              <a:rPr lang="en-US"/>
              <a:t>Click icon below to insert an image or remove this placeholder to use the whitespace in another way</a:t>
            </a:r>
          </a:p>
          <a:p>
            <a:endParaRPr lang="en-US"/>
          </a:p>
        </p:txBody>
      </p:sp>
      <p:sp>
        <p:nvSpPr>
          <p:cNvPr id="17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2"/>
                </a:solidFill>
                <a:latin typeface="Sarabun Light" panose="00000400000000000000" pitchFamily="2" charset="-34"/>
                <a:ea typeface="+mn-ea"/>
                <a:cs typeface="Sarabun Light" panose="00000400000000000000" pitchFamily="2" charset="-34"/>
                <a:sym typeface="Trebuchet MS" panose="020B0603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1785600"/>
            <a:ext cx="6206230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324961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Sarabun Light" panose="00000400000000000000" pitchFamily="2" charset="-34"/>
                <a:ea typeface="+mn-ea"/>
                <a:cs typeface="Sarabun Light" panose="00000400000000000000" pitchFamily="2" charset="-34"/>
                <a:sym typeface="Trebuchet MS" panose="020B0603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2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D1DA01-0E73-44DE-A132-B4FF1E70A3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9400" y="1363851"/>
            <a:ext cx="10933950" cy="479475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7">
            <a:extLst>
              <a:ext uri="{FF2B5EF4-FFF2-40B4-BE49-F238E27FC236}">
                <a16:creationId xmlns:a16="http://schemas.microsoft.com/office/drawing/2014/main" id="{833BD41E-7321-92CA-045D-564AB4AE01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350" cy="341632"/>
          </a:xfrm>
        </p:spPr>
        <p:txBody>
          <a:bodyPr/>
          <a:lstStyle>
            <a:lvl1pPr>
              <a:defRPr sz="2400" b="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028743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ay slice head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rgbClr val="FFFFFF"/>
                </a:solidFill>
                <a:latin typeface="Sarabun Light" panose="00000400000000000000" pitchFamily="2" charset="-34"/>
                <a:ea typeface="+mn-ea"/>
                <a:cs typeface="Sarabun Light" panose="00000400000000000000" pitchFamily="2" charset="-34"/>
                <a:sym typeface="Trebuchet MS" panose="020B0603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630000" y="2158987"/>
            <a:ext cx="3744000" cy="541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  <a:sym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1227048"/>
            <a:ext cx="3744000" cy="664797"/>
          </a:xfrm>
        </p:spPr>
        <p:txBody>
          <a:bodyPr anchor="t">
            <a:noAutofit/>
          </a:bodyPr>
          <a:lstStyle>
            <a:lvl1pPr>
              <a:defRPr sz="2400">
                <a:solidFill>
                  <a:schemeClr val="tx1"/>
                </a:solidFill>
                <a:latin typeface="Poppins Light" panose="00000400000000000000" pitchFamily="2" charset="0"/>
                <a:cs typeface="Poppins Light" panose="00000400000000000000" pitchFamily="2" charset="0"/>
                <a:sym typeface="Trebuchet MS" panose="020B0603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16360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. Gray slice head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1"/>
                </a:solidFill>
                <a:latin typeface="Sarabun Light" panose="00000400000000000000" pitchFamily="2" charset="-34"/>
                <a:ea typeface="+mn-ea"/>
                <a:cs typeface="Sarabun Light" panose="00000400000000000000" pitchFamily="2" charset="-34"/>
                <a:sym typeface="Trebuchet MS" panose="020B0603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1284742" y="2668041"/>
            <a:ext cx="9620491" cy="3201026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None/>
              <a:defRPr lang="en-US" sz="5400" b="0" kern="1200" baseline="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  <a:sym typeface="Trebuchet MS" panose="020B060302020202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59700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. Gray slice head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1"/>
                </a:solidFill>
                <a:latin typeface="Sarabun Light" panose="00000400000000000000" pitchFamily="2" charset="-34"/>
                <a:ea typeface="+mn-ea"/>
                <a:cs typeface="Sarabun Light" panose="00000400000000000000" pitchFamily="2" charset="-34"/>
                <a:sym typeface="Trebuchet MS" panose="020B0603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630000" y="3826800"/>
            <a:ext cx="10936800" cy="2041200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anchor="t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None/>
              <a:defRPr lang="en-US" sz="5400" b="0" kern="1200" baseline="0" dirty="0">
                <a:solidFill>
                  <a:schemeClr val="bg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  <a:sym typeface="Trebuchet MS" panose="020B060302020202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36311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D. White one thir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Sarabun Light" panose="00000400000000000000" pitchFamily="2" charset="-34"/>
                <a:ea typeface="+mn-ea"/>
                <a:cs typeface="Sarabun Light" panose="00000400000000000000" pitchFamily="2" charset="-34"/>
                <a:sym typeface="Trebuchet MS" panose="020B0603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EC11E6C-C3F1-EB20-6E82-6ACCAFDF05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925" y="3095062"/>
            <a:ext cx="2255867" cy="667875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06141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5FED23DC-8400-B275-2007-39B03870D3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3315" y="3477328"/>
            <a:ext cx="11045370" cy="2509475"/>
          </a:xfrm>
        </p:spPr>
        <p:txBody>
          <a:bodyPr bIns="457200" anchor="t"/>
          <a:lstStyle>
            <a:lvl1pPr>
              <a:defRPr sz="4000">
                <a:solidFill>
                  <a:schemeClr val="tx1"/>
                </a:solidFill>
              </a:defRPr>
            </a:lvl1pPr>
            <a:lvl2pPr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agenda</a:t>
            </a:r>
          </a:p>
        </p:txBody>
      </p:sp>
    </p:spTree>
    <p:extLst>
      <p:ext uri="{BB962C8B-B14F-4D97-AF65-F5344CB8AC3E}">
        <p14:creationId xmlns:p14="http://schemas.microsoft.com/office/powerpoint/2010/main" val="21793810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2C579-2BBF-FC9F-2B2A-5145A3B5D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BB4311-B4C0-B328-EE86-6F2F25F58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1BFAD-3192-5E31-3C0D-B6461B263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87287-232A-429B-ACBE-89DD965C073A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0A099-765C-1218-8C6D-47A0E0A5B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21211-DD1E-CA45-16D7-643B2A7ED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ACF1A-17B7-4F8C-83EE-043F08273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2465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83D77-B3BC-177F-5138-E40B2DB6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2718B-CE98-E8CB-BAC1-BB79FA603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B7CC3-2712-6131-2853-3775878A6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0B6B-F197-E74E-8D6C-D0650FC0B492}" type="datetimeFigureOut">
              <a:rPr lang="en-TH" smtClean="0"/>
              <a:t>01/20/2026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C2B64-B5D2-87F3-8A38-29E8C086D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C9D7A-E7C1-25E4-EB97-5A20D118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02E7A-FE3F-2641-B745-0B04854FD822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10926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1.emf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ags" Target="../tags/tag2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9A6B7B9-27BB-DB66-4CDC-BC27244D7CE6}"/>
              </a:ext>
            </a:extLst>
          </p:cNvPr>
          <p:cNvGraphicFramePr>
            <a:graphicFrameLocks noChangeAspect="1"/>
          </p:cNvGraphicFramePr>
          <p:nvPr>
            <p:custDataLst>
              <p:tags r:id="rId46"/>
            </p:custDataLst>
            <p:extLst>
              <p:ext uri="{D42A27DB-BD31-4B8C-83A1-F6EECF244321}">
                <p14:modId xmlns:p14="http://schemas.microsoft.com/office/powerpoint/2010/main" val="23772478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7" imgW="484" imgH="486" progId="TCLayout.ActiveDocument.1">
                  <p:embed/>
                </p:oleObj>
              </mc:Choice>
              <mc:Fallback>
                <p:oleObj name="think-cell Slide" r:id="rId47" imgW="484" imgH="48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9A6B7B9-27BB-DB66-4CDC-BC27244D7C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48A2C7-56B1-D842-63C8-EA05203A6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49"/>
            <a:ext cx="11233150" cy="49244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edit slide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63015B-135E-8164-9ACD-E18647A59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533525"/>
            <a:ext cx="11233150" cy="484822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551580-D30E-805D-C64D-3403EC1DBF73}"/>
              </a:ext>
            </a:extLst>
          </p:cNvPr>
          <p:cNvSpPr>
            <a:spLocks/>
          </p:cNvSpPr>
          <p:nvPr/>
        </p:nvSpPr>
        <p:spPr>
          <a:xfrm rot="10800000" flipV="1">
            <a:off x="11815762" y="6574634"/>
            <a:ext cx="376236" cy="184149"/>
          </a:xfrm>
          <a:prstGeom prst="rect">
            <a:avLst/>
          </a:prstGeom>
          <a:noFill/>
          <a:ln w="3143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chemeClr val="accent2">
                        <a:alpha val="80000"/>
                      </a:schemeClr>
                    </a:gs>
                    <a:gs pos="45000">
                      <a:schemeClr val="tx1">
                        <a:alpha val="80000"/>
                      </a:schemeClr>
                    </a:gs>
                    <a:gs pos="100000">
                      <a:schemeClr val="bg2">
                        <a:alpha val="20000"/>
                      </a:schemeClr>
                    </a:gs>
                    <a:gs pos="88000">
                      <a:schemeClr val="accent1">
                        <a:alpha val="20000"/>
                        <a:lumMod val="50000"/>
                        <a:lumOff val="50000"/>
                      </a:schemeClr>
                    </a:gs>
                  </a:gsLst>
                  <a:lin ang="0" scaled="1"/>
                  <a:tileRect/>
                </a:gra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9144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/>
            <a:fld id="{EABD17D3-E729-4656-B49B-865A2183579A}" type="slidenum">
              <a:rPr lang="en-US" sz="900" smtClean="0">
                <a:solidFill>
                  <a:schemeClr val="bg1"/>
                </a:solidFill>
              </a:rPr>
              <a:t>‹#›</a:t>
            </a:fld>
            <a:endParaRPr 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0218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  <p:sldLayoutId id="2147483703" r:id="rId42"/>
    <p:sldLayoutId id="2147483717" r:id="rId43"/>
    <p:sldLayoutId id="2147483718" r:id="rId44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  <a:sym typeface="Trebuchet MS" panose="020B0603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Segoe UI" panose="020B0502040204020203" pitchFamily="34" charset="0"/>
        <a:buChar char="​"/>
        <a:defRPr lang="en-US" sz="1600" kern="1200">
          <a:solidFill>
            <a:schemeClr val="bg1"/>
          </a:solidFill>
          <a:latin typeface="+mn-lt"/>
          <a:ea typeface="+mn-ea"/>
          <a:cs typeface="+mn-cs"/>
          <a:sym typeface="Trebuchet MS" panose="020B0603020202020204" pitchFamily="34" charset="0"/>
        </a:defRPr>
      </a:lvl1pPr>
      <a:lvl2pPr marL="228600" indent="-1730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lang="en-US" sz="1400" kern="1200">
          <a:solidFill>
            <a:schemeClr val="bg1"/>
          </a:solidFill>
          <a:latin typeface="+mn-lt"/>
          <a:ea typeface="+mn-ea"/>
          <a:cs typeface="+mn-cs"/>
          <a:sym typeface="Trebuchet MS" panose="020B0603020202020204" pitchFamily="34" charset="0"/>
        </a:defRPr>
      </a:lvl2pPr>
      <a:lvl3pPr marL="400050" indent="-1587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Font typeface="Segoe UI" panose="020B0502040204020203" pitchFamily="34" charset="0"/>
        <a:buChar char="–"/>
        <a:defRPr lang="en-US" sz="1200" kern="1200">
          <a:solidFill>
            <a:schemeClr val="bg1"/>
          </a:solidFill>
          <a:latin typeface="+mn-lt"/>
          <a:ea typeface="+mn-ea"/>
          <a:cs typeface="+mn-cs"/>
          <a:sym typeface="Trebuchet MS" panose="020B0603020202020204" pitchFamily="34" charset="0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Font typeface="+mn-lt"/>
        <a:buNone/>
        <a:defRPr lang="en-US" sz="1600" kern="1200">
          <a:solidFill>
            <a:schemeClr val="bg1"/>
          </a:solidFill>
          <a:latin typeface="+mn-lt"/>
          <a:ea typeface="+mn-ea"/>
          <a:cs typeface="+mn-cs"/>
          <a:sym typeface="Trebuchet MS" panose="020B0603020202020204" pitchFamily="34" charset="0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Font typeface="+mn-lt"/>
        <a:buChar char="​"/>
        <a:defRPr lang="en-US" sz="1600" b="1" kern="1200" smtClean="0">
          <a:solidFill>
            <a:schemeClr val="bg1"/>
          </a:solidFill>
          <a:latin typeface="+mn-lt"/>
          <a:ea typeface="+mn-ea"/>
          <a:cs typeface="+mn-cs"/>
          <a:sym typeface="Trebuchet MS" panose="020B0603020202020204" pitchFamily="34" charset="0"/>
        </a:defRPr>
      </a:lvl5pPr>
      <a:lvl6pPr marL="324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1"/>
        </a:buClr>
        <a:buFont typeface="+mn-lt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+mn-lt"/>
        <a:buChar char="​"/>
        <a:defRPr lang="en-US" sz="4400" kern="1200" baseline="0" smtClean="0">
          <a:solidFill>
            <a:schemeClr val="tx1"/>
          </a:solidFill>
          <a:latin typeface="+mn-lt"/>
          <a:ea typeface="+mn-ea"/>
          <a:cs typeface="+mn-cs"/>
          <a:sym typeface="Trebuchet MS" panose="020B0603020202020204" pitchFamily="34" charset="0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+mn-lt"/>
        <a:buChar char="​"/>
        <a:defRPr lang="en-US" sz="5400" kern="1200" baseline="0" smtClean="0">
          <a:solidFill>
            <a:schemeClr val="accent1"/>
          </a:solidFill>
          <a:latin typeface="+mn-lt"/>
          <a:ea typeface="+mn-ea"/>
          <a:cs typeface="+mn-cs"/>
          <a:sym typeface="Trebuchet MS" panose="020B0603020202020204" pitchFamily="34" charset="0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+mn-lt"/>
        <a:buChar char="​"/>
        <a:defRPr lang="en-US" sz="2400" kern="1200" baseline="0" dirty="0">
          <a:solidFill>
            <a:schemeClr val="accent1"/>
          </a:solidFill>
          <a:latin typeface="+mn-lt"/>
          <a:ea typeface="+mn-ea"/>
          <a:cs typeface="+mn-cs"/>
          <a:sym typeface="Trebuchet MS" panose="020B0603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11">
          <p15:clr>
            <a:srgbClr val="F26B43"/>
          </p15:clr>
        </p15:guide>
        <p15:guide id="2" pos="396">
          <p15:clr>
            <a:srgbClr val="F26B43"/>
          </p15:clr>
        </p15:guide>
        <p15:guide id="3" pos="7284">
          <p15:clr>
            <a:srgbClr val="F26B43"/>
          </p15:clr>
        </p15:guide>
        <p15:guide id="4" orient="horz" pos="388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vresume-eval-orchestrator-du7yhkyaqq-as.a.run.app/docs#/default/evaluate_resume_api_v1_resume_evaluations_post" TargetMode="External"/><Relationship Id="rId2" Type="http://schemas.openxmlformats.org/officeDocument/2006/relationships/hyperlink" Target="https://github.com/TunKedsaro/CVResume_evaluation_orchestrator/blob/main/api_spec/API_spec.md" TargetMode="Externa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25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9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26.xml"/><Relationship Id="rId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27.xml"/><Relationship Id="rId6" Type="http://schemas.openxmlformats.org/officeDocument/2006/relationships/hyperlink" Target="https://cvresume-eval-orchestrator-du7yhkyaqq-as.a.run.app/docs#/default/evaluate_resume_api_v1_resume_evaluations_post" TargetMode="External"/><Relationship Id="rId5" Type="http://schemas.openxmlformats.org/officeDocument/2006/relationships/hyperlink" Target="mailto:juanjose.carin@gmail.com" TargetMode="External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28.xml"/><Relationship Id="rId6" Type="http://schemas.openxmlformats.org/officeDocument/2006/relationships/hyperlink" Target="https://cvresume-eval-orchestrator-du7yhkyaqq-as.a.run.app/docs#/default/evaluate_resume_api_v1_resume_evaluations_post" TargetMode="External"/><Relationship Id="rId5" Type="http://schemas.openxmlformats.org/officeDocument/2006/relationships/hyperlink" Target="mailto:juanjose.carin@gmail.com" TargetMode="External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29.xml"/><Relationship Id="rId6" Type="http://schemas.openxmlformats.org/officeDocument/2006/relationships/hyperlink" Target="https://cvresume-eval-orchestrator-du7yhkyaqq-as.a.run.app/docs#/default/evaluate_resume_api_v1_resume_evaluations_post" TargetMode="Externa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30.xml"/><Relationship Id="rId5" Type="http://schemas.openxmlformats.org/officeDocument/2006/relationships/hyperlink" Target="https://cvresume-eval-orchestrator-du7yhkyaqq-as.a.run.app/docs#/default/evaluate_resume_api_v1_resume_evaluations_post" TargetMode="External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31.xml"/><Relationship Id="rId5" Type="http://schemas.openxmlformats.org/officeDocument/2006/relationships/hyperlink" Target="https://cvresume-eval-orchestrator-du7yhkyaqq-as.a.run.app/docs#/default/evaluate_resume_api_v1_resume_evaluations_post" TargetMode="External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32.xml"/><Relationship Id="rId5" Type="http://schemas.openxmlformats.org/officeDocument/2006/relationships/hyperlink" Target="https://cvresume-eval-orchestrator-du7yhkyaqq-as.a.run.app/docs#/default/evaluate_resume_api_v1_resume_evaluations_post" TargetMode="External"/><Relationship Id="rId4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33.xml"/><Relationship Id="rId6" Type="http://schemas.openxmlformats.org/officeDocument/2006/relationships/hyperlink" Target="https://cvresume-eval-orchestrator-du7yhkyaqq-as.a.run.app/docs#/default/evaluate_resume_api_v1_resume_evaluations_post" TargetMode="External"/><Relationship Id="rId5" Type="http://schemas.openxmlformats.org/officeDocument/2006/relationships/hyperlink" Target="mailto:juanjose.carin@gmail.com" TargetMode="External"/><Relationship Id="rId4" Type="http://schemas.openxmlformats.org/officeDocument/2006/relationships/image" Target="../media/image1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34.xml"/><Relationship Id="rId6" Type="http://schemas.openxmlformats.org/officeDocument/2006/relationships/hyperlink" Target="https://cvresume-eval-orchestrator-du7yhkyaqq-as.a.run.app/docs#/default/evaluate_resume_api_v1_resume_evaluations_post" TargetMode="External"/><Relationship Id="rId5" Type="http://schemas.openxmlformats.org/officeDocument/2006/relationships/hyperlink" Target="mailto:juanjose.carin@gmail.com" TargetMode="External"/><Relationship Id="rId4" Type="http://schemas.openxmlformats.org/officeDocument/2006/relationships/image" Target="../media/image10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35.xml"/><Relationship Id="rId4" Type="http://schemas.openxmlformats.org/officeDocument/2006/relationships/image" Target="../media/image10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36.xml"/><Relationship Id="rId4" Type="http://schemas.openxmlformats.org/officeDocument/2006/relationships/image" Target="../media/image10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hyperlink" Target="https://cvresume-eval-orchestrator-du7yhkyaqq-as.a.run.app/docs#/default/evaluate_resume_api_v1_resume_evaluations_post" TargetMode="External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37.xml"/><Relationship Id="rId6" Type="http://schemas.openxmlformats.org/officeDocument/2006/relationships/hyperlink" Target="mailto:juanjose.carin@gmail.com" TargetMode="Externa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0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38.xml"/><Relationship Id="rId6" Type="http://schemas.openxmlformats.org/officeDocument/2006/relationships/hyperlink" Target="https://cvresume-eval-orchestrator-du7yhkyaqq-as.a.run.app/docs#/default/evaluate_resume_api_v1_resume_evaluations_post" TargetMode="External"/><Relationship Id="rId5" Type="http://schemas.openxmlformats.org/officeDocument/2006/relationships/hyperlink" Target="mailto:juanjose.carin@gmail.com" TargetMode="External"/><Relationship Id="rId4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39.xml"/><Relationship Id="rId5" Type="http://schemas.openxmlformats.org/officeDocument/2006/relationships/hyperlink" Target="https://cvresume-eval-orchestrator-du7yhkyaqq-as.a.run.app/docs#/default/evaluate_resume_api_v1_resume_evaluations_post" TargetMode="External"/><Relationship Id="rId4" Type="http://schemas.openxmlformats.org/officeDocument/2006/relationships/image" Target="../media/image1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40.xml"/><Relationship Id="rId5" Type="http://schemas.openxmlformats.org/officeDocument/2006/relationships/hyperlink" Target="https://cvresume-eval-orchestrator-du7yhkyaqq-as.a.run.app/docs#/default/evaluate_resume_api_v1_resume_evaluations_post" TargetMode="External"/><Relationship Id="rId4" Type="http://schemas.openxmlformats.org/officeDocument/2006/relationships/image" Target="../media/image10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41.xml"/><Relationship Id="rId4" Type="http://schemas.openxmlformats.org/officeDocument/2006/relationships/image" Target="../media/image10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4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42.xml"/><Relationship Id="rId5" Type="http://schemas.openxmlformats.org/officeDocument/2006/relationships/image" Target="../media/image14.png"/><Relationship Id="rId4" Type="http://schemas.openxmlformats.org/officeDocument/2006/relationships/image" Target="../media/image10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43.xml"/><Relationship Id="rId5" Type="http://schemas.openxmlformats.org/officeDocument/2006/relationships/image" Target="../media/image14.png"/><Relationship Id="rId4" Type="http://schemas.openxmlformats.org/officeDocument/2006/relationships/image" Target="../media/image10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44.xml"/><Relationship Id="rId5" Type="http://schemas.openxmlformats.org/officeDocument/2006/relationships/image" Target="../media/image14.png"/><Relationship Id="rId4" Type="http://schemas.openxmlformats.org/officeDocument/2006/relationships/image" Target="../media/image10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45.xml"/><Relationship Id="rId5" Type="http://schemas.openxmlformats.org/officeDocument/2006/relationships/image" Target="../media/image14.png"/><Relationship Id="rId4" Type="http://schemas.openxmlformats.org/officeDocument/2006/relationships/image" Target="../media/image10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46.xml"/><Relationship Id="rId5" Type="http://schemas.openxmlformats.org/officeDocument/2006/relationships/image" Target="../media/image14.png"/><Relationship Id="rId4" Type="http://schemas.openxmlformats.org/officeDocument/2006/relationships/image" Target="../media/image10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47.xml"/><Relationship Id="rId5" Type="http://schemas.openxmlformats.org/officeDocument/2006/relationships/image" Target="../media/image14.png"/><Relationship Id="rId4" Type="http://schemas.openxmlformats.org/officeDocument/2006/relationships/image" Target="../media/image10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48.xml"/><Relationship Id="rId4" Type="http://schemas.openxmlformats.org/officeDocument/2006/relationships/image" Target="../media/image10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49.xml"/><Relationship Id="rId4" Type="http://schemas.openxmlformats.org/officeDocument/2006/relationships/image" Target="../media/image10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50.xml"/><Relationship Id="rId5" Type="http://schemas.openxmlformats.org/officeDocument/2006/relationships/image" Target="../media/image14.png"/><Relationship Id="rId4" Type="http://schemas.openxmlformats.org/officeDocument/2006/relationships/image" Target="../media/image10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51.xml"/><Relationship Id="rId5" Type="http://schemas.openxmlformats.org/officeDocument/2006/relationships/image" Target="../media/image14.png"/><Relationship Id="rId4" Type="http://schemas.openxmlformats.org/officeDocument/2006/relationships/image" Target="../media/image10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52.xml"/><Relationship Id="rId5" Type="http://schemas.openxmlformats.org/officeDocument/2006/relationships/image" Target="../media/image14.png"/><Relationship Id="rId4" Type="http://schemas.openxmlformats.org/officeDocument/2006/relationships/image" Target="../media/image10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53.xml"/><Relationship Id="rId4" Type="http://schemas.openxmlformats.org/officeDocument/2006/relationships/image" Target="../media/image10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54.xml"/><Relationship Id="rId5" Type="http://schemas.openxmlformats.org/officeDocument/2006/relationships/image" Target="../media/image14.png"/><Relationship Id="rId4" Type="http://schemas.openxmlformats.org/officeDocument/2006/relationships/image" Target="../media/image10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4.xml"/><Relationship Id="rId1" Type="http://schemas.openxmlformats.org/officeDocument/2006/relationships/tags" Target="../tags/tag55.xml"/><Relationship Id="rId5" Type="http://schemas.openxmlformats.org/officeDocument/2006/relationships/image" Target="../media/image14.png"/><Relationship Id="rId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0B99623-E537-28DB-A0E7-D30D679DCF6F}"/>
              </a:ext>
            </a:extLst>
          </p:cNvPr>
          <p:cNvSpPr txBox="1">
            <a:spLocks/>
          </p:cNvSpPr>
          <p:nvPr/>
        </p:nvSpPr>
        <p:spPr>
          <a:xfrm>
            <a:off x="479425" y="2444115"/>
            <a:ext cx="11233150" cy="984885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 algn="ctr"/>
            <a:r>
              <a:rPr lang="en-US" b="1">
                <a:solidFill>
                  <a:schemeClr val="bg1">
                    <a:lumMod val="75000"/>
                    <a:lumOff val="25000"/>
                  </a:schemeClr>
                </a:solidFill>
              </a:rPr>
              <a:t>Sprint review #9</a:t>
            </a:r>
            <a:br>
              <a:rPr lang="en-US" b="1"/>
            </a:br>
            <a:r>
              <a:rPr lang="en-US" b="1" err="1">
                <a:solidFill>
                  <a:schemeClr val="bg1">
                    <a:lumMod val="75000"/>
                    <a:lumOff val="25000"/>
                  </a:schemeClr>
                </a:solidFill>
              </a:rPr>
              <a:t>CVResume</a:t>
            </a:r>
            <a:r>
              <a:rPr lang="en-US" b="1">
                <a:solidFill>
                  <a:schemeClr val="bg1">
                    <a:lumMod val="75000"/>
                    <a:lumOff val="25000"/>
                  </a:schemeClr>
                </a:solidFill>
              </a:rPr>
              <a:t> evaluation</a:t>
            </a:r>
            <a:endParaRPr lang="en-US" sz="2400" b="1">
              <a:solidFill>
                <a:schemeClr val="bg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490DDD-7E8E-247C-74B9-4FE3AC5FC103}"/>
              </a:ext>
            </a:extLst>
          </p:cNvPr>
          <p:cNvSpPr txBox="1">
            <a:spLocks/>
          </p:cNvSpPr>
          <p:nvPr/>
        </p:nvSpPr>
        <p:spPr>
          <a:xfrm>
            <a:off x="152399" y="5052576"/>
            <a:ext cx="11820525" cy="157645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100" b="1">
                <a:solidFill>
                  <a:schemeClr val="accent1">
                    <a:lumMod val="10000"/>
                  </a:schemeClr>
                </a:solidFill>
              </a:rPr>
              <a:t>API Spec Link : </a:t>
            </a:r>
            <a:br>
              <a:rPr lang="en-US" sz="1100" b="1">
                <a:solidFill>
                  <a:srgbClr val="509BCA"/>
                </a:solidFill>
              </a:rPr>
            </a:br>
            <a:r>
              <a:rPr lang="en-US" sz="1100" b="1">
                <a:solidFill>
                  <a:srgbClr val="509BCA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https://github.com/TunKedsaro/CVResume_evaluation_orchestrator/blob/main/api_spec/API_spec.md</a:t>
            </a:r>
            <a:endParaRPr lang="en-US" sz="1100" b="1">
              <a:solidFill>
                <a:srgbClr val="509BCA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100" b="1">
                <a:solidFill>
                  <a:schemeClr val="accent1">
                    <a:lumMod val="10000"/>
                  </a:schemeClr>
                </a:solidFill>
              </a:rPr>
              <a:t>Orchestrator : </a:t>
            </a:r>
            <a:br>
              <a:rPr lang="en-US" sz="1100" b="1">
                <a:solidFill>
                  <a:srgbClr val="509BCA"/>
                </a:solidFill>
              </a:rPr>
            </a:br>
            <a:r>
              <a:rPr lang="en-US" sz="1100" b="1">
                <a:solidFill>
                  <a:srgbClr val="509BCA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https://cvresume-eval-orchestrator-du7yhkyaqq-as.a.run.app/docs#/default/evaluate_resume_api_v1_resume_evaluations_post</a:t>
            </a:r>
            <a:endParaRPr lang="en-US" sz="1100" b="1">
              <a:solidFill>
                <a:srgbClr val="509BCA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100" b="1">
                <a:solidFill>
                  <a:schemeClr val="accent1">
                    <a:lumMod val="10000"/>
                  </a:schemeClr>
                </a:solidFill>
              </a:rPr>
              <a:t>API core evaluation link : </a:t>
            </a:r>
            <a:br>
              <a:rPr lang="en-US" sz="1100" b="1">
                <a:solidFill>
                  <a:srgbClr val="509BCA"/>
                </a:solidFill>
              </a:rPr>
            </a:br>
            <a:r>
              <a:rPr lang="en-US" sz="1100" b="1">
                <a:solidFill>
                  <a:srgbClr val="509BCA"/>
                </a:solidFill>
              </a:rPr>
              <a:t>https://cvresume-service-du7yhkyaqq-as.a.run.app/docs#/Debug%20%26%20Lab/show_example_of_payload_json_body_evaluation_logexamplepayload_get</a:t>
            </a:r>
            <a:endParaRPr lang="en-US" sz="1100">
              <a:solidFill>
                <a:srgbClr val="509BCA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8149A64-A47C-1CE1-C334-674E36D15384}"/>
              </a:ext>
            </a:extLst>
          </p:cNvPr>
          <p:cNvSpPr txBox="1">
            <a:spLocks/>
          </p:cNvSpPr>
          <p:nvPr/>
        </p:nvSpPr>
        <p:spPr>
          <a:xfrm>
            <a:off x="152399" y="5933461"/>
            <a:ext cx="11820525" cy="2299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pPr>
              <a:lnSpc>
                <a:spcPct val="150000"/>
              </a:lnSpc>
            </a:pPr>
            <a:endParaRPr lang="en-US" sz="110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863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BDB2C-E3A9-0EED-3BA3-932D5D282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A213B73-F7D8-F52C-701E-0D26D6539A3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213B73-F7D8-F52C-701E-0D26D6539A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D9088F30-1FF1-78F6-3010-6A1F990F1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3595"/>
            <a:ext cx="10515600" cy="528254"/>
          </a:xfrm>
        </p:spPr>
        <p:txBody>
          <a:bodyPr vert="horz" anchor="ctr">
            <a:normAutofit/>
          </a:bodyPr>
          <a:lstStyle/>
          <a:p>
            <a:pPr algn="ctr"/>
            <a:r>
              <a:rPr lang="en-US" sz="2400">
                <a:cs typeface="Poppins Light"/>
              </a:rPr>
              <a:t>CVResume evaluation</a:t>
            </a:r>
            <a:r>
              <a:rPr lang="en-TH" sz="2400"/>
              <a:t> – System Overview</a:t>
            </a:r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FFC275-3C2B-541A-77D0-336DA224C340}"/>
              </a:ext>
            </a:extLst>
          </p:cNvPr>
          <p:cNvSpPr txBox="1"/>
          <p:nvPr/>
        </p:nvSpPr>
        <p:spPr>
          <a:xfrm>
            <a:off x="10660566" y="691376"/>
            <a:ext cx="0" cy="0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199E32-DCF5-FF34-2C82-96CF100874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360" y="1255041"/>
            <a:ext cx="10049256" cy="51123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2D24FE-8E81-509E-B53D-FB756ACCB0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4871" y="1255041"/>
            <a:ext cx="252000" cy="23432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77ED74-B387-4297-0AE7-9032B886E3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4063" y="1926001"/>
            <a:ext cx="252000" cy="234320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5455C0-9875-BCCD-E0EC-0666C509FC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6071" y="4255035"/>
            <a:ext cx="252000" cy="2343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79492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A185A-658A-95CA-8648-C53750399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02E7A-FE3F-2641-B745-0B04854FD822}" type="slidenum">
              <a:rPr lang="en-TH" smtClean="0"/>
              <a:t>3</a:t>
            </a:fld>
            <a:endParaRPr lang="en-TH"/>
          </a:p>
        </p:txBody>
      </p:sp>
      <p:sp>
        <p:nvSpPr>
          <p:cNvPr id="1208" name="Rectangle 1207">
            <a:extLst>
              <a:ext uri="{FF2B5EF4-FFF2-40B4-BE49-F238E27FC236}">
                <a16:creationId xmlns:a16="http://schemas.microsoft.com/office/drawing/2014/main" id="{FB9AFEF8-D7E9-85D8-D984-26B4DFFD8D34}"/>
              </a:ext>
            </a:extLst>
          </p:cNvPr>
          <p:cNvSpPr/>
          <p:nvPr/>
        </p:nvSpPr>
        <p:spPr>
          <a:xfrm>
            <a:off x="2551592" y="3650729"/>
            <a:ext cx="3802369" cy="258379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000" b="0" i="0" u="none" strike="noStrike" kern="1200" cap="none" spc="0" normalizeH="0" baseline="0" noProof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209" name="Rectangle 1208">
            <a:extLst>
              <a:ext uri="{FF2B5EF4-FFF2-40B4-BE49-F238E27FC236}">
                <a16:creationId xmlns:a16="http://schemas.microsoft.com/office/drawing/2014/main" id="{80993B1E-6059-7A40-0F2C-6410218CA507}"/>
              </a:ext>
            </a:extLst>
          </p:cNvPr>
          <p:cNvSpPr/>
          <p:nvPr/>
        </p:nvSpPr>
        <p:spPr>
          <a:xfrm>
            <a:off x="7188440" y="2633459"/>
            <a:ext cx="4131832" cy="360106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000" b="0" i="0" u="none" strike="noStrike" kern="1200" cap="none" spc="0" normalizeH="0" baseline="0" noProof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212" name="Rectangle 1211">
            <a:extLst>
              <a:ext uri="{FF2B5EF4-FFF2-40B4-BE49-F238E27FC236}">
                <a16:creationId xmlns:a16="http://schemas.microsoft.com/office/drawing/2014/main" id="{F06C53DB-DFA3-A29B-6CD6-B316D053623F}"/>
              </a:ext>
            </a:extLst>
          </p:cNvPr>
          <p:cNvSpPr/>
          <p:nvPr/>
        </p:nvSpPr>
        <p:spPr>
          <a:xfrm>
            <a:off x="7341944" y="3752452"/>
            <a:ext cx="2160261" cy="5185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000" b="0" i="0" u="none" strike="noStrike" kern="1200" cap="none" spc="0" normalizeH="0" baseline="0" noProof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213" name="Rectangle 1212">
            <a:extLst>
              <a:ext uri="{FF2B5EF4-FFF2-40B4-BE49-F238E27FC236}">
                <a16:creationId xmlns:a16="http://schemas.microsoft.com/office/drawing/2014/main" id="{3332EC0F-7BA6-68D8-252C-C5CF0D4D2C91}"/>
              </a:ext>
            </a:extLst>
          </p:cNvPr>
          <p:cNvSpPr/>
          <p:nvPr/>
        </p:nvSpPr>
        <p:spPr>
          <a:xfrm>
            <a:off x="7341944" y="4436694"/>
            <a:ext cx="2160269" cy="14951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000" b="0" i="0" u="none" strike="noStrike" kern="1200" cap="none" spc="0" normalizeH="0" baseline="0" noProof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215" name="Title 1">
            <a:extLst>
              <a:ext uri="{FF2B5EF4-FFF2-40B4-BE49-F238E27FC236}">
                <a16:creationId xmlns:a16="http://schemas.microsoft.com/office/drawing/2014/main" id="{AC15692A-CB96-2170-A45C-6EAE3D2A40AA}"/>
              </a:ext>
            </a:extLst>
          </p:cNvPr>
          <p:cNvSpPr>
            <a:spLocks noGrp="1"/>
          </p:cNvSpPr>
          <p:nvPr/>
        </p:nvSpPr>
        <p:spPr>
          <a:xfrm>
            <a:off x="1050784" y="239650"/>
            <a:ext cx="10515600" cy="52825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TH" sz="2400"/>
              <a:t>Test Result Analysis &amp; Recommendation - API diagram</a:t>
            </a:r>
          </a:p>
        </p:txBody>
      </p:sp>
      <p:sp>
        <p:nvSpPr>
          <p:cNvPr id="1216" name="Rounded Rectangle 14">
            <a:extLst>
              <a:ext uri="{FF2B5EF4-FFF2-40B4-BE49-F238E27FC236}">
                <a16:creationId xmlns:a16="http://schemas.microsoft.com/office/drawing/2014/main" id="{F23CEB16-84E2-65B6-ED85-D61EE1032DF6}"/>
              </a:ext>
            </a:extLst>
          </p:cNvPr>
          <p:cNvSpPr/>
          <p:nvPr/>
        </p:nvSpPr>
        <p:spPr>
          <a:xfrm>
            <a:off x="2849570" y="4251135"/>
            <a:ext cx="1355834" cy="5040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TH" sz="1000" b="0" i="0" u="none" strike="noStrike" kern="1200" cap="none" spc="0" normalizeH="0" baseline="0" noProof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</a:rPr>
              <a:t>Orchestrator API (internal)</a:t>
            </a:r>
          </a:p>
        </p:txBody>
      </p:sp>
      <p:sp>
        <p:nvSpPr>
          <p:cNvPr id="1217" name="Rounded Rectangle 15">
            <a:extLst>
              <a:ext uri="{FF2B5EF4-FFF2-40B4-BE49-F238E27FC236}">
                <a16:creationId xmlns:a16="http://schemas.microsoft.com/office/drawing/2014/main" id="{E9880EC4-1D41-DAF6-7A23-B6D6B4C67FC2}"/>
              </a:ext>
            </a:extLst>
          </p:cNvPr>
          <p:cNvSpPr/>
          <p:nvPr/>
        </p:nvSpPr>
        <p:spPr>
          <a:xfrm>
            <a:off x="4719794" y="4251135"/>
            <a:ext cx="1355834" cy="504000"/>
          </a:xfrm>
          <a:prstGeom prst="roundRect">
            <a:avLst/>
          </a:prstGeom>
          <a:solidFill>
            <a:srgbClr val="0090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TH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Light"/>
                <a:ea typeface="+mn-ea"/>
              </a:rPr>
              <a:t>Data Gathering API (shared)</a:t>
            </a:r>
          </a:p>
        </p:txBody>
      </p:sp>
      <p:sp>
        <p:nvSpPr>
          <p:cNvPr id="1218" name="Rounded Rectangle 17">
            <a:extLst>
              <a:ext uri="{FF2B5EF4-FFF2-40B4-BE49-F238E27FC236}">
                <a16:creationId xmlns:a16="http://schemas.microsoft.com/office/drawing/2014/main" id="{776718FE-F017-C6D3-F8CE-61E29371210D}"/>
              </a:ext>
            </a:extLst>
          </p:cNvPr>
          <p:cNvSpPr/>
          <p:nvPr/>
        </p:nvSpPr>
        <p:spPr>
          <a:xfrm>
            <a:off x="2676150" y="5254690"/>
            <a:ext cx="1702675" cy="5040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</a:rPr>
              <a:t>CVResume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</a:rPr>
              <a:t> evaluation</a:t>
            </a:r>
            <a:endParaRPr kumimoji="0" lang="en-TH" sz="1000" b="0" i="0" u="none" strike="noStrike" kern="1200" cap="none" spc="0" normalizeH="0" baseline="0" noProof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TH" sz="1000" b="0" i="0" u="none" strike="noStrike" kern="1200" cap="none" spc="0" normalizeH="0" baseline="0" noProof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</a:rPr>
              <a:t>API (internal)</a:t>
            </a:r>
          </a:p>
        </p:txBody>
      </p:sp>
      <p:cxnSp>
        <p:nvCxnSpPr>
          <p:cNvPr id="1219" name="Straight Arrow Connector 1218">
            <a:extLst>
              <a:ext uri="{FF2B5EF4-FFF2-40B4-BE49-F238E27FC236}">
                <a16:creationId xmlns:a16="http://schemas.microsoft.com/office/drawing/2014/main" id="{64562E51-34CE-881D-81FD-7B7BF64212D6}"/>
              </a:ext>
            </a:extLst>
          </p:cNvPr>
          <p:cNvCxnSpPr>
            <a:cxnSpLocks/>
            <a:stCxn id="1216" idx="2"/>
            <a:endCxn id="1218" idx="0"/>
          </p:cNvCxnSpPr>
          <p:nvPr/>
        </p:nvCxnSpPr>
        <p:spPr>
          <a:xfrm>
            <a:off x="3527487" y="4755135"/>
            <a:ext cx="1" cy="499555"/>
          </a:xfrm>
          <a:prstGeom prst="straightConnector1">
            <a:avLst/>
          </a:prstGeom>
          <a:ln w="12700">
            <a:solidFill>
              <a:srgbClr val="00905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0" name="Straight Arrow Connector 1219">
            <a:extLst>
              <a:ext uri="{FF2B5EF4-FFF2-40B4-BE49-F238E27FC236}">
                <a16:creationId xmlns:a16="http://schemas.microsoft.com/office/drawing/2014/main" id="{422CD52C-FD5E-72CA-2B50-80DD16C8E333}"/>
              </a:ext>
            </a:extLst>
          </p:cNvPr>
          <p:cNvCxnSpPr>
            <a:cxnSpLocks/>
          </p:cNvCxnSpPr>
          <p:nvPr/>
        </p:nvCxnSpPr>
        <p:spPr>
          <a:xfrm>
            <a:off x="4228260" y="4409638"/>
            <a:ext cx="491534" cy="10734"/>
          </a:xfrm>
          <a:prstGeom prst="straightConnector1">
            <a:avLst/>
          </a:prstGeom>
          <a:ln w="12700">
            <a:solidFill>
              <a:srgbClr val="00905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1" name="Straight Arrow Connector 1220">
            <a:extLst>
              <a:ext uri="{FF2B5EF4-FFF2-40B4-BE49-F238E27FC236}">
                <a16:creationId xmlns:a16="http://schemas.microsoft.com/office/drawing/2014/main" id="{D11C0B4A-EE02-9D3A-6A43-F2BA952B6DBF}"/>
              </a:ext>
            </a:extLst>
          </p:cNvPr>
          <p:cNvCxnSpPr>
            <a:cxnSpLocks/>
            <a:stCxn id="1217" idx="1"/>
            <a:endCxn id="1216" idx="3"/>
          </p:cNvCxnSpPr>
          <p:nvPr/>
        </p:nvCxnSpPr>
        <p:spPr>
          <a:xfrm flipH="1">
            <a:off x="4205404" y="4503135"/>
            <a:ext cx="514390" cy="0"/>
          </a:xfrm>
          <a:prstGeom prst="straightConnector1">
            <a:avLst/>
          </a:prstGeom>
          <a:ln w="12700">
            <a:solidFill>
              <a:srgbClr val="00905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2" name="Rectangle 1221">
            <a:extLst>
              <a:ext uri="{FF2B5EF4-FFF2-40B4-BE49-F238E27FC236}">
                <a16:creationId xmlns:a16="http://schemas.microsoft.com/office/drawing/2014/main" id="{D798E7A0-2BCD-357C-AA35-75D8680A1FC5}"/>
              </a:ext>
            </a:extLst>
          </p:cNvPr>
          <p:cNvSpPr/>
          <p:nvPr/>
        </p:nvSpPr>
        <p:spPr>
          <a:xfrm>
            <a:off x="1405371" y="1254362"/>
            <a:ext cx="992992" cy="926617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rgbClr val="1EBE9B">
                <a:shade val="15000"/>
              </a:srgbClr>
            </a:solidFill>
            <a:prstDash val="sysDot"/>
            <a:miter lim="800000"/>
          </a:ln>
          <a:effectLst/>
        </p:spPr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800" kern="0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Input payload</a:t>
            </a:r>
          </a:p>
          <a:p>
            <a:pPr lvl="0">
              <a:defRPr/>
            </a:pPr>
            <a:r>
              <a:rPr lang="en-US" sz="800" kern="0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</a:t>
            </a:r>
          </a:p>
          <a:p>
            <a:pPr lvl="0">
              <a:defRPr/>
            </a:pPr>
            <a:r>
              <a:rPr lang="en-US" sz="800" kern="0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</a:t>
            </a:r>
            <a:r>
              <a:rPr lang="en-US" sz="800" kern="0" err="1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outputLang</a:t>
            </a:r>
            <a:r>
              <a:rPr lang="en-US" sz="800" kern="0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 "",</a:t>
            </a:r>
          </a:p>
          <a:p>
            <a:pPr lvl="0">
              <a:defRPr/>
            </a:pPr>
            <a:r>
              <a:rPr lang="en-US" sz="800" kern="0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</a:t>
            </a:r>
            <a:r>
              <a:rPr lang="en-US" sz="800" kern="0" err="1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resumeJson</a:t>
            </a:r>
            <a:r>
              <a:rPr lang="en-US" sz="800" kern="0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 {},</a:t>
            </a:r>
          </a:p>
          <a:p>
            <a:pPr lvl="0">
              <a:defRPr/>
            </a:pPr>
            <a:r>
              <a:rPr lang="en-US" sz="800" kern="0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</a:t>
            </a:r>
            <a:r>
              <a:rPr lang="en-US" sz="800" kern="0" err="1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targetRole</a:t>
            </a:r>
            <a:r>
              <a:rPr lang="en-US" sz="800" kern="0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": ""</a:t>
            </a:r>
          </a:p>
          <a:p>
            <a:pPr lvl="0">
              <a:defRPr/>
            </a:pPr>
            <a:r>
              <a:rPr lang="en-US" sz="800" kern="0">
                <a:solidFill>
                  <a:prstClr val="black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  <a:endParaRPr kumimoji="0" lang="en-TH" sz="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1223" name="Rounded Rectangle 47">
            <a:extLst>
              <a:ext uri="{FF2B5EF4-FFF2-40B4-BE49-F238E27FC236}">
                <a16:creationId xmlns:a16="http://schemas.microsoft.com/office/drawing/2014/main" id="{78F0F097-B3D4-236C-8580-7950B0BF70B1}"/>
              </a:ext>
            </a:extLst>
          </p:cNvPr>
          <p:cNvSpPr/>
          <p:nvPr/>
        </p:nvSpPr>
        <p:spPr>
          <a:xfrm>
            <a:off x="7436715" y="3821108"/>
            <a:ext cx="1957932" cy="360000"/>
          </a:xfrm>
          <a:prstGeom prst="roundRect">
            <a:avLst/>
          </a:prstGeom>
          <a:solidFill>
            <a:srgbClr val="46489C"/>
          </a:solidFill>
          <a:ln w="12700" cap="flat" cmpd="sng" algn="ctr">
            <a:solidFill>
              <a:srgbClr val="1EBE9B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Light"/>
                <a:ea typeface="+mn-ea"/>
              </a:rPr>
              <a:t>Role taxonomy table</a:t>
            </a:r>
            <a:endParaRPr kumimoji="0" lang="en-TH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225" name="Rounded Rectangle 49">
            <a:extLst>
              <a:ext uri="{FF2B5EF4-FFF2-40B4-BE49-F238E27FC236}">
                <a16:creationId xmlns:a16="http://schemas.microsoft.com/office/drawing/2014/main" id="{66581DDC-FC26-2A83-1180-332E8AD9C82D}"/>
              </a:ext>
            </a:extLst>
          </p:cNvPr>
          <p:cNvSpPr/>
          <p:nvPr/>
        </p:nvSpPr>
        <p:spPr>
          <a:xfrm>
            <a:off x="7436715" y="4517006"/>
            <a:ext cx="1957932" cy="360000"/>
          </a:xfrm>
          <a:prstGeom prst="roundRect">
            <a:avLst/>
          </a:prstGeom>
          <a:solidFill>
            <a:srgbClr val="46489C"/>
          </a:solidFill>
          <a:ln w="12700" cap="flat" cmpd="sng" algn="ctr">
            <a:solidFill>
              <a:srgbClr val="1EBE9B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Light"/>
                <a:ea typeface="+mn-ea"/>
              </a:rPr>
              <a:t>Skill table</a:t>
            </a:r>
            <a:endParaRPr kumimoji="0" lang="en-TH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228" name="Rounded Rectangle 52">
            <a:extLst>
              <a:ext uri="{FF2B5EF4-FFF2-40B4-BE49-F238E27FC236}">
                <a16:creationId xmlns:a16="http://schemas.microsoft.com/office/drawing/2014/main" id="{80508EC9-A68E-96CF-DDC9-B22EE516D16D}"/>
              </a:ext>
            </a:extLst>
          </p:cNvPr>
          <p:cNvSpPr/>
          <p:nvPr/>
        </p:nvSpPr>
        <p:spPr>
          <a:xfrm>
            <a:off x="7436714" y="4974721"/>
            <a:ext cx="1957933" cy="360000"/>
          </a:xfrm>
          <a:prstGeom prst="roundRect">
            <a:avLst/>
          </a:prstGeom>
          <a:solidFill>
            <a:srgbClr val="46489C"/>
          </a:solidFill>
          <a:ln w="12700" cap="flat" cmpd="sng" algn="ctr">
            <a:solidFill>
              <a:srgbClr val="1EBE9B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Light"/>
                <a:ea typeface="+mn-ea"/>
              </a:rPr>
              <a:t>Education table</a:t>
            </a:r>
            <a:endParaRPr kumimoji="0" lang="en-TH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229" name="Rounded Rectangle 53">
            <a:extLst>
              <a:ext uri="{FF2B5EF4-FFF2-40B4-BE49-F238E27FC236}">
                <a16:creationId xmlns:a16="http://schemas.microsoft.com/office/drawing/2014/main" id="{25588117-E98E-F908-88D5-8DAD1D1956E1}"/>
              </a:ext>
            </a:extLst>
          </p:cNvPr>
          <p:cNvSpPr/>
          <p:nvPr/>
        </p:nvSpPr>
        <p:spPr>
          <a:xfrm>
            <a:off x="7436714" y="5440316"/>
            <a:ext cx="1957931" cy="360000"/>
          </a:xfrm>
          <a:prstGeom prst="roundRect">
            <a:avLst/>
          </a:prstGeom>
          <a:solidFill>
            <a:srgbClr val="46489C"/>
          </a:solidFill>
          <a:ln w="12700" cap="flat" cmpd="sng" algn="ctr">
            <a:solidFill>
              <a:srgbClr val="1EBE9B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Light"/>
                <a:ea typeface="+mn-ea"/>
              </a:rPr>
              <a:t>Experience table</a:t>
            </a:r>
            <a:endParaRPr kumimoji="0" lang="en-TH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cxnSp>
        <p:nvCxnSpPr>
          <p:cNvPr id="1230" name="Elbow Connector 55">
            <a:extLst>
              <a:ext uri="{FF2B5EF4-FFF2-40B4-BE49-F238E27FC236}">
                <a16:creationId xmlns:a16="http://schemas.microsoft.com/office/drawing/2014/main" id="{57F41485-4EAD-A641-3F5A-CC64A023EEC8}"/>
              </a:ext>
            </a:extLst>
          </p:cNvPr>
          <p:cNvCxnSpPr>
            <a:cxnSpLocks/>
            <a:stCxn id="1217" idx="3"/>
            <a:endCxn id="1212" idx="1"/>
          </p:cNvCxnSpPr>
          <p:nvPr/>
        </p:nvCxnSpPr>
        <p:spPr>
          <a:xfrm flipV="1">
            <a:off x="6075628" y="4011723"/>
            <a:ext cx="1266316" cy="491412"/>
          </a:xfrm>
          <a:prstGeom prst="bentConnector3">
            <a:avLst>
              <a:gd name="adj1" fmla="val 27330"/>
            </a:avLst>
          </a:prstGeom>
          <a:ln w="12700">
            <a:solidFill>
              <a:srgbClr val="00905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31" name="TextBox 57">
            <a:extLst>
              <a:ext uri="{FF2B5EF4-FFF2-40B4-BE49-F238E27FC236}">
                <a16:creationId xmlns:a16="http://schemas.microsoft.com/office/drawing/2014/main" id="{D64CEC7C-6487-3254-5048-6193CCAE4172}"/>
              </a:ext>
            </a:extLst>
          </p:cNvPr>
          <p:cNvSpPr txBox="1"/>
          <p:nvPr/>
        </p:nvSpPr>
        <p:spPr>
          <a:xfrm>
            <a:off x="6456532" y="3823997"/>
            <a:ext cx="7715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TH" sz="1000" b="0" i="0" u="none" strike="noStrike" kern="1200" cap="none" spc="0" normalizeH="0" baseline="0" noProof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</a:rPr>
              <a:t>user_id</a:t>
            </a:r>
          </a:p>
        </p:txBody>
      </p:sp>
      <p:cxnSp>
        <p:nvCxnSpPr>
          <p:cNvPr id="1232" name="Elbow Connector 65">
            <a:extLst>
              <a:ext uri="{FF2B5EF4-FFF2-40B4-BE49-F238E27FC236}">
                <a16:creationId xmlns:a16="http://schemas.microsoft.com/office/drawing/2014/main" id="{72A49CDC-DDD2-CEED-3148-12F07A82D013}"/>
              </a:ext>
            </a:extLst>
          </p:cNvPr>
          <p:cNvCxnSpPr>
            <a:cxnSpLocks/>
            <a:stCxn id="1217" idx="3"/>
            <a:endCxn id="1213" idx="1"/>
          </p:cNvCxnSpPr>
          <p:nvPr/>
        </p:nvCxnSpPr>
        <p:spPr>
          <a:xfrm>
            <a:off x="6075628" y="4503135"/>
            <a:ext cx="1266316" cy="681147"/>
          </a:xfrm>
          <a:prstGeom prst="bentConnector3">
            <a:avLst>
              <a:gd name="adj1" fmla="val 26490"/>
            </a:avLst>
          </a:prstGeom>
          <a:ln w="12700">
            <a:solidFill>
              <a:srgbClr val="00905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1" name="Straight Arrow Connector 1240">
            <a:extLst>
              <a:ext uri="{FF2B5EF4-FFF2-40B4-BE49-F238E27FC236}">
                <a16:creationId xmlns:a16="http://schemas.microsoft.com/office/drawing/2014/main" id="{16D177D7-85C8-9EDA-378D-71CBAF83541A}"/>
              </a:ext>
            </a:extLst>
          </p:cNvPr>
          <p:cNvCxnSpPr>
            <a:cxnSpLocks/>
            <a:endCxn id="1216" idx="0"/>
          </p:cNvCxnSpPr>
          <p:nvPr/>
        </p:nvCxnSpPr>
        <p:spPr>
          <a:xfrm>
            <a:off x="3527487" y="3338768"/>
            <a:ext cx="0" cy="912367"/>
          </a:xfrm>
          <a:prstGeom prst="straightConnector1">
            <a:avLst/>
          </a:prstGeom>
          <a:ln w="12700">
            <a:solidFill>
              <a:srgbClr val="00905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3" name="Straight Arrow Connector 1242">
            <a:extLst>
              <a:ext uri="{FF2B5EF4-FFF2-40B4-BE49-F238E27FC236}">
                <a16:creationId xmlns:a16="http://schemas.microsoft.com/office/drawing/2014/main" id="{93068379-6D89-5A4F-D8EC-3FA9F68350E0}"/>
              </a:ext>
            </a:extLst>
          </p:cNvPr>
          <p:cNvCxnSpPr>
            <a:cxnSpLocks/>
          </p:cNvCxnSpPr>
          <p:nvPr/>
        </p:nvCxnSpPr>
        <p:spPr>
          <a:xfrm flipH="1" flipV="1">
            <a:off x="3609321" y="3340009"/>
            <a:ext cx="855" cy="888113"/>
          </a:xfrm>
          <a:prstGeom prst="straightConnector1">
            <a:avLst/>
          </a:prstGeom>
          <a:ln w="12700">
            <a:solidFill>
              <a:srgbClr val="00905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4" name="Straight Arrow Connector 1243">
            <a:extLst>
              <a:ext uri="{FF2B5EF4-FFF2-40B4-BE49-F238E27FC236}">
                <a16:creationId xmlns:a16="http://schemas.microsoft.com/office/drawing/2014/main" id="{B6491945-15AF-76E2-CDD7-96C057C97614}"/>
              </a:ext>
            </a:extLst>
          </p:cNvPr>
          <p:cNvCxnSpPr>
            <a:cxnSpLocks/>
          </p:cNvCxnSpPr>
          <p:nvPr/>
        </p:nvCxnSpPr>
        <p:spPr>
          <a:xfrm flipH="1" flipV="1">
            <a:off x="3592729" y="4778148"/>
            <a:ext cx="10370" cy="476542"/>
          </a:xfrm>
          <a:prstGeom prst="straightConnector1">
            <a:avLst/>
          </a:prstGeom>
          <a:ln w="12700">
            <a:solidFill>
              <a:srgbClr val="00905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0" name="Straight Arrow Connector 1249">
            <a:extLst>
              <a:ext uri="{FF2B5EF4-FFF2-40B4-BE49-F238E27FC236}">
                <a16:creationId xmlns:a16="http://schemas.microsoft.com/office/drawing/2014/main" id="{FF9EC6A5-1F68-B8E8-B3DD-7F211FDACD38}"/>
              </a:ext>
            </a:extLst>
          </p:cNvPr>
          <p:cNvCxnSpPr>
            <a:cxnSpLocks/>
          </p:cNvCxnSpPr>
          <p:nvPr/>
        </p:nvCxnSpPr>
        <p:spPr>
          <a:xfrm>
            <a:off x="2357756" y="5586381"/>
            <a:ext cx="327254" cy="482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1" name="Straight Arrow Connector 1250">
            <a:extLst>
              <a:ext uri="{FF2B5EF4-FFF2-40B4-BE49-F238E27FC236}">
                <a16:creationId xmlns:a16="http://schemas.microsoft.com/office/drawing/2014/main" id="{E304299E-1ADC-AAE6-BBB0-5BFF5A3FA30A}"/>
              </a:ext>
            </a:extLst>
          </p:cNvPr>
          <p:cNvCxnSpPr>
            <a:cxnSpLocks/>
            <a:stCxn id="1218" idx="1"/>
            <a:endCxn id="1271" idx="3"/>
          </p:cNvCxnSpPr>
          <p:nvPr/>
        </p:nvCxnSpPr>
        <p:spPr>
          <a:xfrm flipH="1">
            <a:off x="2364793" y="5506690"/>
            <a:ext cx="311357" cy="1155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253" name="Picture 1252" descr="How to use Cloud Run in Google Cloud | by Suraj Bhattarai | Medium">
            <a:extLst>
              <a:ext uri="{FF2B5EF4-FFF2-40B4-BE49-F238E27FC236}">
                <a16:creationId xmlns:a16="http://schemas.microsoft.com/office/drawing/2014/main" id="{EA6CE03F-C2B9-5222-B3EF-A1FAC965E8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42" r="9584" b="17163"/>
          <a:stretch>
            <a:fillRect/>
          </a:stretch>
        </p:blipFill>
        <p:spPr bwMode="auto">
          <a:xfrm>
            <a:off x="1358256" y="4291541"/>
            <a:ext cx="1095128" cy="39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4" name="Picture 1253" descr="Google Big Query Logo PNG Vector (SVG) Free Download">
            <a:extLst>
              <a:ext uri="{FF2B5EF4-FFF2-40B4-BE49-F238E27FC236}">
                <a16:creationId xmlns:a16="http://schemas.microsoft.com/office/drawing/2014/main" id="{5C6568CC-DFC3-A4C4-06B4-450D81AF95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059" b="30215"/>
          <a:stretch>
            <a:fillRect/>
          </a:stretch>
        </p:blipFill>
        <p:spPr bwMode="auto">
          <a:xfrm>
            <a:off x="9814473" y="4011723"/>
            <a:ext cx="1338460" cy="47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5" name="TextBox 5">
            <a:extLst>
              <a:ext uri="{FF2B5EF4-FFF2-40B4-BE49-F238E27FC236}">
                <a16:creationId xmlns:a16="http://schemas.microsoft.com/office/drawing/2014/main" id="{82F852A5-5442-E7CE-64DD-AF34C38CDBCD}"/>
              </a:ext>
            </a:extLst>
          </p:cNvPr>
          <p:cNvSpPr txBox="1"/>
          <p:nvPr/>
        </p:nvSpPr>
        <p:spPr>
          <a:xfrm>
            <a:off x="9954788" y="4449527"/>
            <a:ext cx="1173984" cy="497912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TH" sz="1000" b="0" i="0" u="none" strike="noStrike" kern="1200" cap="none" spc="0" normalizeH="0" baseline="0" noProof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Data platform: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TH" sz="1000" b="0" i="0" u="none" strike="noStrike" kern="1200" cap="none" spc="0" normalizeH="0" baseline="0" noProof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Gold Layer</a:t>
            </a:r>
          </a:p>
        </p:txBody>
      </p:sp>
      <p:grpSp>
        <p:nvGrpSpPr>
          <p:cNvPr id="1256" name="Group 1255">
            <a:extLst>
              <a:ext uri="{FF2B5EF4-FFF2-40B4-BE49-F238E27FC236}">
                <a16:creationId xmlns:a16="http://schemas.microsoft.com/office/drawing/2014/main" id="{E94B082C-72D1-DD00-0B6B-032F322DC2CB}"/>
              </a:ext>
            </a:extLst>
          </p:cNvPr>
          <p:cNvGrpSpPr/>
          <p:nvPr/>
        </p:nvGrpSpPr>
        <p:grpSpPr>
          <a:xfrm>
            <a:off x="9394644" y="822184"/>
            <a:ext cx="1767464" cy="1700468"/>
            <a:chOff x="301647" y="5530913"/>
            <a:chExt cx="1767464" cy="1700468"/>
          </a:xfrm>
        </p:grpSpPr>
        <p:grpSp>
          <p:nvGrpSpPr>
            <p:cNvPr id="1275" name="Group 1274">
              <a:extLst>
                <a:ext uri="{FF2B5EF4-FFF2-40B4-BE49-F238E27FC236}">
                  <a16:creationId xmlns:a16="http://schemas.microsoft.com/office/drawing/2014/main" id="{EEDFC6A8-40ED-EBB0-8495-5776BB474E32}"/>
                </a:ext>
              </a:extLst>
            </p:cNvPr>
            <p:cNvGrpSpPr/>
            <p:nvPr/>
          </p:nvGrpSpPr>
          <p:grpSpPr>
            <a:xfrm>
              <a:off x="310230" y="5963091"/>
              <a:ext cx="1758881" cy="1268290"/>
              <a:chOff x="10285063" y="608166"/>
              <a:chExt cx="1836714" cy="1268290"/>
            </a:xfrm>
          </p:grpSpPr>
          <p:cxnSp>
            <p:nvCxnSpPr>
              <p:cNvPr id="1277" name="Straight Arrow Connector 1276">
                <a:extLst>
                  <a:ext uri="{FF2B5EF4-FFF2-40B4-BE49-F238E27FC236}">
                    <a16:creationId xmlns:a16="http://schemas.microsoft.com/office/drawing/2014/main" id="{F78398AE-F2BF-694F-7BF0-E41AB374E44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285065" y="1544858"/>
                <a:ext cx="317488" cy="0"/>
              </a:xfrm>
              <a:prstGeom prst="straightConnector1">
                <a:avLst/>
              </a:prstGeom>
              <a:ln w="1270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8" name="Straight Arrow Connector 1277">
                <a:extLst>
                  <a:ext uri="{FF2B5EF4-FFF2-40B4-BE49-F238E27FC236}">
                    <a16:creationId xmlns:a16="http://schemas.microsoft.com/office/drawing/2014/main" id="{E72CA7E8-8A89-7859-18A4-57CDD550CF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85065" y="1767280"/>
                <a:ext cx="317488" cy="0"/>
              </a:xfrm>
              <a:prstGeom prst="straightConnector1">
                <a:avLst/>
              </a:prstGeom>
              <a:ln w="12700">
                <a:solidFill>
                  <a:srgbClr val="009051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9" name="Rounded Rectangle 29">
                <a:extLst>
                  <a:ext uri="{FF2B5EF4-FFF2-40B4-BE49-F238E27FC236}">
                    <a16:creationId xmlns:a16="http://schemas.microsoft.com/office/drawing/2014/main" id="{EE651F8F-AC04-CF09-2A12-2172E6D5B60F}"/>
                  </a:ext>
                </a:extLst>
              </p:cNvPr>
              <p:cNvSpPr/>
              <p:nvPr/>
            </p:nvSpPr>
            <p:spPr>
              <a:xfrm>
                <a:off x="10285065" y="892606"/>
                <a:ext cx="1541315" cy="211431"/>
              </a:xfrm>
              <a:prstGeom prst="roundRect">
                <a:avLst>
                  <a:gd name="adj" fmla="val 1282"/>
                </a:avLst>
              </a:prstGeom>
              <a:solidFill>
                <a:srgbClr val="EE9E5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rebuchet MS" panose="020B0703020202090204" pitchFamily="34" charset="0"/>
                    <a:ea typeface="+mn-ea"/>
                    <a:cs typeface="Sarabun Light"/>
                  </a:rPr>
                  <a:t>Orchestrator and AI main service</a:t>
                </a:r>
                <a:endParaRPr kumimoji="0" lang="en-TH" sz="7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  <p:sp>
            <p:nvSpPr>
              <p:cNvPr id="1280" name="Rounded Rectangle 30">
                <a:extLst>
                  <a:ext uri="{FF2B5EF4-FFF2-40B4-BE49-F238E27FC236}">
                    <a16:creationId xmlns:a16="http://schemas.microsoft.com/office/drawing/2014/main" id="{07BDD983-B40A-2F8F-D03B-77336224A832}"/>
                  </a:ext>
                </a:extLst>
              </p:cNvPr>
              <p:cNvSpPr/>
              <p:nvPr/>
            </p:nvSpPr>
            <p:spPr>
              <a:xfrm>
                <a:off x="10285063" y="1167222"/>
                <a:ext cx="1541315" cy="228150"/>
              </a:xfrm>
              <a:prstGeom prst="roundRect">
                <a:avLst>
                  <a:gd name="adj" fmla="val 1282"/>
                </a:avLst>
              </a:prstGeom>
              <a:solidFill>
                <a:srgbClr val="FF7E7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TH" sz="700" b="0" i="0" u="none" strike="noStrike" kern="1200" cap="none" spc="0" normalizeH="0" baseline="0" noProof="0">
                    <a:ln>
                      <a:noFill/>
                    </a:ln>
                    <a:solidFill>
                      <a:schemeClr val="accent1">
                        <a:lumMod val="10000"/>
                      </a:schemeClr>
                    </a:solidFill>
                    <a:effectLst/>
                    <a:uLnTx/>
                    <a:uFillTx/>
                    <a:latin typeface="Grandview"/>
                    <a:ea typeface="+mn-ea"/>
                    <a:cs typeface="Sarabun Light"/>
                  </a:rPr>
                  <a:t>External Gateway/Firewall</a:t>
                </a:r>
              </a:p>
            </p:txBody>
          </p:sp>
          <p:sp>
            <p:nvSpPr>
              <p:cNvPr id="1281" name="TextBox 37">
                <a:extLst>
                  <a:ext uri="{FF2B5EF4-FFF2-40B4-BE49-F238E27FC236}">
                    <a16:creationId xmlns:a16="http://schemas.microsoft.com/office/drawing/2014/main" id="{4359F383-CAA6-1D0A-AF93-0F8300B7E9D0}"/>
                  </a:ext>
                </a:extLst>
              </p:cNvPr>
              <p:cNvSpPr txBox="1"/>
              <p:nvPr/>
            </p:nvSpPr>
            <p:spPr>
              <a:xfrm>
                <a:off x="10647876" y="1421010"/>
                <a:ext cx="1473361" cy="188348"/>
              </a:xfrm>
              <a:prstGeom prst="rect">
                <a:avLst/>
              </a:prstGeom>
              <a:noFill/>
            </p:spPr>
            <p:txBody>
              <a:bodyPr wrap="square" lIns="36000" tIns="0" rIns="0" bIns="0" rtlCol="0" anchor="ctr">
                <a:spAutoFit/>
              </a:bodyPr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TH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randview"/>
                    <a:ea typeface="+mn-ea"/>
                    <a:cs typeface="Sarabun Light"/>
                  </a:rPr>
                  <a:t>External Connection</a:t>
                </a:r>
              </a:p>
            </p:txBody>
          </p:sp>
          <p:sp>
            <p:nvSpPr>
              <p:cNvPr id="1282" name="TextBox 39">
                <a:extLst>
                  <a:ext uri="{FF2B5EF4-FFF2-40B4-BE49-F238E27FC236}">
                    <a16:creationId xmlns:a16="http://schemas.microsoft.com/office/drawing/2014/main" id="{4B0F1F8A-688D-CA12-D2F9-C4CE047FF737}"/>
                  </a:ext>
                </a:extLst>
              </p:cNvPr>
              <p:cNvSpPr txBox="1"/>
              <p:nvPr/>
            </p:nvSpPr>
            <p:spPr>
              <a:xfrm>
                <a:off x="10648416" y="1688108"/>
                <a:ext cx="1473361" cy="188348"/>
              </a:xfrm>
              <a:prstGeom prst="rect">
                <a:avLst/>
              </a:prstGeom>
              <a:noFill/>
            </p:spPr>
            <p:txBody>
              <a:bodyPr wrap="square" lIns="36000" tIns="0" rIns="0" bIns="0" rtlCol="0" anchor="ctr">
                <a:spAutoFit/>
              </a:bodyPr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TH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randview"/>
                    <a:ea typeface="+mn-ea"/>
                    <a:cs typeface="Sarabun Light"/>
                  </a:rPr>
                  <a:t>Internal Connection</a:t>
                </a:r>
              </a:p>
            </p:txBody>
          </p:sp>
          <p:sp>
            <p:nvSpPr>
              <p:cNvPr id="1283" name="Rounded Rectangle 40">
                <a:extLst>
                  <a:ext uri="{FF2B5EF4-FFF2-40B4-BE49-F238E27FC236}">
                    <a16:creationId xmlns:a16="http://schemas.microsoft.com/office/drawing/2014/main" id="{5E6694B8-BBC7-45FC-5AAE-F96AB8D5345C}"/>
                  </a:ext>
                </a:extLst>
              </p:cNvPr>
              <p:cNvSpPr/>
              <p:nvPr/>
            </p:nvSpPr>
            <p:spPr>
              <a:xfrm>
                <a:off x="10285064" y="608166"/>
                <a:ext cx="1541315" cy="211025"/>
              </a:xfrm>
              <a:prstGeom prst="roundRect">
                <a:avLst>
                  <a:gd name="adj" fmla="val 1282"/>
                </a:avLst>
              </a:prstGeom>
              <a:solidFill>
                <a:srgbClr val="00905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0" bIns="0" rtlCol="0" anchor="ctr"/>
              <a:lstStyle>
                <a:defPPr>
                  <a:defRPr lang="en-TH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randview"/>
                    <a:ea typeface="+mn-ea"/>
                    <a:cs typeface="Sarabun Light"/>
                  </a:rPr>
                  <a:t>Data API Service</a:t>
                </a:r>
                <a:endParaRPr kumimoji="0" lang="en-TH" sz="7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endParaRPr>
              </a:p>
            </p:txBody>
          </p:sp>
        </p:grpSp>
        <p:sp>
          <p:nvSpPr>
            <p:cNvPr id="1276" name="TextBox 12">
              <a:extLst>
                <a:ext uri="{FF2B5EF4-FFF2-40B4-BE49-F238E27FC236}">
                  <a16:creationId xmlns:a16="http://schemas.microsoft.com/office/drawing/2014/main" id="{83B66E98-7A06-A44A-5BD6-291FDA3283B8}"/>
                </a:ext>
              </a:extLst>
            </p:cNvPr>
            <p:cNvSpPr txBox="1"/>
            <p:nvPr/>
          </p:nvSpPr>
          <p:spPr>
            <a:xfrm>
              <a:off x="301647" y="5530913"/>
              <a:ext cx="141092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TH" sz="1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randview"/>
                  <a:ea typeface="+mn-ea"/>
                  <a:cs typeface="Sarabun Light"/>
                </a:rPr>
                <a:t>Legend</a:t>
              </a:r>
            </a:p>
          </p:txBody>
        </p:sp>
      </p:grpSp>
      <p:sp>
        <p:nvSpPr>
          <p:cNvPr id="1257" name="Rectangle 1256">
            <a:extLst>
              <a:ext uri="{FF2B5EF4-FFF2-40B4-BE49-F238E27FC236}">
                <a16:creationId xmlns:a16="http://schemas.microsoft.com/office/drawing/2014/main" id="{70362DB4-D52B-8FCF-4CBD-D8A51F2366D1}"/>
              </a:ext>
            </a:extLst>
          </p:cNvPr>
          <p:cNvSpPr/>
          <p:nvPr/>
        </p:nvSpPr>
        <p:spPr>
          <a:xfrm>
            <a:off x="2872426" y="1513144"/>
            <a:ext cx="1355834" cy="504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TH" sz="1000" b="0" i="0" u="none" strike="noStrike" kern="1200" cap="none" spc="0" normalizeH="0" baseline="0" noProof="0">
                <a:ln>
                  <a:noFill/>
                </a:ln>
                <a:solidFill>
                  <a:srgbClr val="272428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External API Request</a:t>
            </a:r>
          </a:p>
        </p:txBody>
      </p:sp>
      <p:cxnSp>
        <p:nvCxnSpPr>
          <p:cNvPr id="1258" name="Straight Arrow Connector 1257">
            <a:extLst>
              <a:ext uri="{FF2B5EF4-FFF2-40B4-BE49-F238E27FC236}">
                <a16:creationId xmlns:a16="http://schemas.microsoft.com/office/drawing/2014/main" id="{7D27FC60-0D08-B3E2-2A03-DC90045D2BE1}"/>
              </a:ext>
            </a:extLst>
          </p:cNvPr>
          <p:cNvCxnSpPr>
            <a:cxnSpLocks/>
            <a:stCxn id="1257" idx="2"/>
          </p:cNvCxnSpPr>
          <p:nvPr/>
        </p:nvCxnSpPr>
        <p:spPr>
          <a:xfrm>
            <a:off x="3550343" y="2017144"/>
            <a:ext cx="0" cy="267273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59" name="Group 1258">
            <a:extLst>
              <a:ext uri="{FF2B5EF4-FFF2-40B4-BE49-F238E27FC236}">
                <a16:creationId xmlns:a16="http://schemas.microsoft.com/office/drawing/2014/main" id="{3EC4EDF9-5DC4-55C3-40B1-4CD803224880}"/>
              </a:ext>
            </a:extLst>
          </p:cNvPr>
          <p:cNvGrpSpPr/>
          <p:nvPr/>
        </p:nvGrpSpPr>
        <p:grpSpPr>
          <a:xfrm>
            <a:off x="2552629" y="2296387"/>
            <a:ext cx="2249257" cy="1007248"/>
            <a:chOff x="2164946" y="1802498"/>
            <a:chExt cx="1760335" cy="1007248"/>
          </a:xfrm>
        </p:grpSpPr>
        <p:sp>
          <p:nvSpPr>
            <p:cNvPr id="1273" name="Rounded Rectangle 45">
              <a:extLst>
                <a:ext uri="{FF2B5EF4-FFF2-40B4-BE49-F238E27FC236}">
                  <a16:creationId xmlns:a16="http://schemas.microsoft.com/office/drawing/2014/main" id="{E79F8FDE-DE0A-C004-8370-C85D757FFB28}"/>
                </a:ext>
              </a:extLst>
            </p:cNvPr>
            <p:cNvSpPr/>
            <p:nvPr/>
          </p:nvSpPr>
          <p:spPr>
            <a:xfrm>
              <a:off x="2164946" y="1802498"/>
              <a:ext cx="1760335" cy="1007248"/>
            </a:xfrm>
            <a:prstGeom prst="roundRect">
              <a:avLst>
                <a:gd name="adj" fmla="val 1282"/>
              </a:avLst>
            </a:prstGeom>
            <a:solidFill>
              <a:srgbClr val="FF7E79"/>
            </a:solidFill>
            <a:ln w="12700" cap="flat" cmpd="sng" algn="ctr">
              <a:solidFill>
                <a:srgbClr val="FF7E79"/>
              </a:solidFill>
              <a:prstDash val="solid"/>
              <a:miter lim="800000"/>
            </a:ln>
            <a:effectLst/>
          </p:spPr>
          <p:txBody>
            <a:bodyPr rtlCol="0" anchor="t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lumMod val="10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rPr>
                <a:t>Public: API Gateway</a:t>
              </a:r>
              <a:br>
                <a: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lumMod val="10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rPr>
              </a:br>
              <a:r>
                <a: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lumMod val="10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rPr>
                <a:t>Only entry point to orchestrator services.</a:t>
              </a:r>
              <a:br>
                <a:rPr kumimoji="0" lang="en-US" sz="600" b="0" i="0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lumMod val="10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rPr>
              </a:br>
              <a:endParaRPr kumimoji="0" lang="en-TH" sz="900" b="0" i="0" u="none" strike="noStrike" kern="0" cap="none" spc="0" normalizeH="0" baseline="0" noProof="0">
                <a:ln>
                  <a:noFill/>
                </a:ln>
                <a:solidFill>
                  <a:schemeClr val="accent1">
                    <a:lumMod val="10000"/>
                  </a:schemeClr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  <p:sp>
          <p:nvSpPr>
            <p:cNvPr id="1274" name="TextBox 46">
              <a:extLst>
                <a:ext uri="{FF2B5EF4-FFF2-40B4-BE49-F238E27FC236}">
                  <a16:creationId xmlns:a16="http://schemas.microsoft.com/office/drawing/2014/main" id="{C7E0EE39-1D50-19CD-F8DF-4C59EE4390BC}"/>
                </a:ext>
              </a:extLst>
            </p:cNvPr>
            <p:cNvSpPr txBox="1"/>
            <p:nvPr/>
          </p:nvSpPr>
          <p:spPr>
            <a:xfrm>
              <a:off x="2258270" y="2162344"/>
              <a:ext cx="1573685" cy="523220"/>
            </a:xfrm>
            <a:prstGeom prst="rect">
              <a:avLst/>
            </a:prstGeom>
            <a:noFill/>
            <a:ln>
              <a:solidFill>
                <a:srgbClr val="FF7E79"/>
              </a:solidFill>
              <a:prstDash val="dash"/>
            </a:ln>
          </p:spPr>
          <p:txBody>
            <a:bodyPr wrap="square">
              <a:spAutoFit/>
            </a:bodyPr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TH" sz="700" b="0" i="0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lumMod val="10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rPr>
                <a:t>🛡️ </a:t>
              </a:r>
              <a:r>
                <a:rPr kumimoji="0" lang="en-US" sz="700" b="0" i="0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lumMod val="10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rPr>
                <a:t>Firewall Rules (Inbound)</a:t>
              </a:r>
              <a:br>
                <a:rPr kumimoji="0" lang="en-US" sz="700" b="0" i="0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lumMod val="10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rPr>
              </a:br>
              <a:r>
                <a:rPr kumimoji="0" lang="en-US" sz="700" b="0" i="0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lumMod val="10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rPr>
                <a:t>Cloud Armor WAF</a:t>
              </a:r>
              <a:br>
                <a:rPr kumimoji="0" lang="en-US" sz="700" b="0" i="0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lumMod val="10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rPr>
              </a:br>
              <a:r>
                <a:rPr kumimoji="0" lang="en-US" sz="700" b="0" i="0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lumMod val="10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rPr>
                <a:t>IP Allowlist: Configured</a:t>
              </a:r>
              <a:br>
                <a:rPr kumimoji="0" lang="en-US" sz="700" b="0" i="0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lumMod val="10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rPr>
              </a:br>
              <a:r>
                <a:rPr kumimoji="0" lang="en-US" sz="700" b="0" i="0" u="none" strike="noStrike" kern="0" cap="none" spc="0" normalizeH="0" baseline="0" noProof="0">
                  <a:ln>
                    <a:noFill/>
                  </a:ln>
                  <a:solidFill>
                    <a:schemeClr val="accent1">
                      <a:lumMod val="10000"/>
                    </a:schemeClr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rPr>
                <a:t>DDoS Protection: Enabled (Rate Limited)</a:t>
              </a:r>
              <a:endParaRPr kumimoji="0" lang="en-TH" sz="700" b="0" i="0" u="none" strike="noStrike" kern="0" cap="none" spc="0" normalizeH="0" baseline="0" noProof="0">
                <a:ln>
                  <a:noFill/>
                </a:ln>
                <a:solidFill>
                  <a:schemeClr val="accent1">
                    <a:lumMod val="10000"/>
                  </a:schemeClr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endParaRPr>
            </a:p>
          </p:txBody>
        </p:sp>
      </p:grpSp>
      <p:cxnSp>
        <p:nvCxnSpPr>
          <p:cNvPr id="1260" name="Straight Arrow Connector 1259">
            <a:extLst>
              <a:ext uri="{FF2B5EF4-FFF2-40B4-BE49-F238E27FC236}">
                <a16:creationId xmlns:a16="http://schemas.microsoft.com/office/drawing/2014/main" id="{1E30013F-9765-0BF7-5E21-F77740CCC568}"/>
              </a:ext>
            </a:extLst>
          </p:cNvPr>
          <p:cNvCxnSpPr>
            <a:cxnSpLocks/>
          </p:cNvCxnSpPr>
          <p:nvPr/>
        </p:nvCxnSpPr>
        <p:spPr>
          <a:xfrm flipV="1">
            <a:off x="3633144" y="2013942"/>
            <a:ext cx="0" cy="270475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61" name="Rectangle 1260">
            <a:extLst>
              <a:ext uri="{FF2B5EF4-FFF2-40B4-BE49-F238E27FC236}">
                <a16:creationId xmlns:a16="http://schemas.microsoft.com/office/drawing/2014/main" id="{E1D91C9B-7D71-48CF-53EC-41DB2FD8EC90}"/>
              </a:ext>
            </a:extLst>
          </p:cNvPr>
          <p:cNvSpPr/>
          <p:nvPr/>
        </p:nvSpPr>
        <p:spPr>
          <a:xfrm>
            <a:off x="4916918" y="2580317"/>
            <a:ext cx="1394311" cy="92661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000" b="0" i="0" u="none" strike="noStrike" kern="1200" cap="none" spc="0" normalizeH="0" baseline="0" noProof="0">
              <a:ln>
                <a:noFill/>
              </a:ln>
              <a:solidFill>
                <a:srgbClr val="272428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1262" name="Rounded Rectangle 74">
            <a:extLst>
              <a:ext uri="{FF2B5EF4-FFF2-40B4-BE49-F238E27FC236}">
                <a16:creationId xmlns:a16="http://schemas.microsoft.com/office/drawing/2014/main" id="{FE8D2C62-266C-596E-BDD1-C86B0BDE94E7}"/>
              </a:ext>
            </a:extLst>
          </p:cNvPr>
          <p:cNvSpPr/>
          <p:nvPr/>
        </p:nvSpPr>
        <p:spPr>
          <a:xfrm>
            <a:off x="7341944" y="2725895"/>
            <a:ext cx="2125367" cy="564140"/>
          </a:xfrm>
          <a:prstGeom prst="roundRect">
            <a:avLst>
              <a:gd name="adj" fmla="val 3867"/>
            </a:avLst>
          </a:prstGeom>
          <a:solidFill>
            <a:srgbClr val="A3A3C1">
              <a:lumMod val="20000"/>
              <a:lumOff val="80000"/>
            </a:srgbClr>
          </a:solidFill>
          <a:ln w="12700" cap="flat" cmpd="sng" algn="ctr">
            <a:solidFill>
              <a:srgbClr val="1EBE9B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TH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sp>
        <p:nvSpPr>
          <p:cNvPr id="1263" name="Rounded Rectangle 75">
            <a:extLst>
              <a:ext uri="{FF2B5EF4-FFF2-40B4-BE49-F238E27FC236}">
                <a16:creationId xmlns:a16="http://schemas.microsoft.com/office/drawing/2014/main" id="{9FA39F9A-5C2B-A24E-71B9-837C49E146B4}"/>
              </a:ext>
            </a:extLst>
          </p:cNvPr>
          <p:cNvSpPr/>
          <p:nvPr/>
        </p:nvSpPr>
        <p:spPr>
          <a:xfrm>
            <a:off x="7440277" y="2809425"/>
            <a:ext cx="1954367" cy="395304"/>
          </a:xfrm>
          <a:prstGeom prst="roundRect">
            <a:avLst/>
          </a:prstGeom>
          <a:solidFill>
            <a:schemeClr val="tx2">
              <a:lumMod val="10000"/>
            </a:schemeClr>
          </a:solidFill>
          <a:ln w="12700" cap="flat" cmpd="sng" algn="ctr">
            <a:solidFill>
              <a:srgbClr val="1EBE9B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Master Logging table</a:t>
            </a:r>
            <a:endParaRPr kumimoji="0" lang="en-TH" sz="1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 Light"/>
              <a:ea typeface="+mn-ea"/>
              <a:cs typeface="Sarabun Light"/>
            </a:endParaRPr>
          </a:p>
        </p:txBody>
      </p:sp>
      <p:grpSp>
        <p:nvGrpSpPr>
          <p:cNvPr id="1264" name="Group 1263">
            <a:extLst>
              <a:ext uri="{FF2B5EF4-FFF2-40B4-BE49-F238E27FC236}">
                <a16:creationId xmlns:a16="http://schemas.microsoft.com/office/drawing/2014/main" id="{488E180D-F7B7-1926-74F2-E3266A8DA7AD}"/>
              </a:ext>
            </a:extLst>
          </p:cNvPr>
          <p:cNvGrpSpPr/>
          <p:nvPr/>
        </p:nvGrpSpPr>
        <p:grpSpPr>
          <a:xfrm>
            <a:off x="799232" y="5044536"/>
            <a:ext cx="1565561" cy="926617"/>
            <a:chOff x="-497896" y="3868507"/>
            <a:chExt cx="1641929" cy="1120667"/>
          </a:xfrm>
        </p:grpSpPr>
        <p:sp>
          <p:nvSpPr>
            <p:cNvPr id="1271" name="Rounded Rectangle 77">
              <a:extLst>
                <a:ext uri="{FF2B5EF4-FFF2-40B4-BE49-F238E27FC236}">
                  <a16:creationId xmlns:a16="http://schemas.microsoft.com/office/drawing/2014/main" id="{4505F9B4-4FB6-482F-AE5F-DFB5B1DF5C72}"/>
                </a:ext>
              </a:extLst>
            </p:cNvPr>
            <p:cNvSpPr/>
            <p:nvPr/>
          </p:nvSpPr>
          <p:spPr>
            <a:xfrm>
              <a:off x="-497896" y="3868507"/>
              <a:ext cx="1641929" cy="1120667"/>
            </a:xfrm>
            <a:prstGeom prst="roundRect">
              <a:avLst>
                <a:gd name="adj" fmla="val 1282"/>
              </a:avLst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TH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TH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oppins Light"/>
                  <a:ea typeface="+mn-ea"/>
                  <a:cs typeface="Sarabun Light"/>
                </a:rPr>
                <a:t>LLM Model</a:t>
              </a:r>
            </a:p>
          </p:txBody>
        </p:sp>
        <p:pic>
          <p:nvPicPr>
            <p:cNvPr id="1272" name="Picture 1271" descr="Gemini 2.5 Pro API by GoogleI | AI/ML API">
              <a:extLst>
                <a:ext uri="{FF2B5EF4-FFF2-40B4-BE49-F238E27FC236}">
                  <a16:creationId xmlns:a16="http://schemas.microsoft.com/office/drawing/2014/main" id="{6A2373D9-023E-5AA3-6C88-0555009A4C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80097" y="4172174"/>
              <a:ext cx="1202611" cy="6104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65" name="Rectangle 1264">
            <a:extLst>
              <a:ext uri="{FF2B5EF4-FFF2-40B4-BE49-F238E27FC236}">
                <a16:creationId xmlns:a16="http://schemas.microsoft.com/office/drawing/2014/main" id="{6B39AB22-D2BB-B396-E343-BF201A768C8F}"/>
              </a:ext>
            </a:extLst>
          </p:cNvPr>
          <p:cNvSpPr/>
          <p:nvPr/>
        </p:nvSpPr>
        <p:spPr>
          <a:xfrm>
            <a:off x="5062258" y="2760866"/>
            <a:ext cx="1109384" cy="47613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rgbClr val="1EBE9B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TH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Logging via</a:t>
            </a:r>
            <a:br>
              <a:rPr kumimoji="0" lang="en-TH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</a:br>
            <a:r>
              <a:rPr kumimoji="0" lang="en-TH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Cloud Logging</a:t>
            </a:r>
          </a:p>
        </p:txBody>
      </p:sp>
      <p:cxnSp>
        <p:nvCxnSpPr>
          <p:cNvPr id="1266" name="Straight Arrow Connector 1265">
            <a:extLst>
              <a:ext uri="{FF2B5EF4-FFF2-40B4-BE49-F238E27FC236}">
                <a16:creationId xmlns:a16="http://schemas.microsoft.com/office/drawing/2014/main" id="{7E936DAA-1FE3-12E6-2B7A-F74397710787}"/>
              </a:ext>
            </a:extLst>
          </p:cNvPr>
          <p:cNvCxnSpPr>
            <a:cxnSpLocks/>
            <a:stCxn id="1265" idx="3"/>
            <a:endCxn id="1262" idx="1"/>
          </p:cNvCxnSpPr>
          <p:nvPr/>
        </p:nvCxnSpPr>
        <p:spPr>
          <a:xfrm>
            <a:off x="6171642" y="2998934"/>
            <a:ext cx="1170302" cy="9031"/>
          </a:xfrm>
          <a:prstGeom prst="straightConnector1">
            <a:avLst/>
          </a:prstGeom>
          <a:ln w="12700">
            <a:solidFill>
              <a:srgbClr val="00905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67" name="TextBox 84">
            <a:extLst>
              <a:ext uri="{FF2B5EF4-FFF2-40B4-BE49-F238E27FC236}">
                <a16:creationId xmlns:a16="http://schemas.microsoft.com/office/drawing/2014/main" id="{B3DB9F80-578D-BD24-FB5B-B1619DCC7637}"/>
              </a:ext>
            </a:extLst>
          </p:cNvPr>
          <p:cNvSpPr txBox="1"/>
          <p:nvPr/>
        </p:nvSpPr>
        <p:spPr>
          <a:xfrm>
            <a:off x="6291838" y="2753713"/>
            <a:ext cx="10287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 Light"/>
                <a:ea typeface="+mn-ea"/>
                <a:cs typeface="Sarabun Light"/>
              </a:rPr>
              <a:t>GCP Log Sink</a:t>
            </a:r>
          </a:p>
        </p:txBody>
      </p:sp>
      <p:pic>
        <p:nvPicPr>
          <p:cNvPr id="1268" name="Picture 1267" descr="Google Cloud Monitoring and Logging: Unlocking Cloud Operational Insights -  AVANGELS">
            <a:extLst>
              <a:ext uri="{FF2B5EF4-FFF2-40B4-BE49-F238E27FC236}">
                <a16:creationId xmlns:a16="http://schemas.microsoft.com/office/drawing/2014/main" id="{159CE49C-7237-F03F-83E3-C6789CC27A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13" b="26801"/>
          <a:stretch>
            <a:fillRect/>
          </a:stretch>
        </p:blipFill>
        <p:spPr bwMode="auto">
          <a:xfrm>
            <a:off x="5518999" y="3253266"/>
            <a:ext cx="757336" cy="221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70" name="Straight Arrow Connector 1269">
            <a:extLst>
              <a:ext uri="{FF2B5EF4-FFF2-40B4-BE49-F238E27FC236}">
                <a16:creationId xmlns:a16="http://schemas.microsoft.com/office/drawing/2014/main" id="{F587D055-5637-1B51-0DE6-BBED91C79A2E}"/>
              </a:ext>
            </a:extLst>
          </p:cNvPr>
          <p:cNvCxnSpPr>
            <a:cxnSpLocks/>
          </p:cNvCxnSpPr>
          <p:nvPr/>
        </p:nvCxnSpPr>
        <p:spPr>
          <a:xfrm flipV="1">
            <a:off x="3926480" y="3346833"/>
            <a:ext cx="1135778" cy="85426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86" name="TextBox 1285">
            <a:extLst>
              <a:ext uri="{FF2B5EF4-FFF2-40B4-BE49-F238E27FC236}">
                <a16:creationId xmlns:a16="http://schemas.microsoft.com/office/drawing/2014/main" id="{0BA073CF-2A99-A08E-BB9A-33152A6A2D26}"/>
              </a:ext>
            </a:extLst>
          </p:cNvPr>
          <p:cNvSpPr txBox="1"/>
          <p:nvPr/>
        </p:nvSpPr>
        <p:spPr>
          <a:xfrm>
            <a:off x="4357484" y="3816710"/>
            <a:ext cx="449219" cy="215059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6-2</a:t>
            </a:r>
          </a:p>
        </p:txBody>
      </p:sp>
      <p:sp>
        <p:nvSpPr>
          <p:cNvPr id="1287" name="TextBox 1286">
            <a:extLst>
              <a:ext uri="{FF2B5EF4-FFF2-40B4-BE49-F238E27FC236}">
                <a16:creationId xmlns:a16="http://schemas.microsoft.com/office/drawing/2014/main" id="{0C5F5500-BD5B-FB7A-93E9-807AC911675B}"/>
              </a:ext>
            </a:extLst>
          </p:cNvPr>
          <p:cNvSpPr txBox="1"/>
          <p:nvPr/>
        </p:nvSpPr>
        <p:spPr>
          <a:xfrm>
            <a:off x="3316004" y="3679008"/>
            <a:ext cx="190746" cy="215059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88" name="TextBox 1287">
            <a:extLst>
              <a:ext uri="{FF2B5EF4-FFF2-40B4-BE49-F238E27FC236}">
                <a16:creationId xmlns:a16="http://schemas.microsoft.com/office/drawing/2014/main" id="{767249D3-A39E-6D1F-DE0D-A6A13F8E871E}"/>
              </a:ext>
            </a:extLst>
          </p:cNvPr>
          <p:cNvSpPr txBox="1"/>
          <p:nvPr/>
        </p:nvSpPr>
        <p:spPr>
          <a:xfrm>
            <a:off x="3359597" y="2040157"/>
            <a:ext cx="190746" cy="215059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289" name="TextBox 1288">
            <a:extLst>
              <a:ext uri="{FF2B5EF4-FFF2-40B4-BE49-F238E27FC236}">
                <a16:creationId xmlns:a16="http://schemas.microsoft.com/office/drawing/2014/main" id="{1567F178-AD6C-C1D8-7C99-9344491F696B}"/>
              </a:ext>
            </a:extLst>
          </p:cNvPr>
          <p:cNvSpPr txBox="1"/>
          <p:nvPr/>
        </p:nvSpPr>
        <p:spPr>
          <a:xfrm>
            <a:off x="4357484" y="4205316"/>
            <a:ext cx="190746" cy="215059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93" name="TextBox 1292">
            <a:extLst>
              <a:ext uri="{FF2B5EF4-FFF2-40B4-BE49-F238E27FC236}">
                <a16:creationId xmlns:a16="http://schemas.microsoft.com/office/drawing/2014/main" id="{974C9A1A-A827-13BD-79E4-E4795EE40D44}"/>
              </a:ext>
            </a:extLst>
          </p:cNvPr>
          <p:cNvSpPr txBox="1"/>
          <p:nvPr/>
        </p:nvSpPr>
        <p:spPr>
          <a:xfrm>
            <a:off x="4357484" y="4499385"/>
            <a:ext cx="190746" cy="215059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3</a:t>
            </a:r>
          </a:p>
        </p:txBody>
      </p:sp>
      <p:pic>
        <p:nvPicPr>
          <p:cNvPr id="1295" name="Picture 1294" descr="How to use Cloud Run in Google Cloud | by Suraj Bhattarai | Medium">
            <a:extLst>
              <a:ext uri="{FF2B5EF4-FFF2-40B4-BE49-F238E27FC236}">
                <a16:creationId xmlns:a16="http://schemas.microsoft.com/office/drawing/2014/main" id="{61A69969-4085-C7E2-2A89-6FB1F25DD2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42" r="9584" b="17163"/>
          <a:stretch>
            <a:fillRect/>
          </a:stretch>
        </p:blipFill>
        <p:spPr bwMode="auto">
          <a:xfrm>
            <a:off x="4452776" y="5296868"/>
            <a:ext cx="1095128" cy="39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6" name="TextBox 1295">
            <a:extLst>
              <a:ext uri="{FF2B5EF4-FFF2-40B4-BE49-F238E27FC236}">
                <a16:creationId xmlns:a16="http://schemas.microsoft.com/office/drawing/2014/main" id="{E4312D46-1AD1-5F4F-58F8-F3D3C91AED1F}"/>
              </a:ext>
            </a:extLst>
          </p:cNvPr>
          <p:cNvSpPr txBox="1"/>
          <p:nvPr/>
        </p:nvSpPr>
        <p:spPr>
          <a:xfrm>
            <a:off x="3612177" y="4931973"/>
            <a:ext cx="190746" cy="215059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97" name="TextBox 1296">
            <a:extLst>
              <a:ext uri="{FF2B5EF4-FFF2-40B4-BE49-F238E27FC236}">
                <a16:creationId xmlns:a16="http://schemas.microsoft.com/office/drawing/2014/main" id="{874743C4-C1EE-283C-5EA5-52A0D16DEC0D}"/>
              </a:ext>
            </a:extLst>
          </p:cNvPr>
          <p:cNvSpPr txBox="1"/>
          <p:nvPr/>
        </p:nvSpPr>
        <p:spPr>
          <a:xfrm>
            <a:off x="3319687" y="4933976"/>
            <a:ext cx="190746" cy="215059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98" name="TextBox 1297">
            <a:extLst>
              <a:ext uri="{FF2B5EF4-FFF2-40B4-BE49-F238E27FC236}">
                <a16:creationId xmlns:a16="http://schemas.microsoft.com/office/drawing/2014/main" id="{77376F61-B308-4E9C-0C2A-E326878B7517}"/>
              </a:ext>
            </a:extLst>
          </p:cNvPr>
          <p:cNvSpPr txBox="1"/>
          <p:nvPr/>
        </p:nvSpPr>
        <p:spPr>
          <a:xfrm>
            <a:off x="3584953" y="3695660"/>
            <a:ext cx="449219" cy="215059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6-1</a:t>
            </a:r>
          </a:p>
        </p:txBody>
      </p:sp>
      <p:sp>
        <p:nvSpPr>
          <p:cNvPr id="1299" name="TextBox 1298">
            <a:extLst>
              <a:ext uri="{FF2B5EF4-FFF2-40B4-BE49-F238E27FC236}">
                <a16:creationId xmlns:a16="http://schemas.microsoft.com/office/drawing/2014/main" id="{4939F2CA-A2A6-61DB-7977-B7919105DC6C}"/>
              </a:ext>
            </a:extLst>
          </p:cNvPr>
          <p:cNvSpPr txBox="1"/>
          <p:nvPr/>
        </p:nvSpPr>
        <p:spPr>
          <a:xfrm>
            <a:off x="3649904" y="2049148"/>
            <a:ext cx="190746" cy="215059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300" name="Rectangle 1299">
            <a:extLst>
              <a:ext uri="{FF2B5EF4-FFF2-40B4-BE49-F238E27FC236}">
                <a16:creationId xmlns:a16="http://schemas.microsoft.com/office/drawing/2014/main" id="{3452E6A9-548F-7DB8-5951-BB25E2C11066}"/>
              </a:ext>
            </a:extLst>
          </p:cNvPr>
          <p:cNvSpPr/>
          <p:nvPr/>
        </p:nvSpPr>
        <p:spPr>
          <a:xfrm>
            <a:off x="4879725" y="767904"/>
            <a:ext cx="2948471" cy="1598732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rgbClr val="1EBE9B">
                <a:shade val="15000"/>
              </a:srgbClr>
            </a:solidFill>
            <a:prstDash val="sysDot"/>
            <a:miter lim="800000"/>
          </a:ln>
          <a:effectLst/>
        </p:spPr>
        <p:txBody>
          <a:bodyPr rtlCol="0" anchor="ctr"/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>
                <a:solidFill>
                  <a:schemeClr val="bg1"/>
                </a:solidFill>
                <a:ea typeface="+mn-lt"/>
                <a:cs typeface="+mn-lt"/>
              </a:rPr>
              <a:t>Output</a:t>
            </a:r>
          </a:p>
          <a:p>
            <a:r>
              <a:rPr lang="en-US" sz="700">
                <a:solidFill>
                  <a:schemeClr val="bg1"/>
                </a:solidFill>
                <a:ea typeface="+mn-lt"/>
                <a:cs typeface="+mn-lt"/>
              </a:rPr>
              <a:t>{</a:t>
            </a:r>
          </a:p>
          <a:p>
            <a:r>
              <a:rPr lang="en-US" sz="700">
                <a:solidFill>
                  <a:schemeClr val="bg1"/>
                </a:solidFill>
                <a:ea typeface="+mn-lt"/>
                <a:cs typeface="+mn-lt"/>
              </a:rPr>
              <a:t>    "</a:t>
            </a:r>
            <a:r>
              <a:rPr lang="en-US" sz="700" err="1">
                <a:solidFill>
                  <a:schemeClr val="bg1"/>
                </a:solidFill>
                <a:ea typeface="+mn-lt"/>
                <a:cs typeface="+mn-lt"/>
              </a:rPr>
              <a:t>status":"success</a:t>
            </a:r>
            <a:r>
              <a:rPr lang="en-US" sz="700">
                <a:solidFill>
                  <a:schemeClr val="bg1"/>
                </a:solidFill>
                <a:ea typeface="+mn-lt"/>
                <a:cs typeface="+mn-lt"/>
              </a:rPr>
              <a:t>",</a:t>
            </a:r>
          </a:p>
          <a:p>
            <a:r>
              <a:rPr lang="en-US" sz="700">
                <a:solidFill>
                  <a:schemeClr val="bg1"/>
                </a:solidFill>
                <a:ea typeface="+mn-lt"/>
                <a:cs typeface="+mn-lt"/>
              </a:rPr>
              <a:t>    "data":{</a:t>
            </a:r>
          </a:p>
          <a:p>
            <a:r>
              <a:rPr lang="en-US" sz="700">
                <a:solidFill>
                  <a:schemeClr val="bg1"/>
                </a:solidFill>
                <a:ea typeface="+mn-lt"/>
                <a:cs typeface="+mn-lt"/>
              </a:rPr>
              <a:t>        "conclusion":{},</a:t>
            </a:r>
            <a:endParaRPr lang="en-US" sz="700">
              <a:solidFill>
                <a:schemeClr val="bg1"/>
              </a:solidFill>
            </a:endParaRPr>
          </a:p>
          <a:p>
            <a:r>
              <a:rPr lang="en-US" sz="700">
                <a:solidFill>
                  <a:schemeClr val="bg1"/>
                </a:solidFill>
                <a:ea typeface="+mn-lt"/>
                <a:cs typeface="+mn-lt"/>
              </a:rPr>
              <a:t>        "</a:t>
            </a:r>
            <a:r>
              <a:rPr lang="en-US" sz="700" err="1">
                <a:solidFill>
                  <a:schemeClr val="bg1"/>
                </a:solidFill>
                <a:ea typeface="+mn-lt"/>
                <a:cs typeface="+mn-lt"/>
              </a:rPr>
              <a:t>sectionDetail</a:t>
            </a:r>
            <a:r>
              <a:rPr lang="en-US" sz="700">
                <a:solidFill>
                  <a:schemeClr val="bg1"/>
                </a:solidFill>
                <a:ea typeface="+mn-lt"/>
                <a:cs typeface="+mn-lt"/>
              </a:rPr>
              <a:t>":{},</a:t>
            </a:r>
            <a:endParaRPr lang="en-US" sz="700">
              <a:solidFill>
                <a:schemeClr val="bg1"/>
              </a:solidFill>
            </a:endParaRPr>
          </a:p>
          <a:p>
            <a:r>
              <a:rPr lang="en-US" sz="700">
                <a:solidFill>
                  <a:schemeClr val="bg1"/>
                </a:solidFill>
                <a:ea typeface="+mn-lt"/>
                <a:cs typeface="+mn-lt"/>
              </a:rPr>
              <a:t>    },</a:t>
            </a:r>
          </a:p>
          <a:p>
            <a:r>
              <a:rPr lang="en-US" sz="700">
                <a:solidFill>
                  <a:schemeClr val="bg1"/>
                </a:solidFill>
                <a:ea typeface="+mn-lt"/>
                <a:cs typeface="+mn-lt"/>
              </a:rPr>
              <a:t>    "correlationId":"corr_ec0707b9b0e04b91a5cc81c8725db5a6",</a:t>
            </a:r>
          </a:p>
          <a:p>
            <a:r>
              <a:rPr lang="en-US" sz="700">
                <a:solidFill>
                  <a:schemeClr val="bg1"/>
                </a:solidFill>
                <a:ea typeface="+mn-lt"/>
                <a:cs typeface="+mn-lt"/>
              </a:rPr>
              <a:t>    "metadata":{</a:t>
            </a:r>
          </a:p>
          <a:p>
            <a:r>
              <a:rPr lang="en-US" sz="700">
                <a:solidFill>
                  <a:schemeClr val="bg1"/>
                </a:solidFill>
                <a:ea typeface="+mn-lt"/>
                <a:cs typeface="+mn-lt"/>
              </a:rPr>
              <a:t>        "modelName":"gemini-2.5-flash",</a:t>
            </a:r>
          </a:p>
          <a:p>
            <a:r>
              <a:rPr lang="en-US" sz="700">
                <a:solidFill>
                  <a:schemeClr val="bg1"/>
                </a:solidFill>
                <a:ea typeface="+mn-lt"/>
                <a:cs typeface="+mn-lt"/>
              </a:rPr>
              <a:t>        "timestamp":"2026-01-18 23:49:24.235242+07:00",</a:t>
            </a:r>
          </a:p>
          <a:p>
            <a:r>
              <a:rPr lang="en-US" sz="700">
                <a:solidFill>
                  <a:schemeClr val="bg1"/>
                </a:solidFill>
                <a:ea typeface="+mn-lt"/>
                <a:cs typeface="+mn-lt"/>
              </a:rPr>
              <a:t>        "weightsVersion":"weights_v1",</a:t>
            </a:r>
          </a:p>
          <a:p>
            <a:r>
              <a:rPr lang="en-US" sz="700">
                <a:solidFill>
                  <a:schemeClr val="bg1"/>
                </a:solidFill>
                <a:ea typeface="+mn-lt"/>
                <a:cs typeface="+mn-lt"/>
              </a:rPr>
              <a:t>        "</a:t>
            </a:r>
            <a:r>
              <a:rPr lang="en-US" sz="700" err="1">
                <a:solidFill>
                  <a:schemeClr val="bg1"/>
                </a:solidFill>
                <a:ea typeface="+mn-lt"/>
                <a:cs typeface="+mn-lt"/>
              </a:rPr>
              <a:t>promptVersion</a:t>
            </a:r>
            <a:r>
              <a:rPr lang="en-US" sz="700">
                <a:solidFill>
                  <a:schemeClr val="bg1"/>
                </a:solidFill>
                <a:ea typeface="+mn-lt"/>
                <a:cs typeface="+mn-lt"/>
              </a:rPr>
              <a:t>": "prompt_v2"</a:t>
            </a:r>
          </a:p>
          <a:p>
            <a:r>
              <a:rPr lang="en-US" sz="700">
                <a:solidFill>
                  <a:schemeClr val="bg1"/>
                </a:solidFill>
                <a:ea typeface="+mn-lt"/>
                <a:cs typeface="+mn-lt"/>
              </a:rPr>
              <a:t>    }</a:t>
            </a:r>
          </a:p>
          <a:p>
            <a:r>
              <a:rPr lang="en-US" sz="700">
                <a:solidFill>
                  <a:schemeClr val="bg1"/>
                </a:solidFill>
                <a:ea typeface="+mn-lt"/>
                <a:cs typeface="+mn-lt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1799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5A964-EBEE-35ED-84B2-F7D6A03B5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08D072A-FC19-E69F-7592-03DF9367E42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08D072A-FC19-E69F-7592-03DF9367E4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ED8DD14B-01AE-EF90-5214-AEDE6D9FF242}"/>
              </a:ext>
            </a:extLst>
          </p:cNvPr>
          <p:cNvSpPr/>
          <p:nvPr/>
        </p:nvSpPr>
        <p:spPr>
          <a:xfrm>
            <a:off x="420339" y="2005274"/>
            <a:ext cx="3516769" cy="45045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5E95D0C-A26F-B4D2-79CF-5160DC214066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Test Case 1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401E3A-17F6-0E87-1EC8-BCC049B97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339" y="2245803"/>
            <a:ext cx="3516769" cy="401093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{</a:t>
            </a:r>
          </a:p>
          <a:p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100" err="1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outputLang</a:t>
            </a:r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":"</a:t>
            </a:r>
            <a:r>
              <a:rPr lang="en-US" sz="1100" err="1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en</a:t>
            </a:r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",</a:t>
            </a:r>
            <a:endParaRPr lang="en-US" sz="1100">
              <a:cs typeface="Poppins Light"/>
            </a:endParaRPr>
          </a:p>
          <a:p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100" err="1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resumeJson</a:t>
            </a:r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":{</a:t>
            </a:r>
          </a:p>
          <a:p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        "profile":{</a:t>
            </a:r>
          </a:p>
          <a:p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            "</a:t>
            </a:r>
            <a:r>
              <a:rPr lang="en-US" sz="1100" err="1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title":"AI</a:t>
            </a:r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 Engineer",</a:t>
            </a:r>
          </a:p>
          <a:p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            "yearsExperience":6</a:t>
            </a:r>
            <a:br>
              <a:rPr lang="en-US"/>
            </a:br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        },</a:t>
            </a:r>
          </a:p>
          <a:p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        "skills":{</a:t>
            </a:r>
          </a:p>
          <a:p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            "skills":[</a:t>
            </a:r>
            <a:b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</a:br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                "</a:t>
            </a:r>
            <a:r>
              <a:rPr lang="en-US" sz="1100" err="1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Python","LLMs","GCP</a:t>
            </a:r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"</a:t>
            </a:r>
          </a:p>
          <a:p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            ]</a:t>
            </a:r>
          </a:p>
          <a:p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        },</a:t>
            </a:r>
          </a:p>
          <a:p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        "summary":[</a:t>
            </a:r>
          </a:p>
          <a:p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            "AI/ML engineer with experience in production systems."</a:t>
            </a:r>
          </a:p>
          <a:p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        ]</a:t>
            </a:r>
          </a:p>
          <a:p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    },</a:t>
            </a:r>
          </a:p>
          <a:p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    "</a:t>
            </a:r>
            <a:r>
              <a:rPr lang="en-US" sz="1100" err="1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targetRole</a:t>
            </a:r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":"</a:t>
            </a:r>
            <a:r>
              <a:rPr lang="en-US" sz="1100" err="1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role#ai_engineer</a:t>
            </a:r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"</a:t>
            </a:r>
          </a:p>
          <a:p>
            <a:r>
              <a:rPr lang="en-US" sz="1100">
                <a:solidFill>
                  <a:srgbClr val="272428"/>
                </a:solidFill>
                <a:latin typeface="Poppins Light"/>
                <a:ea typeface="+mn-lt"/>
                <a:cs typeface="+mn-lt"/>
              </a:rPr>
              <a:t>}</a:t>
            </a:r>
            <a:endParaRPr lang="en-US" sz="1100">
              <a:solidFill>
                <a:srgbClr val="272428"/>
              </a:solidFill>
              <a:latin typeface="Poppins Ligh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3EAA2FE-9B8D-96AA-2E0A-706E33A1D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893610"/>
              </p:ext>
            </p:extLst>
          </p:nvPr>
        </p:nvGraphicFramePr>
        <p:xfrm>
          <a:off x="4066788" y="2005274"/>
          <a:ext cx="7704872" cy="39745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43075">
                  <a:extLst>
                    <a:ext uri="{9D8B030D-6E8A-4147-A177-3AD203B41FA5}">
                      <a16:colId xmlns:a16="http://schemas.microsoft.com/office/drawing/2014/main" val="2615654620"/>
                    </a:ext>
                  </a:extLst>
                </a:gridCol>
                <a:gridCol w="1838046">
                  <a:extLst>
                    <a:ext uri="{9D8B030D-6E8A-4147-A177-3AD203B41FA5}">
                      <a16:colId xmlns:a16="http://schemas.microsoft.com/office/drawing/2014/main" val="2666134677"/>
                    </a:ext>
                  </a:extLst>
                </a:gridCol>
                <a:gridCol w="4123751">
                  <a:extLst>
                    <a:ext uri="{9D8B030D-6E8A-4147-A177-3AD203B41FA5}">
                      <a16:colId xmlns:a16="http://schemas.microsoft.com/office/drawing/2014/main" val="3929686790"/>
                    </a:ext>
                  </a:extLst>
                </a:gridCol>
              </a:tblGrid>
              <a:tr h="423601"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bg1"/>
                          </a:solidFill>
                        </a:rPr>
                        <a:t>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bg1"/>
                          </a:solidFill>
                        </a:rPr>
                        <a:t>Is Required?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995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050" err="1">
                          <a:solidFill>
                            <a:schemeClr val="bg1"/>
                          </a:solidFill>
                        </a:rPr>
                        <a:t>outputLang</a:t>
                      </a:r>
                      <a:endParaRPr lang="en-GB" sz="105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b="0">
                          <a:solidFill>
                            <a:schemeClr val="bg1"/>
                          </a:solidFill>
                        </a:rPr>
                        <a:t>Optional (default = En)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050">
                          <a:solidFill>
                            <a:schemeClr val="bg1"/>
                          </a:solidFill>
                        </a:rPr>
                        <a:t>Language of the evaluation output 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GB" sz="1050">
                          <a:solidFill>
                            <a:schemeClr val="bg1"/>
                          </a:solidFill>
                        </a:rPr>
                        <a:t>(e.g. </a:t>
                      </a:r>
                      <a:r>
                        <a:rPr lang="en-GB" sz="1050" err="1">
                          <a:solidFill>
                            <a:schemeClr val="bg1"/>
                          </a:solidFill>
                        </a:rPr>
                        <a:t>En,Th</a:t>
                      </a:r>
                      <a:r>
                        <a:rPr lang="en-GB" sz="105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768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TargetRole</a:t>
                      </a:r>
                      <a:endParaRPr lang="en-GB" sz="105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b="0">
                          <a:solidFill>
                            <a:schemeClr val="bg1"/>
                          </a:solidFill>
                        </a:rPr>
                        <a:t>Optional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50">
                          <a:solidFill>
                            <a:schemeClr val="bg1"/>
                          </a:solidFill>
                        </a:rPr>
                        <a:t>Target role used for role-relevance evaluation (if NA, evaluation is structure-focused  only)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485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050">
                          <a:solidFill>
                            <a:schemeClr val="bg1"/>
                          </a:solidFill>
                        </a:rPr>
                        <a:t>resumeJson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100" b="1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Required 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50">
                          <a:solidFill>
                            <a:schemeClr val="bg1"/>
                          </a:solidFill>
                        </a:rPr>
                        <a:t>Resume content in structured JSON format, separated by sections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7005145"/>
                  </a:ext>
                </a:extLst>
              </a:tr>
              <a:tr h="143403">
                <a:tc>
                  <a:txBody>
                    <a:bodyPr/>
                    <a:lstStyle/>
                    <a:p>
                      <a:r>
                        <a:rPr lang="en-GB" sz="1050">
                          <a:solidFill>
                            <a:schemeClr val="bg1"/>
                          </a:solidFill>
                        </a:rPr>
                        <a:t>resumeJson.profile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Optional </a:t>
                      </a:r>
                      <a:endParaRPr lang="en-US" b="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50">
                          <a:solidFill>
                            <a:schemeClr val="bg1"/>
                          </a:solidFill>
                        </a:rPr>
                        <a:t>Basic personal and role information (e.g. title, years of experience)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337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050" b="0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resumeJson.summary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Optional </a:t>
                      </a:r>
                      <a:endParaRPr lang="en-US" b="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05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Professional summary or career overview written by the candidate</a:t>
                      </a:r>
                      <a:endParaRPr lang="en-US" b="0" i="0" u="none" strike="noStrike" noProof="0">
                        <a:latin typeface="Poppins Ligh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775761"/>
                  </a:ext>
                </a:extLst>
              </a:tr>
              <a:tr h="199171">
                <a:tc>
                  <a:txBody>
                    <a:bodyPr/>
                    <a:lstStyle/>
                    <a:p>
                      <a:r>
                        <a:rPr lang="en-GB" sz="1050">
                          <a:solidFill>
                            <a:schemeClr val="bg1"/>
                          </a:solidFill>
                        </a:rPr>
                        <a:t>resumeJson.education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Optional </a:t>
                      </a:r>
                      <a:endParaRPr lang="en-US" b="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05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Educational background such as degree, institution, and graduation year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853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050">
                          <a:solidFill>
                            <a:schemeClr val="bg1"/>
                          </a:solidFill>
                        </a:rPr>
                        <a:t>resumeJson.experience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Optional </a:t>
                      </a:r>
                      <a:endParaRPr lang="en-US" b="0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05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Work experience including roles, responsibilities, and duration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02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050">
                          <a:solidFill>
                            <a:schemeClr val="bg1"/>
                          </a:solidFill>
                        </a:rPr>
                        <a:t>resumeJson.activity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Optional </a:t>
                      </a:r>
                      <a:endParaRPr lang="en-US" b="0"/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05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Activities, projects, certifications, or extracurricular experiences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0368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050">
                          <a:solidFill>
                            <a:schemeClr val="bg1"/>
                          </a:solidFill>
                        </a:rPr>
                        <a:t>ResumeJson.skills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Optional </a:t>
                      </a:r>
                      <a:endParaRPr lang="en-US" b="0"/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05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List of technical or professional skills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782254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C970D739-8E8A-4D3E-A0BA-FCA034B8AA79}"/>
              </a:ext>
            </a:extLst>
          </p:cNvPr>
          <p:cNvSpPr/>
          <p:nvPr/>
        </p:nvSpPr>
        <p:spPr>
          <a:xfrm>
            <a:off x="420339" y="1288504"/>
            <a:ext cx="11351322" cy="2901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n-ea"/>
              </a:rPr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val="649188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F993C-7FE2-3978-4B21-01DDB5696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569F37A-CF64-C48B-D116-6DAFFAB89B4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569F37A-CF64-C48B-D116-6DAFFAB89B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09CF2A1-FF55-9BF4-CC33-2C80BADFC979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43ED79-517B-9B03-A091-6C98194ED556}"/>
              </a:ext>
            </a:extLst>
          </p:cNvPr>
          <p:cNvSpPr txBox="1"/>
          <p:nvPr/>
        </p:nvSpPr>
        <p:spPr>
          <a:xfrm>
            <a:off x="6463966" y="864211"/>
            <a:ext cx="4487897" cy="6093976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resumeJson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":{</a:t>
            </a: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</a:t>
            </a:r>
            <a:r>
              <a:rPr lang="en-US" sz="1000" b="1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Profile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"name": "Juan Jose Carin",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"email": "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juanjose.carin@gmail.com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linkedin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"linkedin.com/in/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juanjosecarin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  },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</a:t>
            </a:r>
            <a:r>
              <a:rPr lang="en-US" sz="1000" b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</a:t>
            </a:r>
            <a:r>
              <a:rPr lang="en-US" sz="1000" b="1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Summary</a:t>
            </a:r>
            <a:r>
              <a:rPr lang="en-US" sz="1000" b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: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summary_points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[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   "Experienced data scientist with analytical background."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     ]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 },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</a:t>
            </a:r>
            <a:r>
              <a:rPr lang="en-US" sz="1000" b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</a:t>
            </a:r>
            <a:r>
              <a:rPr lang="en-US" sz="1000" b="1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Education</a:t>
            </a:r>
            <a:r>
              <a:rPr lang="en-US" sz="1000" b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: [</a:t>
            </a: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  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"institution": "University of California, Berkeley",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 "degree": "MIDS",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gpa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"3.93"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     }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],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</a:t>
            </a:r>
            <a:r>
              <a:rPr lang="en-US" sz="1000" b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</a:t>
            </a:r>
            <a:r>
              <a:rPr lang="en-US" sz="1000" b="1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Experience</a:t>
            </a:r>
            <a:r>
              <a:rPr lang="en-US" sz="1000" b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: [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   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"title": "Data Scientist",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"company": "CONENTO",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"dates": "2016",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         "description": [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            "Built ETL pipelines and predictive models."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        ]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   }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 ],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</a:t>
            </a:r>
            <a:r>
              <a:rPr lang="en-US" sz="1000" b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</a:t>
            </a:r>
            <a:r>
              <a:rPr lang="en-US" sz="1000" b="1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Activities</a:t>
            </a:r>
            <a:r>
              <a:rPr lang="en-US" sz="1000" b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[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  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 "name": "LLM Evaluation Harness",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    }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 ],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</a:t>
            </a:r>
            <a:r>
              <a:rPr lang="en-US" sz="1000" b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</a:t>
            </a:r>
            <a:r>
              <a:rPr lang="en-US" sz="1000" b="1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Skills</a:t>
            </a:r>
            <a:r>
              <a:rPr lang="en-US" sz="1000" b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: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"skills": ["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Python","RAG""Data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Analysis", "Machine Learning"],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 }</a:t>
            </a: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cs typeface="Poppins Light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97995E-1B4F-2E54-2A84-045BD2402496}"/>
              </a:ext>
            </a:extLst>
          </p:cNvPr>
          <p:cNvSpPr/>
          <p:nvPr/>
        </p:nvSpPr>
        <p:spPr>
          <a:xfrm>
            <a:off x="525114" y="861848"/>
            <a:ext cx="5407722" cy="5830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D005D0-3C32-58B0-55A2-7F1E1A8D23CA}"/>
              </a:ext>
            </a:extLst>
          </p:cNvPr>
          <p:cNvSpPr/>
          <p:nvPr/>
        </p:nvSpPr>
        <p:spPr>
          <a:xfrm>
            <a:off x="525114" y="859879"/>
            <a:ext cx="5379147" cy="5187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>
                <a:cs typeface="Poppins Light"/>
              </a:rPr>
              <a:t>Input payload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1F42F652-44F6-5ED1-7D1C-14ABF3761346}"/>
              </a:ext>
            </a:extLst>
          </p:cNvPr>
          <p:cNvSpPr txBox="1"/>
          <p:nvPr/>
        </p:nvSpPr>
        <p:spPr>
          <a:xfrm>
            <a:off x="2020841" y="2995056"/>
            <a:ext cx="2688935" cy="2292935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{</a:t>
            </a:r>
            <a:endParaRPr lang="en-US" sz="110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100" err="1">
                <a:solidFill>
                  <a:schemeClr val="bg1"/>
                </a:solidFill>
                <a:ea typeface="+mn-lt"/>
                <a:cs typeface="+mn-lt"/>
              </a:rPr>
              <a:t>outputLang</a:t>
            </a:r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"</a:t>
            </a:r>
            <a:r>
              <a:rPr lang="en-US" sz="1100" err="1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en</a:t>
            </a:r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",</a:t>
            </a:r>
            <a:endParaRPr lang="en-US" sz="110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</a:t>
            </a:r>
            <a:r>
              <a:rPr lang="en-US" sz="1100">
                <a:solidFill>
                  <a:schemeClr val="bg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 "</a:t>
            </a:r>
            <a:r>
              <a:rPr lang="en-US" sz="1100" err="1">
                <a:solidFill>
                  <a:schemeClr val="bg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targetRole</a:t>
            </a:r>
            <a:r>
              <a:rPr lang="en-US" sz="1100">
                <a:solidFill>
                  <a:schemeClr val="bg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": "</a:t>
            </a:r>
            <a:r>
              <a:rPr lang="en-US" sz="1100" err="1">
                <a:solidFill>
                  <a:schemeClr val="bg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role#ai_engineer</a:t>
            </a:r>
            <a:r>
              <a:rPr lang="en-US" sz="1100">
                <a:solidFill>
                  <a:schemeClr val="bg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",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100" err="1">
                <a:solidFill>
                  <a:schemeClr val="bg1"/>
                </a:solidFill>
                <a:ea typeface="+mn-lt"/>
                <a:cs typeface="+mn-lt"/>
              </a:rPr>
              <a:t>resumeJson</a:t>
            </a:r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{</a:t>
            </a: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</a:t>
            </a:r>
            <a:r>
              <a:rPr lang="en-US" sz="1100" b="1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Profile</a:t>
            </a:r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{},</a:t>
            </a: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</a:t>
            </a:r>
            <a:r>
              <a:rPr lang="en-US" sz="1100" b="1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Summary</a:t>
            </a:r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":{},</a:t>
            </a: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</a:t>
            </a:r>
            <a:r>
              <a:rPr lang="en-US" sz="1100" b="1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Education</a:t>
            </a:r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":[],</a:t>
            </a: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</a:t>
            </a:r>
            <a:r>
              <a:rPr lang="en-US" sz="1100" b="1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Experience</a:t>
            </a:r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[], </a:t>
            </a: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</a:t>
            </a:r>
            <a:r>
              <a:rPr lang="en-US" sz="1100" b="1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Activity</a:t>
            </a:r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[], </a:t>
            </a: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</a:t>
            </a:r>
            <a:r>
              <a:rPr lang="en-US" sz="1100" b="1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Skills</a:t>
            </a:r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{}</a:t>
            </a: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    }</a:t>
            </a:r>
            <a:endParaRPr lang="en-US" sz="110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}</a:t>
            </a:r>
            <a:endParaRPr lang="en-US" sz="1100">
              <a:solidFill>
                <a:schemeClr val="bg1"/>
              </a:solidFill>
            </a:endParaRPr>
          </a:p>
          <a:p>
            <a:endParaRPr lang="en-US" sz="1100">
              <a:solidFill>
                <a:schemeClr val="bg1"/>
              </a:solidFill>
              <a:cs typeface="Poppins Light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4B486FD3-533C-9A0C-CA7F-84B9C26FC3B1}"/>
              </a:ext>
            </a:extLst>
          </p:cNvPr>
          <p:cNvSpPr txBox="1"/>
          <p:nvPr/>
        </p:nvSpPr>
        <p:spPr>
          <a:xfrm>
            <a:off x="522317" y="6211437"/>
            <a:ext cx="4331464" cy="369332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 Resume Evaluation Orchestrator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FA802B5D-8EFB-26A4-4971-CECE8A27C10A}"/>
              </a:ext>
            </a:extLst>
          </p:cNvPr>
          <p:cNvSpPr txBox="1"/>
          <p:nvPr/>
        </p:nvSpPr>
        <p:spPr>
          <a:xfrm>
            <a:off x="630190" y="1385330"/>
            <a:ext cx="5194010" cy="1277273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The evaluation API accepts a lightweight request wrapper and a structured resume body.  The wrapper controls evaluation behavior, while the resume body contains the actual CV content.</a:t>
            </a:r>
          </a:p>
          <a:p>
            <a:r>
              <a:rPr lang="en-US" sz="1100">
                <a:solidFill>
                  <a:schemeClr val="bg1"/>
                </a:solidFill>
                <a:cs typeface="Poppins Light"/>
              </a:rPr>
              <a:t>Key point:</a:t>
            </a:r>
          </a:p>
          <a:p>
            <a:r>
              <a:rPr lang="en-US" sz="1100">
                <a:solidFill>
                  <a:schemeClr val="bg1"/>
                </a:solidFill>
                <a:cs typeface="Poppins Light"/>
              </a:rPr>
              <a:t>    - Actual resume content</a:t>
            </a:r>
          </a:p>
          <a:p>
            <a:r>
              <a:rPr lang="en-US" sz="1100">
                <a:solidFill>
                  <a:schemeClr val="bg1"/>
                </a:solidFill>
                <a:cs typeface="Poppins Light"/>
              </a:rPr>
              <a:t>    - Flexible : missing sections are allowed</a:t>
            </a:r>
          </a:p>
          <a:p>
            <a:r>
              <a:rPr lang="en-US" sz="1100">
                <a:solidFill>
                  <a:schemeClr val="bg1"/>
                </a:solidFill>
                <a:cs typeface="Poppins Light"/>
              </a:rPr>
              <a:t>    - Used as the main input for scoring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A2339AC-E1A4-8E96-3018-FED369D9A801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Resume Evaluation Input Structure</a:t>
            </a:r>
            <a:endParaRPr lang="en-US">
              <a:solidFill>
                <a:srgbClr val="519BC9"/>
              </a:solidFill>
              <a:ea typeface="+mj-lt"/>
              <a:cs typeface="+mj-lt"/>
            </a:endParaRP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57CDB5DB-CCF2-1DF7-A137-4920EB61E5E0}"/>
              </a:ext>
            </a:extLst>
          </p:cNvPr>
          <p:cNvCxnSpPr>
            <a:cxnSpLocks/>
          </p:cNvCxnSpPr>
          <p:nvPr/>
        </p:nvCxnSpPr>
        <p:spPr>
          <a:xfrm flipV="1">
            <a:off x="3381375" y="1080445"/>
            <a:ext cx="2986427" cy="2529530"/>
          </a:xfrm>
          <a:prstGeom prst="bentConnector3">
            <a:avLst>
              <a:gd name="adj1" fmla="val 88592"/>
            </a:avLst>
          </a:prstGeom>
          <a:ln w="19050" cap="flat" cmpd="sng" algn="ctr">
            <a:solidFill>
              <a:srgbClr val="FF7E7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4DF20318-6215-8BAE-A6DE-E6585AFA6BE5}"/>
              </a:ext>
            </a:extLst>
          </p:cNvPr>
          <p:cNvSpPr/>
          <p:nvPr/>
        </p:nvSpPr>
        <p:spPr>
          <a:xfrm>
            <a:off x="12047220" y="87659"/>
            <a:ext cx="62837" cy="62837"/>
          </a:xfrm>
          <a:prstGeom prst="ellipse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710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BD21D-A685-521D-9255-7773BA73B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5B69B8F-A44A-30CD-AA6C-A8E422D2C5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5B69B8F-A44A-30CD-AA6C-A8E422D2C5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C876EC0-CB29-9F61-68D9-C30E98D74F32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A16DFE-D92C-83F4-DD62-79859DE20B2C}"/>
              </a:ext>
            </a:extLst>
          </p:cNvPr>
          <p:cNvSpPr txBox="1"/>
          <p:nvPr/>
        </p:nvSpPr>
        <p:spPr>
          <a:xfrm>
            <a:off x="6463966" y="864211"/>
            <a:ext cx="4487897" cy="6093976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resumeJson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":{</a:t>
            </a: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</a:t>
            </a:r>
            <a:r>
              <a:rPr lang="en-US" sz="1000">
                <a:solidFill>
                  <a:schemeClr val="bg1"/>
                </a:solidFill>
                <a:ea typeface="+mn-lt"/>
                <a:cs typeface="+mn-lt"/>
              </a:rPr>
              <a:t>"</a:t>
            </a:r>
            <a:r>
              <a:rPr lang="en-US" sz="1000" b="1">
                <a:solidFill>
                  <a:schemeClr val="bg1"/>
                </a:solidFill>
                <a:ea typeface="+mn-lt"/>
                <a:cs typeface="+mn-lt"/>
              </a:rPr>
              <a:t>Profile</a:t>
            </a:r>
            <a:r>
              <a:rPr lang="en-US" sz="1000">
                <a:solidFill>
                  <a:schemeClr val="bg1"/>
                </a:solidFill>
                <a:ea typeface="+mn-lt"/>
                <a:cs typeface="+mn-lt"/>
              </a:rPr>
              <a:t>": 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"name": "Juan Jose Carin",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"email": "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juanjose.carin@gmail.com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linkedin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"linkedin.com/in/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juanjosecarin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  },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</a:t>
            </a:r>
            <a:r>
              <a:rPr lang="en-US" sz="1000" b="1">
                <a:solidFill>
                  <a:schemeClr val="bg1"/>
                </a:solidFill>
                <a:ea typeface="+mn-lt"/>
                <a:cs typeface="+mn-lt"/>
              </a:rPr>
              <a:t>"Summary"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: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summary_points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[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   "Experienced data scientist with analytical background."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     ]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 },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</a:t>
            </a:r>
            <a:r>
              <a:rPr lang="en-US" sz="1000" b="1">
                <a:solidFill>
                  <a:schemeClr val="bg1"/>
                </a:solidFill>
                <a:ea typeface="+mn-lt"/>
                <a:cs typeface="+mn-lt"/>
              </a:rPr>
              <a:t>"Education"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: [</a:t>
            </a: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  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"institution": "University of California, Berkeley",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 "degree": "MIDS",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gpa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"3.93"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     }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],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</a:t>
            </a:r>
            <a:r>
              <a:rPr lang="en-US" sz="1000" b="1">
                <a:solidFill>
                  <a:schemeClr val="bg1"/>
                </a:solidFill>
                <a:ea typeface="+mn-lt"/>
                <a:cs typeface="+mn-lt"/>
              </a:rPr>
              <a:t>"Experience"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: [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   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"title": "Data Scientist",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"company": "CONENTO",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"dates": "2016",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         "description": [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            "Built ETL pipelines and predictive models."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        ]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   }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 ],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</a:t>
            </a:r>
            <a:r>
              <a:rPr lang="en-US" sz="1000" b="1">
                <a:solidFill>
                  <a:schemeClr val="bg1"/>
                </a:solidFill>
                <a:ea typeface="+mn-lt"/>
                <a:cs typeface="+mn-lt"/>
              </a:rPr>
              <a:t>"Activities":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[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  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 "name": "LLM Evaluation Harness",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    }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 ],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</a:t>
            </a:r>
            <a:r>
              <a:rPr lang="en-US" sz="1000" b="1">
                <a:solidFill>
                  <a:schemeClr val="bg1"/>
                </a:solidFill>
                <a:ea typeface="+mn-lt"/>
                <a:cs typeface="+mn-lt"/>
              </a:rPr>
              <a:t>"Skills"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: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"skills": ["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Python","RAG""Data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Analysis", "Machine Learning"],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 }</a:t>
            </a: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cs typeface="Poppins Light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7CDF07-E787-9B9B-A7D7-AF2F82220B57}"/>
              </a:ext>
            </a:extLst>
          </p:cNvPr>
          <p:cNvSpPr/>
          <p:nvPr/>
        </p:nvSpPr>
        <p:spPr>
          <a:xfrm>
            <a:off x="525114" y="861848"/>
            <a:ext cx="5407722" cy="5830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3B5B39-6CAB-4E85-59E1-6704C0E559B9}"/>
              </a:ext>
            </a:extLst>
          </p:cNvPr>
          <p:cNvSpPr/>
          <p:nvPr/>
        </p:nvSpPr>
        <p:spPr>
          <a:xfrm>
            <a:off x="525114" y="859879"/>
            <a:ext cx="5379147" cy="5187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>
                <a:cs typeface="Poppins Light"/>
              </a:rPr>
              <a:t>Input payload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D066A6D3-FB6E-8239-40BC-1AE0B8CAEC8D}"/>
              </a:ext>
            </a:extLst>
          </p:cNvPr>
          <p:cNvSpPr txBox="1"/>
          <p:nvPr/>
        </p:nvSpPr>
        <p:spPr>
          <a:xfrm>
            <a:off x="2020841" y="2995056"/>
            <a:ext cx="2688935" cy="2292935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{</a:t>
            </a:r>
            <a:endParaRPr lang="en-US" sz="110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100" err="1">
                <a:solidFill>
                  <a:schemeClr val="bg1"/>
                </a:solidFill>
                <a:ea typeface="+mn-lt"/>
                <a:cs typeface="+mn-lt"/>
              </a:rPr>
              <a:t>outputLang</a:t>
            </a:r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"</a:t>
            </a:r>
            <a:r>
              <a:rPr lang="en-US" sz="1100" err="1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en</a:t>
            </a:r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",</a:t>
            </a:r>
            <a:endParaRPr lang="en-US" sz="110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</a:t>
            </a:r>
            <a:r>
              <a:rPr lang="en-US" sz="1100">
                <a:solidFill>
                  <a:schemeClr val="bg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 "</a:t>
            </a:r>
            <a:r>
              <a:rPr lang="en-US" sz="1100" err="1">
                <a:solidFill>
                  <a:schemeClr val="bg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targetRole</a:t>
            </a:r>
            <a:r>
              <a:rPr lang="en-US" sz="1100">
                <a:solidFill>
                  <a:schemeClr val="bg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": "</a:t>
            </a:r>
            <a:r>
              <a:rPr lang="en-US" sz="1100" err="1">
                <a:solidFill>
                  <a:schemeClr val="bg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role#ai_engineer</a:t>
            </a:r>
            <a:r>
              <a:rPr lang="en-US" sz="1100">
                <a:solidFill>
                  <a:schemeClr val="bg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",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100" err="1">
                <a:solidFill>
                  <a:schemeClr val="bg1"/>
                </a:solidFill>
                <a:ea typeface="+mn-lt"/>
                <a:cs typeface="+mn-lt"/>
              </a:rPr>
              <a:t>resumeJson</a:t>
            </a:r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{</a:t>
            </a: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</a:t>
            </a:r>
            <a:r>
              <a:rPr lang="en-US" sz="1100" b="1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Profile</a:t>
            </a:r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{},</a:t>
            </a: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</a:t>
            </a:r>
            <a:r>
              <a:rPr lang="en-US" sz="1100" b="1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Summary</a:t>
            </a:r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":{},</a:t>
            </a: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</a:t>
            </a:r>
            <a:r>
              <a:rPr lang="en-US" sz="1100" b="1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Education</a:t>
            </a:r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":[],</a:t>
            </a: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</a:t>
            </a:r>
            <a:r>
              <a:rPr lang="en-US" sz="1100" b="1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Experience</a:t>
            </a:r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[], </a:t>
            </a: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</a:t>
            </a:r>
            <a:r>
              <a:rPr lang="en-US" sz="1100" b="1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Activity</a:t>
            </a:r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[], </a:t>
            </a: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</a:t>
            </a:r>
            <a:r>
              <a:rPr lang="en-US" sz="1100" b="1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Skills</a:t>
            </a:r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{}</a:t>
            </a: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    }</a:t>
            </a:r>
            <a:endParaRPr lang="en-US" sz="110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}</a:t>
            </a:r>
            <a:endParaRPr lang="en-US" sz="1100">
              <a:solidFill>
                <a:schemeClr val="bg1"/>
              </a:solidFill>
            </a:endParaRPr>
          </a:p>
          <a:p>
            <a:endParaRPr lang="en-US" sz="1100">
              <a:solidFill>
                <a:schemeClr val="bg1"/>
              </a:solidFill>
              <a:cs typeface="Poppins Light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7798AAFF-A96E-707D-2640-D2C5ADD2DD56}"/>
              </a:ext>
            </a:extLst>
          </p:cNvPr>
          <p:cNvSpPr txBox="1"/>
          <p:nvPr/>
        </p:nvSpPr>
        <p:spPr>
          <a:xfrm>
            <a:off x="522317" y="6211437"/>
            <a:ext cx="4331464" cy="369332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 Resume Evaluation Orchestrator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AE91C64C-A9EA-98A9-C930-38D1815A1FCA}"/>
              </a:ext>
            </a:extLst>
          </p:cNvPr>
          <p:cNvSpPr txBox="1"/>
          <p:nvPr/>
        </p:nvSpPr>
        <p:spPr>
          <a:xfrm>
            <a:off x="630190" y="1385330"/>
            <a:ext cx="5194010" cy="1277273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The evaluation API accepts a lightweight request wrapper and a structured resume body.  The wrapper controls evaluation behavior, while the resume body contains the actual CV content.</a:t>
            </a:r>
          </a:p>
          <a:p>
            <a:r>
              <a:rPr lang="en-US" sz="1100">
                <a:solidFill>
                  <a:schemeClr val="bg1"/>
                </a:solidFill>
                <a:cs typeface="Poppins Light"/>
              </a:rPr>
              <a:t>Key point:</a:t>
            </a:r>
          </a:p>
          <a:p>
            <a:r>
              <a:rPr lang="en-US" sz="1100">
                <a:solidFill>
                  <a:schemeClr val="bg1"/>
                </a:solidFill>
                <a:cs typeface="Poppins Light"/>
              </a:rPr>
              <a:t>    - Actual resume content</a:t>
            </a:r>
          </a:p>
          <a:p>
            <a:r>
              <a:rPr lang="en-US" sz="1100">
                <a:solidFill>
                  <a:schemeClr val="bg1"/>
                </a:solidFill>
                <a:cs typeface="Poppins Light"/>
              </a:rPr>
              <a:t>    - Flexible : missing sections are allowed</a:t>
            </a:r>
          </a:p>
          <a:p>
            <a:r>
              <a:rPr lang="en-US" sz="1100">
                <a:solidFill>
                  <a:schemeClr val="bg1"/>
                </a:solidFill>
                <a:cs typeface="Poppins Light"/>
              </a:rPr>
              <a:t>    - Used as the main input for scoring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239B2E6-4EE2-BE2D-69BE-997D04754B01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Resume Evaluation Input Structure</a:t>
            </a:r>
            <a:endParaRPr lang="en-US">
              <a:solidFill>
                <a:srgbClr val="519BC9"/>
              </a:solidFill>
              <a:ea typeface="+mj-lt"/>
              <a:cs typeface="+mj-lt"/>
            </a:endParaRP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7DA8A799-67A7-AE7E-1ADB-98A56A52EFC9}"/>
              </a:ext>
            </a:extLst>
          </p:cNvPr>
          <p:cNvCxnSpPr>
            <a:cxnSpLocks/>
          </p:cNvCxnSpPr>
          <p:nvPr/>
        </p:nvCxnSpPr>
        <p:spPr>
          <a:xfrm flipV="1">
            <a:off x="3381375" y="1080445"/>
            <a:ext cx="2986427" cy="2529530"/>
          </a:xfrm>
          <a:prstGeom prst="bentConnector3">
            <a:avLst>
              <a:gd name="adj1" fmla="val 88592"/>
            </a:avLst>
          </a:prstGeom>
          <a:ln w="19050" cap="flat" cmpd="sng" algn="ctr">
            <a:solidFill>
              <a:srgbClr val="FF7E7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5954C20-7792-D4B6-2C31-9794517722A2}"/>
              </a:ext>
            </a:extLst>
          </p:cNvPr>
          <p:cNvSpPr/>
          <p:nvPr/>
        </p:nvSpPr>
        <p:spPr>
          <a:xfrm>
            <a:off x="1240137" y="3259681"/>
            <a:ext cx="896129" cy="369332"/>
          </a:xfrm>
          <a:prstGeom prst="rightArrow">
            <a:avLst/>
          </a:prstGeom>
          <a:solidFill>
            <a:srgbClr val="FF7E79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662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D5CFA-6C0F-D457-725D-0966D404B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2510B01-AAA7-C9BB-9619-AE84A34BD7D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510B01-AAA7-C9BB-9619-AE84A34BD7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533096B6-05BE-7529-4815-FB1D7B92D8AD}"/>
              </a:ext>
            </a:extLst>
          </p:cNvPr>
          <p:cNvSpPr txBox="1">
            <a:spLocks/>
          </p:cNvSpPr>
          <p:nvPr/>
        </p:nvSpPr>
        <p:spPr>
          <a:xfrm>
            <a:off x="990600" y="4859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try it </a:t>
            </a:r>
            <a:r>
              <a:rPr lang="en-US" sz="2400">
                <a:solidFill>
                  <a:srgbClr val="519BC9"/>
                </a:solidFill>
                <a:latin typeface="Poppins Light"/>
              </a:rPr>
              <a:t>!!!</a:t>
            </a:r>
            <a:endParaRPr lang="en-US" sz="2400">
              <a:solidFill>
                <a:srgbClr val="519BC9"/>
              </a:solidFill>
              <a:ea typeface="+mj-lt"/>
              <a:cs typeface="+mj-lt"/>
            </a:endParaRPr>
          </a:p>
        </p:txBody>
      </p:sp>
      <p:pic>
        <p:nvPicPr>
          <p:cNvPr id="4" name="Picture 3">
            <a:hlinkClick r:id="rId6"/>
            <a:extLst>
              <a:ext uri="{FF2B5EF4-FFF2-40B4-BE49-F238E27FC236}">
                <a16:creationId xmlns:a16="http://schemas.microsoft.com/office/drawing/2014/main" id="{19A32698-736D-CBD0-D93F-CAFC632A76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2205" y="1090449"/>
            <a:ext cx="9972389" cy="535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036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E5836-188F-A66E-1FCE-244BE2CD3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E5B381B-C007-1C2A-EAD2-265FC34B875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E5B381B-C007-1C2A-EAD2-265FC34B87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F79EDE6-18BB-403F-3D3A-19A2AC8ADD69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D540CA-C47F-099D-4680-748C3E72E615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Test Case 1 (Output - EN)</a:t>
            </a:r>
            <a:endParaRPr lang="en-US" sz="2400">
              <a:solidFill>
                <a:srgbClr val="000000"/>
              </a:solidFill>
              <a:ea typeface="+mj-lt"/>
              <a:cs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A1827B-54B2-1135-8558-342F4886D716}"/>
              </a:ext>
            </a:extLst>
          </p:cNvPr>
          <p:cNvSpPr/>
          <p:nvPr/>
        </p:nvSpPr>
        <p:spPr>
          <a:xfrm>
            <a:off x="525114" y="861848"/>
            <a:ext cx="5407722" cy="5830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EEFE20-80B0-7402-48B2-47FA6ACE6DC0}"/>
              </a:ext>
            </a:extLst>
          </p:cNvPr>
          <p:cNvSpPr/>
          <p:nvPr/>
        </p:nvSpPr>
        <p:spPr>
          <a:xfrm>
            <a:off x="525114" y="859879"/>
            <a:ext cx="5379147" cy="5187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>
                <a:cs typeface="Poppins Light"/>
              </a:rPr>
              <a:t>output payload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AD3CD07B-FFBE-FD0A-4435-EBE5095531AE}"/>
              </a:ext>
            </a:extLst>
          </p:cNvPr>
          <p:cNvSpPr txBox="1"/>
          <p:nvPr/>
        </p:nvSpPr>
        <p:spPr>
          <a:xfrm>
            <a:off x="522317" y="6211437"/>
            <a:ext cx="4331464" cy="369332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 Resume Evaluation Orchestrator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628A7948-DE8D-3A95-CF6F-EB40FB5CC013}"/>
              </a:ext>
            </a:extLst>
          </p:cNvPr>
          <p:cNvSpPr txBox="1"/>
          <p:nvPr/>
        </p:nvSpPr>
        <p:spPr>
          <a:xfrm>
            <a:off x="630190" y="1385330"/>
            <a:ext cx="5194010" cy="144655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This slide shows the final result  of the evaluation.</a:t>
            </a:r>
            <a:br>
              <a:rPr lang="en-US" sz="110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 We calculate section scores, normalize them, apply weights, and produce a global grade with an overall feedback summary.</a:t>
            </a: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    - Final global grade after normalization and weighting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    - Aggregated raw and maximum scores across all sections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    - Per-section weighted score contribution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    - High-level global feedback summarizing resume quality</a:t>
            </a:r>
            <a:endParaRPr lang="en-US">
              <a:solidFill>
                <a:schemeClr val="bg1"/>
              </a:solidFill>
            </a:endParaRPr>
          </a:p>
          <a:p>
            <a:endParaRPr lang="en-US" sz="110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244868-9F44-F6B1-C9DD-BA1DA63C94F3}"/>
              </a:ext>
            </a:extLst>
          </p:cNvPr>
          <p:cNvSpPr txBox="1"/>
          <p:nvPr/>
        </p:nvSpPr>
        <p:spPr>
          <a:xfrm>
            <a:off x="937630" y="2795520"/>
            <a:ext cx="4561342" cy="3139321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10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{</a:t>
            </a:r>
          </a:p>
          <a:p>
            <a:r>
              <a:rPr lang="en-US" sz="110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    "</a:t>
            </a:r>
            <a:r>
              <a:rPr lang="en-US" sz="1100" err="1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status":"success</a:t>
            </a:r>
            <a:r>
              <a:rPr lang="en-US" sz="110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",</a:t>
            </a:r>
          </a:p>
          <a:p>
            <a:r>
              <a:rPr lang="en-US" sz="110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    "data":{</a:t>
            </a:r>
          </a:p>
          <a:p>
            <a:r>
              <a:rPr lang="en-US" sz="110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        "conclusion":{</a:t>
            </a:r>
            <a:endParaRPr lang="en-US" sz="1100">
              <a:solidFill>
                <a:schemeClr val="tx2">
                  <a:lumMod val="10000"/>
                </a:schemeClr>
              </a:solidFill>
            </a:endParaRPr>
          </a:p>
          <a:p>
            <a:endParaRPr lang="en-US" sz="1100">
              <a:solidFill>
                <a:schemeClr val="tx2">
                  <a:lumMod val="10000"/>
                </a:schemeClr>
              </a:solidFill>
            </a:endParaRPr>
          </a:p>
          <a:p>
            <a:r>
              <a:rPr lang="en-US" sz="110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                    },</a:t>
            </a:r>
            <a:endParaRPr lang="en-US" sz="1100">
              <a:solidFill>
                <a:schemeClr val="tx2">
                  <a:lumMod val="10000"/>
                </a:schemeClr>
              </a:solidFill>
            </a:endParaRPr>
          </a:p>
          <a:p>
            <a:r>
              <a:rPr lang="en-US" sz="110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        "</a:t>
            </a:r>
            <a:r>
              <a:rPr lang="en-US" sz="1100" err="1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sectionDetail</a:t>
            </a:r>
            <a:r>
              <a:rPr lang="en-US" sz="110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":{</a:t>
            </a:r>
            <a:endParaRPr lang="en-US" sz="1100">
              <a:solidFill>
                <a:schemeClr val="tx2">
                  <a:lumMod val="10000"/>
                </a:schemeClr>
              </a:solidFill>
            </a:endParaRPr>
          </a:p>
          <a:p>
            <a:endParaRPr lang="en-US" sz="1100">
              <a:solidFill>
                <a:schemeClr val="tx2">
                  <a:lumMod val="10000"/>
                </a:schemeClr>
              </a:solidFill>
            </a:endParaRPr>
          </a:p>
          <a:p>
            <a:r>
              <a:rPr lang="en-US" sz="110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                    },</a:t>
            </a:r>
            <a:endParaRPr lang="en-US" sz="1100">
              <a:solidFill>
                <a:schemeClr val="tx2">
                  <a:lumMod val="10000"/>
                </a:schemeClr>
              </a:solidFill>
            </a:endParaRPr>
          </a:p>
          <a:p>
            <a:r>
              <a:rPr lang="en-US" sz="110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    },</a:t>
            </a:r>
          </a:p>
          <a:p>
            <a:r>
              <a:rPr lang="en-US" sz="110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    "correlationId":"corr_ec0707b9b0e04b91a5cc81c8725db5a6",</a:t>
            </a:r>
          </a:p>
          <a:p>
            <a:r>
              <a:rPr lang="en-US" sz="110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    "metadata":{</a:t>
            </a:r>
          </a:p>
          <a:p>
            <a:r>
              <a:rPr lang="en-US" sz="110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        "modelName":"gemini-2.5-flash",</a:t>
            </a:r>
          </a:p>
          <a:p>
            <a:r>
              <a:rPr lang="en-US" sz="110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        "timestamp":"2026-01-18 23:49:24.235242+07:00",</a:t>
            </a:r>
          </a:p>
          <a:p>
            <a:r>
              <a:rPr lang="en-US" sz="110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        "weightsVersion":"weights_v1",</a:t>
            </a:r>
          </a:p>
          <a:p>
            <a:r>
              <a:rPr lang="en-US" sz="110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        "</a:t>
            </a:r>
            <a:r>
              <a:rPr lang="en-US" sz="1100" err="1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promptVersion</a:t>
            </a:r>
            <a:r>
              <a:rPr lang="en-US" sz="110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": "prompt_v2"</a:t>
            </a:r>
          </a:p>
          <a:p>
            <a:r>
              <a:rPr lang="en-US" sz="110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    }</a:t>
            </a:r>
          </a:p>
          <a:p>
            <a:r>
              <a:rPr lang="en-US" sz="1100">
                <a:solidFill>
                  <a:schemeClr val="tx2">
                    <a:lumMod val="10000"/>
                  </a:schemeClr>
                </a:solidFill>
                <a:ea typeface="+mn-lt"/>
                <a:cs typeface="+mn-lt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9582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A7B64-B2F6-F131-96D2-F1BEA3180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8078CAF-3C97-DF4E-9359-5F68688140C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078CAF-3C97-DF4E-9359-5F68688140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83041E6-4181-2CD4-02FB-20EF79C4BAFE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A2B22FE-BFC8-A100-89A0-938D1F6D4B22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Test Case 1 (Output - EN)</a:t>
            </a:r>
            <a:endParaRPr lang="en-US" sz="2400">
              <a:solidFill>
                <a:srgbClr val="000000"/>
              </a:solidFill>
              <a:ea typeface="+mj-lt"/>
              <a:cs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115263-2972-B9C5-42A8-628FFD66864E}"/>
              </a:ext>
            </a:extLst>
          </p:cNvPr>
          <p:cNvSpPr/>
          <p:nvPr/>
        </p:nvSpPr>
        <p:spPr>
          <a:xfrm>
            <a:off x="525114" y="861848"/>
            <a:ext cx="5407722" cy="5830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DAA2EB-2D9D-7375-9672-F80CE0B13A38}"/>
              </a:ext>
            </a:extLst>
          </p:cNvPr>
          <p:cNvSpPr/>
          <p:nvPr/>
        </p:nvSpPr>
        <p:spPr>
          <a:xfrm>
            <a:off x="525114" y="859879"/>
            <a:ext cx="5379147" cy="5187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>
                <a:cs typeface="Poppins Light"/>
              </a:rPr>
              <a:t>output payload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4714A3D4-F69B-35CC-B80C-2D364049116D}"/>
              </a:ext>
            </a:extLst>
          </p:cNvPr>
          <p:cNvSpPr txBox="1"/>
          <p:nvPr/>
        </p:nvSpPr>
        <p:spPr>
          <a:xfrm>
            <a:off x="522317" y="6211437"/>
            <a:ext cx="4331464" cy="369332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 Resume Evaluation Orchestrator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3D88B1D7-789D-616E-41A6-94FAC04B3E6C}"/>
              </a:ext>
            </a:extLst>
          </p:cNvPr>
          <p:cNvSpPr txBox="1"/>
          <p:nvPr/>
        </p:nvSpPr>
        <p:spPr>
          <a:xfrm>
            <a:off x="630190" y="1385330"/>
            <a:ext cx="5194010" cy="144655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This slide shows the final result  of the evaluation.</a:t>
            </a:r>
            <a:br>
              <a:rPr lang="en-US" sz="110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 We calculate section scores, normalize them, apply weights, and produce a global grade with an overall feedback summary.</a:t>
            </a: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    - Final global grade after normalization and weighting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    - Aggregated raw and maximum scores across all sections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    - Per-section weighted score contribution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    - High-level global feedback summarizing resume quality</a:t>
            </a:r>
            <a:endParaRPr lang="en-US">
              <a:solidFill>
                <a:schemeClr val="bg1"/>
              </a:solidFill>
            </a:endParaRPr>
          </a:p>
          <a:p>
            <a:endParaRPr lang="en-US" sz="110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93B88E-7BC5-55D9-9E11-FA017C9EDF25}"/>
              </a:ext>
            </a:extLst>
          </p:cNvPr>
          <p:cNvSpPr txBox="1"/>
          <p:nvPr/>
        </p:nvSpPr>
        <p:spPr>
          <a:xfrm>
            <a:off x="937630" y="2795520"/>
            <a:ext cx="4561342" cy="3139321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{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 "</a:t>
            </a:r>
            <a:r>
              <a:rPr lang="en-US" sz="110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status":"success</a:t>
            </a:r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",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 "</a:t>
            </a:r>
            <a:r>
              <a:rPr lang="en-US" sz="1100" b="1">
                <a:solidFill>
                  <a:schemeClr val="bg1"/>
                </a:solidFill>
                <a:ea typeface="+mn-lt"/>
                <a:cs typeface="+mn-lt"/>
              </a:rPr>
              <a:t>data</a:t>
            </a:r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":{</a:t>
            </a: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        "conclusion":{</a:t>
            </a:r>
            <a:endParaRPr lang="en-US" sz="1100">
              <a:solidFill>
                <a:schemeClr val="bg1"/>
              </a:solidFill>
            </a:endParaRPr>
          </a:p>
          <a:p>
            <a:endParaRPr lang="en-US" sz="1100"/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                    },</a:t>
            </a:r>
            <a:endParaRPr lang="en-US" sz="110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     "</a:t>
            </a:r>
            <a:r>
              <a:rPr lang="en-US" sz="110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sectionDetail</a:t>
            </a:r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":{</a:t>
            </a:r>
            <a:endParaRPr lang="en-US" sz="1100">
              <a:solidFill>
                <a:schemeClr val="bg1">
                  <a:lumMod val="25000"/>
                  <a:lumOff val="75000"/>
                </a:schemeClr>
              </a:solidFill>
            </a:endParaRPr>
          </a:p>
          <a:p>
            <a:endParaRPr lang="en-US" sz="1100">
              <a:solidFill>
                <a:schemeClr val="bg1">
                  <a:lumMod val="25000"/>
                  <a:lumOff val="75000"/>
                </a:schemeClr>
              </a:solidFill>
            </a:endParaRP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                 },</a:t>
            </a:r>
            <a:endParaRPr lang="en-US" sz="1100">
              <a:solidFill>
                <a:schemeClr val="bg1">
                  <a:lumMod val="25000"/>
                  <a:lumOff val="75000"/>
                </a:schemeClr>
              </a:solidFill>
            </a:endParaRP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 },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 "correlationId":"corr_ec0707b9b0e04b91a5cc81c8725db5a6",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 "metadata":{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     "modelName":"gemini-2.5-flash",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     "timestamp":"2026-01-18 23:49:24.235242+07:00",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     "weightsVersion":"weights_v1",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     "</a:t>
            </a:r>
            <a:r>
              <a:rPr lang="en-US" sz="110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promptVersion</a:t>
            </a:r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"prompt_v2"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 }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CC0371-1501-82F3-3F4B-BB137BDF2AC6}"/>
              </a:ext>
            </a:extLst>
          </p:cNvPr>
          <p:cNvSpPr txBox="1"/>
          <p:nvPr/>
        </p:nvSpPr>
        <p:spPr>
          <a:xfrm>
            <a:off x="6352881" y="975671"/>
            <a:ext cx="5364539" cy="5793894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"conclusion": {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      "</a:t>
            </a:r>
            <a:r>
              <a:rPr lang="en-US" sz="950" err="1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globalGrade</a:t>
            </a:r>
            <a:r>
              <a:rPr lang="en-US" sz="950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": "A+",</a:t>
            </a:r>
            <a:endParaRPr lang="en-US" sz="950">
              <a:solidFill>
                <a:schemeClr val="bg1"/>
              </a:solidFill>
              <a:highlight>
                <a:srgbClr val="FFFF00"/>
              </a:highlight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      "</a:t>
            </a:r>
            <a:r>
              <a:rPr lang="en-US" sz="950" err="1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totalWeightedRawScore</a:t>
            </a:r>
            <a:r>
              <a:rPr lang="en-US" sz="950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": 27,</a:t>
            </a:r>
            <a:endParaRPr lang="en-US" sz="950">
              <a:solidFill>
                <a:schemeClr val="bg1"/>
              </a:solidFill>
              <a:highlight>
                <a:srgbClr val="FFFF00"/>
              </a:highlight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      "</a:t>
            </a:r>
            <a:r>
              <a:rPr lang="en-US" sz="950" err="1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totalWeightedMaxScore</a:t>
            </a:r>
            <a:r>
              <a:rPr lang="en-US" sz="950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": 28,</a:t>
            </a:r>
            <a:endParaRPr lang="en-US" sz="950">
              <a:solidFill>
                <a:schemeClr val="bg1"/>
              </a:solidFill>
              <a:highlight>
                <a:srgbClr val="FFFF00"/>
              </a:highlight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"</a:t>
            </a:r>
            <a:r>
              <a:rPr lang="en-US" sz="95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totalSectionWeight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1,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"</a:t>
            </a:r>
            <a:r>
              <a:rPr lang="en-US" sz="95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sectionContribution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{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        "Profile": {</a:t>
            </a:r>
            <a:endParaRPr lang="en-US" sz="950">
              <a:solidFill>
                <a:schemeClr val="bg1"/>
              </a:solidFill>
              <a:highlight>
                <a:srgbClr val="00FFFF"/>
              </a:highlight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          "</a:t>
            </a:r>
            <a:r>
              <a:rPr lang="en-US" sz="950" err="1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sessionGrade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": "A+",</a:t>
            </a:r>
            <a:endParaRPr lang="en-US" sz="950">
              <a:solidFill>
                <a:schemeClr val="bg1"/>
              </a:solidFill>
              <a:highlight>
                <a:srgbClr val="00FFFF"/>
              </a:highlight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          "</a:t>
            </a:r>
            <a:r>
              <a:rPr lang="en-US" sz="950" err="1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totalSectionRawScore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": 20,</a:t>
            </a:r>
            <a:endParaRPr lang="en-US" sz="950">
              <a:solidFill>
                <a:schemeClr val="bg1"/>
              </a:solidFill>
              <a:highlight>
                <a:srgbClr val="00FFFF"/>
              </a:highlight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          "</a:t>
            </a:r>
            <a:r>
              <a:rPr lang="en-US" sz="950" err="1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totalSectionMaxScore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": 20,</a:t>
            </a:r>
            <a:endParaRPr lang="en-US" sz="950">
              <a:solidFill>
                <a:schemeClr val="bg1"/>
              </a:solidFill>
              <a:highlight>
                <a:srgbClr val="00FFFF"/>
              </a:highlight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          "</a:t>
            </a:r>
            <a:r>
              <a:rPr lang="en-US" sz="950" err="1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sectionWeight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": 0.1,</a:t>
            </a:r>
            <a:endParaRPr lang="en-US" sz="950">
              <a:solidFill>
                <a:schemeClr val="bg1"/>
              </a:solidFill>
              <a:highlight>
                <a:srgbClr val="00FFFF"/>
              </a:highlight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          "</a:t>
            </a:r>
            <a:r>
              <a:rPr lang="en-US" sz="950" err="1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totalSectionRawScoreXWeight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": 2,</a:t>
            </a:r>
            <a:endParaRPr lang="en-US" sz="950">
              <a:solidFill>
                <a:schemeClr val="bg1"/>
              </a:solidFill>
              <a:highlight>
                <a:srgbClr val="00FFFF"/>
              </a:highlight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          "</a:t>
            </a:r>
            <a:r>
              <a:rPr lang="en-US" sz="950" err="1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totalSectionMaxScoreXWeight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": 2</a:t>
            </a:r>
            <a:endParaRPr lang="en-US" sz="950">
              <a:solidFill>
                <a:schemeClr val="bg1"/>
              </a:solidFill>
              <a:highlight>
                <a:srgbClr val="00FFFF"/>
              </a:highlight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    },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"Summary": {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...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    },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"Education": {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...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    },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"Experience": {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...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    },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        "Activities": {</a:t>
            </a:r>
            <a:endParaRPr lang="en-US" sz="950">
              <a:solidFill>
                <a:schemeClr val="bg1"/>
              </a:solidFill>
              <a:highlight>
                <a:srgbClr val="00FFFF"/>
              </a:highlight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          "</a:t>
            </a:r>
            <a:r>
              <a:rPr lang="en-US" sz="950" err="1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sessionGrade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": "-",</a:t>
            </a:r>
            <a:endParaRPr lang="en-US" sz="950">
              <a:solidFill>
                <a:schemeClr val="bg1"/>
              </a:solidFill>
              <a:highlight>
                <a:srgbClr val="00FFFF"/>
              </a:highlight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          "</a:t>
            </a:r>
            <a:r>
              <a:rPr lang="en-US" sz="950" err="1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totalSectionRawScore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": 0,</a:t>
            </a:r>
            <a:endParaRPr lang="en-US" sz="950">
              <a:solidFill>
                <a:schemeClr val="bg1"/>
              </a:solidFill>
              <a:highlight>
                <a:srgbClr val="00FFFF"/>
              </a:highlight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          "</a:t>
            </a:r>
            <a:r>
              <a:rPr lang="en-US" sz="950" err="1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totalSectionMaxScore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": 0,</a:t>
            </a:r>
            <a:endParaRPr lang="en-US" sz="950">
              <a:solidFill>
                <a:schemeClr val="bg1"/>
              </a:solidFill>
              <a:highlight>
                <a:srgbClr val="00FFFF"/>
              </a:highlight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          "</a:t>
            </a:r>
            <a:r>
              <a:rPr lang="en-US" sz="950" err="1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sectionWeight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": 0.2,</a:t>
            </a:r>
            <a:endParaRPr lang="en-US" sz="950">
              <a:solidFill>
                <a:schemeClr val="bg1"/>
              </a:solidFill>
              <a:highlight>
                <a:srgbClr val="00FFFF"/>
              </a:highlight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          "</a:t>
            </a:r>
            <a:r>
              <a:rPr lang="en-US" sz="950" err="1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totalSectionRawScoreXWeight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": 0,</a:t>
            </a:r>
            <a:endParaRPr lang="en-US" sz="950">
              <a:solidFill>
                <a:schemeClr val="bg1"/>
              </a:solidFill>
              <a:highlight>
                <a:srgbClr val="00FFFF"/>
              </a:highlight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          "</a:t>
            </a:r>
            <a:r>
              <a:rPr lang="en-US" sz="950" err="1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totalSectionMaxScoreXWeight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": 0</a:t>
            </a:r>
            <a:endParaRPr lang="en-US" sz="950">
              <a:solidFill>
                <a:schemeClr val="bg1"/>
              </a:solidFill>
              <a:highlight>
                <a:srgbClr val="00FFFF"/>
              </a:highlight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            },</a:t>
            </a:r>
            <a:endParaRPr lang="en-US" sz="950">
              <a:solidFill>
                <a:schemeClr val="bg1"/>
              </a:solidFill>
              <a:highlight>
                <a:srgbClr val="00FFFF"/>
              </a:highlight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"Skills": {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...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    }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},</a:t>
            </a:r>
          </a:p>
          <a:p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      </a:t>
            </a:r>
            <a:r>
              <a:rPr lang="en-US" sz="950">
                <a:solidFill>
                  <a:schemeClr val="bg1"/>
                </a:solidFill>
                <a:highlight>
                  <a:srgbClr val="98C29A"/>
                </a:highlight>
                <a:ea typeface="+mn-lt"/>
                <a:cs typeface="+mn-lt"/>
              </a:rPr>
              <a:t>"</a:t>
            </a:r>
            <a:r>
              <a:rPr lang="en-US" sz="950" err="1">
                <a:solidFill>
                  <a:schemeClr val="bg1"/>
                </a:solidFill>
                <a:highlight>
                  <a:srgbClr val="98C29A"/>
                </a:highlight>
                <a:ea typeface="+mn-lt"/>
                <a:cs typeface="+mn-lt"/>
              </a:rPr>
              <a:t>globalfeedback</a:t>
            </a:r>
            <a:r>
              <a:rPr lang="en-US" sz="950">
                <a:solidFill>
                  <a:schemeClr val="bg1"/>
                </a:solidFill>
                <a:highlight>
                  <a:srgbClr val="98C29A"/>
                </a:highlight>
                <a:ea typeface="+mn-lt"/>
                <a:cs typeface="+mn-lt"/>
              </a:rPr>
              <a:t>": "This resume effectively presents a strong candidate …. structure, detailed achievements, and robust technical skills, requiring no immediate improvements."</a:t>
            </a:r>
            <a:endParaRPr lang="en-US" sz="950">
              <a:solidFill>
                <a:schemeClr val="bg1"/>
              </a:solidFill>
              <a:highlight>
                <a:srgbClr val="98C29A"/>
              </a:highlight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}</a:t>
            </a:r>
            <a:endParaRPr lang="en-US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299001AF-3A39-A0D6-081C-C662038D022C}"/>
              </a:ext>
            </a:extLst>
          </p:cNvPr>
          <p:cNvCxnSpPr>
            <a:cxnSpLocks/>
          </p:cNvCxnSpPr>
          <p:nvPr/>
        </p:nvCxnSpPr>
        <p:spPr>
          <a:xfrm flipV="1">
            <a:off x="1924050" y="1080445"/>
            <a:ext cx="4443752" cy="2500955"/>
          </a:xfrm>
          <a:prstGeom prst="bentConnector3">
            <a:avLst>
              <a:gd name="adj1" fmla="val 92441"/>
            </a:avLst>
          </a:prstGeom>
          <a:ln w="19050" cap="flat" cmpd="sng" algn="ctr">
            <a:solidFill>
              <a:srgbClr val="FF7E7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6433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B5277-2895-3737-1D41-75B265B8A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D8B5DAB-0101-CEA5-24BB-D221AC28B22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D8B5DAB-0101-CEA5-24BB-D221AC28B2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4C960C4E-91AB-7021-E76C-D0C35073DDB4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4BC423-9720-E12F-BB51-B0AC2D0F0563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Test Case 1 (Output - EN)</a:t>
            </a:r>
            <a:endParaRPr lang="en-US" sz="2400">
              <a:solidFill>
                <a:srgbClr val="000000"/>
              </a:solidFill>
              <a:ea typeface="+mj-lt"/>
              <a:cs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C4678E-9592-4C26-1A2B-9E173588DE69}"/>
              </a:ext>
            </a:extLst>
          </p:cNvPr>
          <p:cNvSpPr/>
          <p:nvPr/>
        </p:nvSpPr>
        <p:spPr>
          <a:xfrm>
            <a:off x="525114" y="861848"/>
            <a:ext cx="5407722" cy="5830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FC2067-73A7-113A-FD01-99EDBB138A06}"/>
              </a:ext>
            </a:extLst>
          </p:cNvPr>
          <p:cNvSpPr/>
          <p:nvPr/>
        </p:nvSpPr>
        <p:spPr>
          <a:xfrm>
            <a:off x="525114" y="859879"/>
            <a:ext cx="5379147" cy="5187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>
                <a:cs typeface="Poppins Light"/>
              </a:rPr>
              <a:t>output payload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2753EBC1-C7C7-EBBE-8940-A44206241312}"/>
              </a:ext>
            </a:extLst>
          </p:cNvPr>
          <p:cNvSpPr txBox="1"/>
          <p:nvPr/>
        </p:nvSpPr>
        <p:spPr>
          <a:xfrm>
            <a:off x="522317" y="6211437"/>
            <a:ext cx="4331464" cy="369332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 Resume Evaluation Orchestrator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27BB5631-D837-0D3B-5F71-D130465DB938}"/>
              </a:ext>
            </a:extLst>
          </p:cNvPr>
          <p:cNvSpPr txBox="1"/>
          <p:nvPr/>
        </p:nvSpPr>
        <p:spPr>
          <a:xfrm>
            <a:off x="630190" y="1385330"/>
            <a:ext cx="5194010" cy="144655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Each section is evaluated using multiple criteria, and we return both numeric scores and qualitative feedback.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    - Detailed scores per resume section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    - Criteria-based evaluation (e.g.  Length, Grammar, Content Quality)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    - Score + feedback for each criterion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    - Section-level summary feedback explaining strengths and weaknesses</a:t>
            </a:r>
            <a:endParaRPr lang="en-US">
              <a:solidFill>
                <a:schemeClr val="bg1"/>
              </a:solidFill>
            </a:endParaRPr>
          </a:p>
          <a:p>
            <a:endParaRPr lang="en-US" sz="110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CE6C91-2D9E-050F-1CC9-84B5344CB3B8}"/>
              </a:ext>
            </a:extLst>
          </p:cNvPr>
          <p:cNvSpPr txBox="1"/>
          <p:nvPr/>
        </p:nvSpPr>
        <p:spPr>
          <a:xfrm>
            <a:off x="937630" y="2795520"/>
            <a:ext cx="4561342" cy="3139321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{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"</a:t>
            </a:r>
            <a:r>
              <a:rPr lang="en-US" sz="11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status":"success</a:t>
            </a:r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",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"</a:t>
            </a:r>
            <a:r>
              <a:rPr lang="en-US" sz="1100" b="1">
                <a:solidFill>
                  <a:schemeClr val="bg1"/>
                </a:solidFill>
                <a:ea typeface="+mn-lt"/>
                <a:cs typeface="+mn-lt"/>
              </a:rPr>
              <a:t>data</a:t>
            </a:r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":{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   "conclusion":{</a:t>
            </a:r>
            <a:endParaRPr lang="en-US" sz="11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endParaRPr lang="en-US" sz="11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               },</a:t>
            </a:r>
            <a:endParaRPr lang="en-US" sz="11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        "</a:t>
            </a:r>
            <a:r>
              <a:rPr lang="en-US" sz="1100" err="1">
                <a:solidFill>
                  <a:schemeClr val="bg1"/>
                </a:solidFill>
                <a:ea typeface="+mn-lt"/>
                <a:cs typeface="+mn-lt"/>
              </a:rPr>
              <a:t>sectionDetail</a:t>
            </a: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":{</a:t>
            </a:r>
            <a:endParaRPr lang="en-US" sz="1100">
              <a:solidFill>
                <a:schemeClr val="bg1"/>
              </a:solidFill>
            </a:endParaRPr>
          </a:p>
          <a:p>
            <a:endParaRPr lang="en-US" sz="1100"/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                    },</a:t>
            </a:r>
            <a:endParaRPr lang="en-US" sz="110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    },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"correlationId":"corr_ec0707b9b0e04b91a5cc81c8725db5a6",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"metadata":{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   "modelName":"gemini-2.5-flash",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   "timestamp":"2026-01-18 23:49:24.235242+07:00",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   "weightsVersion":"weights_v1",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   "</a:t>
            </a:r>
            <a:r>
              <a:rPr lang="en-US" sz="11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promptVersion</a:t>
            </a:r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"prompt_v2"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}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0D212E-EC7F-69E9-B003-DE444B2AA3BD}"/>
              </a:ext>
            </a:extLst>
          </p:cNvPr>
          <p:cNvSpPr txBox="1"/>
          <p:nvPr/>
        </p:nvSpPr>
        <p:spPr>
          <a:xfrm>
            <a:off x="6286206" y="864814"/>
            <a:ext cx="5412164" cy="6086282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"</a:t>
            </a:r>
            <a:r>
              <a:rPr lang="en-US" sz="950" err="1">
                <a:solidFill>
                  <a:schemeClr val="bg1"/>
                </a:solidFill>
                <a:ea typeface="+mn-lt"/>
                <a:cs typeface="+mn-lt"/>
              </a:rPr>
              <a:t>sectionDetail</a:t>
            </a:r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":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{</a:t>
            </a: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"</a:t>
            </a:r>
            <a:r>
              <a:rPr lang="en-US" sz="950" b="1">
                <a:solidFill>
                  <a:schemeClr val="bg1"/>
                </a:solidFill>
                <a:ea typeface="+mn-lt"/>
                <a:cs typeface="+mn-lt"/>
              </a:rPr>
              <a:t>Profile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{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...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},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    </a:t>
            </a:r>
            <a:r>
              <a:rPr lang="en-US" sz="950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"</a:t>
            </a:r>
            <a:r>
              <a:rPr lang="en-US" sz="950" b="1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Summary</a:t>
            </a:r>
            <a:r>
              <a:rPr lang="en-US" sz="950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"</a:t>
            </a:r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: {</a:t>
            </a:r>
            <a:endParaRPr lang="en-US" sz="950">
              <a:solidFill>
                <a:schemeClr val="bg1"/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     "</a:t>
            </a:r>
            <a:r>
              <a:rPr lang="en-US" sz="95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totalSectionRawScore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46,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"</a:t>
            </a:r>
            <a:r>
              <a:rPr lang="en-US" sz="95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totalSectionMaxScore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50,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        "scores": {</a:t>
            </a:r>
          </a:p>
          <a:p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            </a:t>
            </a:r>
            <a:r>
              <a:rPr lang="en-US" sz="950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"</a:t>
            </a:r>
            <a:r>
              <a:rPr lang="en-US" sz="950" b="1" err="1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RoleRelevance</a:t>
            </a:r>
            <a:r>
              <a:rPr lang="en-US" sz="950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": {</a:t>
            </a:r>
          </a:p>
          <a:p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                </a:t>
            </a:r>
            <a:r>
              <a:rPr lang="en-US" sz="950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"score":6,</a:t>
            </a:r>
          </a:p>
          <a:p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               </a:t>
            </a:r>
            <a:r>
              <a:rPr lang="en-US" sz="950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 "feedback": "The summary ....  focusing more on data analysis than AI development."</a:t>
            </a:r>
          </a:p>
          <a:p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                    </a:t>
            </a:r>
            <a:r>
              <a:rPr lang="en-US" sz="950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},</a:t>
            </a: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     "</a:t>
            </a:r>
            <a:r>
              <a:rPr lang="en-US" sz="950" b="1">
                <a:solidFill>
                  <a:schemeClr val="bg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Length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{</a:t>
            </a: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"score": 10,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"feedback": "The summary is concise, fitting within ….... conveys key information."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     },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"</a:t>
            </a:r>
            <a:r>
              <a:rPr lang="en-US" sz="950" b="1">
                <a:solidFill>
                  <a:schemeClr val="bg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Grammar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{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     "score": 10,</a:t>
            </a: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"feedback": "The writing is clear, professional, …., enhancing readability."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     },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"</a:t>
            </a:r>
            <a:r>
              <a:rPr lang="en-US" sz="950" b="1" err="1">
                <a:solidFill>
                  <a:schemeClr val="bg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ContentQuality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{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"score": 10,</a:t>
            </a: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"feedback": "The content is highly specific, …. achievements and relevant technical skills."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     },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"</a:t>
            </a:r>
            <a:r>
              <a:rPr lang="en-US" sz="950" b="1">
                <a:solidFill>
                  <a:schemeClr val="bg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Completeness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{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"score": 10,</a:t>
            </a: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"feedback": "It clearly defines the candidate's.... experiences, and states relevant skills."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     }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},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highlight>
                  <a:srgbClr val="98C29A"/>
                </a:highlight>
                <a:ea typeface="+mn-lt"/>
                <a:cs typeface="+mn-lt"/>
              </a:rPr>
              <a:t>        "</a:t>
            </a:r>
            <a:r>
              <a:rPr lang="en-US" sz="950" b="1" err="1">
                <a:solidFill>
                  <a:schemeClr val="bg1"/>
                </a:solidFill>
                <a:highlight>
                  <a:srgbClr val="98C29A"/>
                </a:highlight>
                <a:ea typeface="+mn-lt"/>
                <a:cs typeface="+mn-lt"/>
              </a:rPr>
              <a:t>sectionFeedbak</a:t>
            </a:r>
            <a:r>
              <a:rPr lang="en-US" sz="950">
                <a:solidFill>
                  <a:schemeClr val="bg1"/>
                </a:solidFill>
                <a:highlight>
                  <a:srgbClr val="98C29A"/>
                </a:highlight>
                <a:ea typeface="+mn-lt"/>
                <a:cs typeface="+mn-lt"/>
              </a:rPr>
              <a:t>": "This summary </a:t>
            </a:r>
            <a:r>
              <a:rPr lang="en-US" sz="950" err="1">
                <a:solidFill>
                  <a:schemeClr val="bg1"/>
                </a:solidFill>
                <a:highlight>
                  <a:srgbClr val="98C29A"/>
                </a:highlight>
                <a:ea typeface="+mn-lt"/>
                <a:cs typeface="+mn-lt"/>
              </a:rPr>
              <a:t>effe</a:t>
            </a:r>
            <a:r>
              <a:rPr lang="en-US" sz="950">
                <a:solidFill>
                  <a:schemeClr val="bg1"/>
                </a:solidFill>
                <a:highlight>
                  <a:srgbClr val="98C29A"/>
                </a:highlight>
                <a:ea typeface="+mn-lt"/>
                <a:cs typeface="+mn-lt"/>
              </a:rPr>
              <a:t>.......,  a strong value proposition for the target role."</a:t>
            </a:r>
            <a:endParaRPr lang="en-US" sz="950">
              <a:solidFill>
                <a:schemeClr val="bg1"/>
              </a:solidFill>
              <a:highlight>
                <a:srgbClr val="98C29A"/>
              </a:highlight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        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},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"</a:t>
            </a:r>
            <a:r>
              <a:rPr lang="en-US" sz="950" b="1">
                <a:solidFill>
                  <a:schemeClr val="bg1"/>
                </a:solidFill>
                <a:ea typeface="+mn-lt"/>
                <a:cs typeface="+mn-lt"/>
              </a:rPr>
              <a:t>Education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{ … },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"</a:t>
            </a:r>
            <a:r>
              <a:rPr lang="en-US" sz="950" b="1">
                <a:solidFill>
                  <a:schemeClr val="bg1"/>
                </a:solidFill>
                <a:ea typeface="+mn-lt"/>
                <a:cs typeface="+mn-lt"/>
              </a:rPr>
              <a:t>Experience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{ … },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"</a:t>
            </a:r>
            <a:r>
              <a:rPr lang="en-US" sz="950" b="1">
                <a:solidFill>
                  <a:schemeClr val="bg1"/>
                </a:solidFill>
                <a:ea typeface="+mn-lt"/>
                <a:cs typeface="+mn-lt"/>
              </a:rPr>
              <a:t>Activities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{ … },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"</a:t>
            </a:r>
            <a:r>
              <a:rPr lang="en-US" sz="950" b="1">
                <a:solidFill>
                  <a:schemeClr val="bg1"/>
                </a:solidFill>
                <a:ea typeface="+mn-lt"/>
                <a:cs typeface="+mn-lt"/>
              </a:rPr>
              <a:t>Skills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{ … },</a:t>
            </a: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}</a:t>
            </a:r>
          </a:p>
          <a:p>
            <a:endParaRPr lang="en-US" sz="950">
              <a:solidFill>
                <a:schemeClr val="bg1"/>
              </a:solidFill>
              <a:cs typeface="Poppins Light"/>
            </a:endParaRP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75A93BF5-F07D-1270-7A40-2745D56EAE28}"/>
              </a:ext>
            </a:extLst>
          </p:cNvPr>
          <p:cNvCxnSpPr>
            <a:cxnSpLocks/>
          </p:cNvCxnSpPr>
          <p:nvPr/>
        </p:nvCxnSpPr>
        <p:spPr>
          <a:xfrm flipV="1">
            <a:off x="1914525" y="990600"/>
            <a:ext cx="4453277" cy="3083146"/>
          </a:xfrm>
          <a:prstGeom prst="bentConnector3">
            <a:avLst>
              <a:gd name="adj1" fmla="val 91922"/>
            </a:avLst>
          </a:prstGeom>
          <a:ln w="19050" cap="flat" cmpd="sng" algn="ctr">
            <a:solidFill>
              <a:srgbClr val="FF7E7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FFF5B3B-15A2-54DE-4A0A-7EE3B5E2B780}"/>
              </a:ext>
            </a:extLst>
          </p:cNvPr>
          <p:cNvSpPr/>
          <p:nvPr/>
        </p:nvSpPr>
        <p:spPr>
          <a:xfrm>
            <a:off x="5764850" y="1986488"/>
            <a:ext cx="896129" cy="369332"/>
          </a:xfrm>
          <a:prstGeom prst="rightArrow">
            <a:avLst/>
          </a:prstGeom>
          <a:solidFill>
            <a:srgbClr val="FF7E79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085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B1C7F-5EE6-9C33-8736-0E55A45D0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43AB2CD-5D87-15F9-566F-1754871121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3AB2CD-5D87-15F9-566F-1754871121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A31F601-2E6D-D3BA-B4BE-D1A375F76FF3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18A68F-6C00-3AEF-B567-9B88B70ACA55}"/>
              </a:ext>
            </a:extLst>
          </p:cNvPr>
          <p:cNvSpPr txBox="1"/>
          <p:nvPr/>
        </p:nvSpPr>
        <p:spPr>
          <a:xfrm>
            <a:off x="6463966" y="864211"/>
            <a:ext cx="4487897" cy="6093976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resumeJson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":{</a:t>
            </a: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"Profile":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"name": "Juan Jose Carin",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"email": "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juanjose.carin@gmail.com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linkedin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"linkedin.com/in/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juanjosecarin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  },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"Summary":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summary_points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[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   "Experienced data scientist with analytical background."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     ]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 },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"Education": [</a:t>
            </a: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  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"institution": "University of California, Berkeley",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 "degree": "MIDS",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gpa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"3.93"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     }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],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"Experience": [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   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"title": "Data Scientist",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"company": "CONENTO",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"dates": "2016",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         "description": [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            "Built ETL pipelines and predictive models."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        ]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   }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 ],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"Activities": [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  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 "name": "LLM Evaluation Harness",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    }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 ],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"Skills":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"skills": ["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Python","RAG""Data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Analysis", "Machine Learning"],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 }</a:t>
            </a: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cs typeface="Poppins Light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DC0868-3C4B-49AA-AAE0-E0A41F3BF676}"/>
              </a:ext>
            </a:extLst>
          </p:cNvPr>
          <p:cNvSpPr/>
          <p:nvPr/>
        </p:nvSpPr>
        <p:spPr>
          <a:xfrm>
            <a:off x="525114" y="861848"/>
            <a:ext cx="5407722" cy="5830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81AA92-6F39-41F7-349D-E69892095522}"/>
              </a:ext>
            </a:extLst>
          </p:cNvPr>
          <p:cNvSpPr/>
          <p:nvPr/>
        </p:nvSpPr>
        <p:spPr>
          <a:xfrm>
            <a:off x="525114" y="859879"/>
            <a:ext cx="5379147" cy="5187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>
                <a:cs typeface="Poppins Light"/>
              </a:rPr>
              <a:t>Input payload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A2E3A43C-5C52-77D3-AB4D-28AE33BB8551}"/>
              </a:ext>
            </a:extLst>
          </p:cNvPr>
          <p:cNvSpPr txBox="1"/>
          <p:nvPr/>
        </p:nvSpPr>
        <p:spPr>
          <a:xfrm>
            <a:off x="2020841" y="2995056"/>
            <a:ext cx="2688935" cy="2292935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{</a:t>
            </a:r>
            <a:endParaRPr lang="en-US" sz="11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1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outputLang</a:t>
            </a:r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": "</a:t>
            </a:r>
            <a:r>
              <a:rPr lang="en-US" sz="1100" err="1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en</a:t>
            </a:r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",</a:t>
            </a:r>
            <a:endParaRPr lang="en-US" sz="11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</a:t>
            </a:r>
            <a:r>
              <a:rPr lang="en-US" sz="1100">
                <a:solidFill>
                  <a:schemeClr val="bg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 "</a:t>
            </a:r>
            <a:r>
              <a:rPr lang="en-US" sz="1100" err="1">
                <a:solidFill>
                  <a:schemeClr val="bg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targetRole</a:t>
            </a:r>
            <a:r>
              <a:rPr lang="en-US" sz="1100">
                <a:solidFill>
                  <a:schemeClr val="bg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": "</a:t>
            </a:r>
            <a:r>
              <a:rPr lang="en-US" sz="1100" err="1">
                <a:solidFill>
                  <a:schemeClr val="bg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role#ai_engineer</a:t>
            </a:r>
            <a:r>
              <a:rPr lang="en-US" sz="1100">
                <a:solidFill>
                  <a:schemeClr val="bg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",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1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resumeJson</a:t>
            </a:r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": {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    "Profile": {},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    "Summary":{},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    "Education":[],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    "Experience": [], 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    "Activity": [], 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    "Skills": {}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    }</a:t>
            </a:r>
            <a:endParaRPr lang="en-US" sz="11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}</a:t>
            </a:r>
            <a:endParaRPr lang="en-US" sz="11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endParaRPr lang="en-US" sz="1100">
              <a:solidFill>
                <a:schemeClr val="bg1"/>
              </a:solidFill>
              <a:cs typeface="Poppins Light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E78F25B6-CC4D-CE1B-419B-949828B8C1C6}"/>
              </a:ext>
            </a:extLst>
          </p:cNvPr>
          <p:cNvSpPr txBox="1"/>
          <p:nvPr/>
        </p:nvSpPr>
        <p:spPr>
          <a:xfrm>
            <a:off x="522317" y="6211437"/>
            <a:ext cx="4331464" cy="369332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 Resume Evaluation Orchestrator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91F8DC22-613C-4784-C55A-C4B0A3DD9A5D}"/>
              </a:ext>
            </a:extLst>
          </p:cNvPr>
          <p:cNvSpPr txBox="1"/>
          <p:nvPr/>
        </p:nvSpPr>
        <p:spPr>
          <a:xfrm>
            <a:off x="630190" y="1385330"/>
            <a:ext cx="5194010" cy="1277273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The evaluation API accepts a lightweight request wrapper and a structured resume body.  The wrapper controls evaluation behavior, while the resume body contains the actual CV content.</a:t>
            </a:r>
          </a:p>
          <a:p>
            <a:r>
              <a:rPr lang="en-US" sz="1100">
                <a:solidFill>
                  <a:schemeClr val="bg1"/>
                </a:solidFill>
                <a:cs typeface="Poppins Light"/>
              </a:rPr>
              <a:t>Key point:</a:t>
            </a:r>
          </a:p>
          <a:p>
            <a:r>
              <a:rPr lang="en-US" sz="1100">
                <a:solidFill>
                  <a:schemeClr val="bg1"/>
                </a:solidFill>
                <a:cs typeface="Poppins Light"/>
              </a:rPr>
              <a:t>    - Actual resume content</a:t>
            </a:r>
          </a:p>
          <a:p>
            <a:r>
              <a:rPr lang="en-US" sz="1100">
                <a:solidFill>
                  <a:schemeClr val="bg1"/>
                </a:solidFill>
                <a:cs typeface="Poppins Light"/>
              </a:rPr>
              <a:t>    - Flexible : missing sections are allowed</a:t>
            </a:r>
          </a:p>
          <a:p>
            <a:r>
              <a:rPr lang="en-US" sz="1100">
                <a:solidFill>
                  <a:schemeClr val="bg1"/>
                </a:solidFill>
                <a:cs typeface="Poppins Light"/>
              </a:rPr>
              <a:t>    - Used as the main input for scoring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A2F757E-D843-8952-9C31-EA30B8885EA3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Resume Evaluation Input Structure</a:t>
            </a:r>
            <a:endParaRPr lang="en-US">
              <a:solidFill>
                <a:srgbClr val="519BC9"/>
              </a:solidFill>
              <a:ea typeface="+mj-lt"/>
              <a:cs typeface="+mj-lt"/>
            </a:endParaRP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BE60D3FF-AA6C-BC30-B694-E98EDE7AD2A9}"/>
              </a:ext>
            </a:extLst>
          </p:cNvPr>
          <p:cNvCxnSpPr>
            <a:cxnSpLocks/>
          </p:cNvCxnSpPr>
          <p:nvPr/>
        </p:nvCxnSpPr>
        <p:spPr>
          <a:xfrm flipV="1">
            <a:off x="3381375" y="1080445"/>
            <a:ext cx="2986427" cy="2529530"/>
          </a:xfrm>
          <a:prstGeom prst="bentConnector3">
            <a:avLst>
              <a:gd name="adj1" fmla="val 88592"/>
            </a:avLst>
          </a:prstGeom>
          <a:ln w="19050" cap="flat" cmpd="sng" algn="ctr">
            <a:solidFill>
              <a:srgbClr val="FF7E7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Arrow: Right 1">
            <a:extLst>
              <a:ext uri="{FF2B5EF4-FFF2-40B4-BE49-F238E27FC236}">
                <a16:creationId xmlns:a16="http://schemas.microsoft.com/office/drawing/2014/main" id="{8258A4FB-6B27-4337-D9F9-048592043F56}"/>
              </a:ext>
            </a:extLst>
          </p:cNvPr>
          <p:cNvSpPr/>
          <p:nvPr/>
        </p:nvSpPr>
        <p:spPr>
          <a:xfrm>
            <a:off x="1240137" y="3259681"/>
            <a:ext cx="896129" cy="369332"/>
          </a:xfrm>
          <a:prstGeom prst="rightArrow">
            <a:avLst/>
          </a:prstGeom>
          <a:solidFill>
            <a:srgbClr val="FF7E79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751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E2B22-7E14-FBDC-A72F-51E58502B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5B88371-B84D-6FE1-3332-B6BBCEAD37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B88371-B84D-6FE1-3332-B6BBCEAD37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1DAB0686-B903-DD40-4F4C-24DE397E86B3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4A75F8-C510-C1A7-7BE5-AFA05FF36BBD}"/>
              </a:ext>
            </a:extLst>
          </p:cNvPr>
          <p:cNvSpPr txBox="1"/>
          <p:nvPr/>
        </p:nvSpPr>
        <p:spPr>
          <a:xfrm>
            <a:off x="6463966" y="864211"/>
            <a:ext cx="4487897" cy="6093976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resumeJson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":{</a:t>
            </a: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"Profile":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"name": "Juan Jose Carin",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"email": "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juanjose.carin@gmail.com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linkedin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"linkedin.com/in/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juanjosecarin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  },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"Summary":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summary_points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[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   "Experienced data scientist with analytical background."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     ]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 },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"Education": [</a:t>
            </a: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  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"institution": "University of California, Berkeley",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 "degree": "MIDS",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gpa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"3.93"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     }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],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"Experience": [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   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"title": "Data Scientist",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"company": "CONENTO",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"dates": "2016",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         "description": [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            "Built ETL pipelines and predictive models."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        ]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   }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 ],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"Activities": [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  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 "name": "LLM Evaluation Harness",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    }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 ],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"Skills":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"skills": ["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Python","RAG""Data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Analysis", "Machine Learning"],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 }</a:t>
            </a: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cs typeface="Poppins Light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49239F-0843-CCE5-A951-FFDE59B5E373}"/>
              </a:ext>
            </a:extLst>
          </p:cNvPr>
          <p:cNvSpPr/>
          <p:nvPr/>
        </p:nvSpPr>
        <p:spPr>
          <a:xfrm>
            <a:off x="525114" y="861848"/>
            <a:ext cx="5407722" cy="5830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B5A96E-F139-822D-1430-291776E6ECB5}"/>
              </a:ext>
            </a:extLst>
          </p:cNvPr>
          <p:cNvSpPr/>
          <p:nvPr/>
        </p:nvSpPr>
        <p:spPr>
          <a:xfrm>
            <a:off x="525114" y="859879"/>
            <a:ext cx="5379147" cy="5187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>
                <a:cs typeface="Poppins Light"/>
              </a:rPr>
              <a:t>Input payload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C2F8C704-2858-ED4D-A670-19E2387C973D}"/>
              </a:ext>
            </a:extLst>
          </p:cNvPr>
          <p:cNvSpPr txBox="1"/>
          <p:nvPr/>
        </p:nvSpPr>
        <p:spPr>
          <a:xfrm>
            <a:off x="2020841" y="2995056"/>
            <a:ext cx="2422235" cy="2123658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{</a:t>
            </a:r>
            <a:endParaRPr lang="en-US" sz="11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1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outputLang</a:t>
            </a:r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": "</a:t>
            </a:r>
            <a:r>
              <a:rPr lang="en-US" sz="1100" err="1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en</a:t>
            </a:r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",</a:t>
            </a:r>
            <a:endParaRPr lang="en-US" sz="11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1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resumeJson</a:t>
            </a:r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": {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    "Profile": {},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    "Summary":{},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    "Education":[],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    "Experience": [], 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    "Activity": [], 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    "Skills": {}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    }</a:t>
            </a:r>
            <a:endParaRPr lang="en-US" sz="11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}</a:t>
            </a:r>
            <a:endParaRPr lang="en-US" sz="11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endParaRPr lang="en-US" sz="110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E88FC70D-7B5E-6F63-C507-9D9EC3D05EA4}"/>
              </a:ext>
            </a:extLst>
          </p:cNvPr>
          <p:cNvSpPr txBox="1"/>
          <p:nvPr/>
        </p:nvSpPr>
        <p:spPr>
          <a:xfrm>
            <a:off x="522317" y="6211437"/>
            <a:ext cx="4331464" cy="369332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 Resume Evaluation Orchestrator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0B2A2253-5ACA-16B4-B85B-D37ACF6078A2}"/>
              </a:ext>
            </a:extLst>
          </p:cNvPr>
          <p:cNvSpPr txBox="1"/>
          <p:nvPr/>
        </p:nvSpPr>
        <p:spPr>
          <a:xfrm>
            <a:off x="630190" y="1385330"/>
            <a:ext cx="5194010" cy="1277273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The evaluation API accepts a lightweight request wrapper and a structured resume body.  The wrapper controls evaluation behavior, while the resume body contains the actual CV content.</a:t>
            </a:r>
          </a:p>
          <a:p>
            <a:r>
              <a:rPr lang="en-US" sz="1100">
                <a:solidFill>
                  <a:schemeClr val="bg1"/>
                </a:solidFill>
                <a:cs typeface="Poppins Light"/>
              </a:rPr>
              <a:t>Key point:</a:t>
            </a:r>
          </a:p>
          <a:p>
            <a:r>
              <a:rPr lang="en-US" sz="1100">
                <a:solidFill>
                  <a:schemeClr val="bg1"/>
                </a:solidFill>
                <a:cs typeface="Poppins Light"/>
              </a:rPr>
              <a:t>    - Actual resume content</a:t>
            </a:r>
          </a:p>
          <a:p>
            <a:r>
              <a:rPr lang="en-US" sz="1100">
                <a:solidFill>
                  <a:schemeClr val="bg1"/>
                </a:solidFill>
                <a:cs typeface="Poppins Light"/>
              </a:rPr>
              <a:t>    - Flexible : missing sections are allowed</a:t>
            </a:r>
          </a:p>
          <a:p>
            <a:r>
              <a:rPr lang="en-US" sz="1100">
                <a:solidFill>
                  <a:schemeClr val="bg1"/>
                </a:solidFill>
                <a:cs typeface="Poppins Light"/>
              </a:rPr>
              <a:t>    - Used as the main input for scoring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0C871A30-C184-1829-9DC3-C9668D612F34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Resume Evaluation Input Structure</a:t>
            </a:r>
            <a:endParaRPr lang="en-US">
              <a:solidFill>
                <a:srgbClr val="519BC9"/>
              </a:solidFill>
              <a:ea typeface="+mj-lt"/>
              <a:cs typeface="+mj-lt"/>
            </a:endParaRP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DAF58DDC-BEC8-D8A2-E199-C375E61BB364}"/>
              </a:ext>
            </a:extLst>
          </p:cNvPr>
          <p:cNvCxnSpPr>
            <a:cxnSpLocks/>
          </p:cNvCxnSpPr>
          <p:nvPr/>
        </p:nvCxnSpPr>
        <p:spPr>
          <a:xfrm flipV="1">
            <a:off x="3390900" y="1080445"/>
            <a:ext cx="2976902" cy="2348555"/>
          </a:xfrm>
          <a:prstGeom prst="bentConnector3">
            <a:avLst>
              <a:gd name="adj1" fmla="val 88396"/>
            </a:avLst>
          </a:prstGeom>
          <a:ln w="19050" cap="flat" cmpd="sng" algn="ctr">
            <a:solidFill>
              <a:srgbClr val="FF7E7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867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89D49-96FB-2EDE-F8E9-F40F58229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5FDBAFA-6097-805F-33FF-4812929EA93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5FDBAFA-6097-805F-33FF-4812929EA9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E52ED67-A362-A449-74BD-57916D1437CC}"/>
              </a:ext>
            </a:extLst>
          </p:cNvPr>
          <p:cNvSpPr/>
          <p:nvPr/>
        </p:nvSpPr>
        <p:spPr>
          <a:xfrm>
            <a:off x="5952891" y="1023774"/>
            <a:ext cx="5322539" cy="55768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703FF6-C6C3-866D-49FC-744E2BE12A41}"/>
              </a:ext>
            </a:extLst>
          </p:cNvPr>
          <p:cNvSpPr/>
          <p:nvPr/>
        </p:nvSpPr>
        <p:spPr>
          <a:xfrm>
            <a:off x="420339" y="1023774"/>
            <a:ext cx="5322539" cy="55768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B4794BA-7AE3-8FBE-0695-06E946C8B020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 err="1">
                <a:solidFill>
                  <a:srgbClr val="519BC9"/>
                </a:solidFill>
                <a:latin typeface="Poppins Light"/>
                <a:cs typeface="Poppins Light"/>
              </a:rPr>
              <a:t>CVResume</a:t>
            </a: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Target Role Comparison</a:t>
            </a:r>
            <a:endParaRPr lang="en-US" sz="24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CF652D-84AD-71A7-B9E5-2B33829650BE}"/>
              </a:ext>
            </a:extLst>
          </p:cNvPr>
          <p:cNvSpPr txBox="1"/>
          <p:nvPr/>
        </p:nvSpPr>
        <p:spPr>
          <a:xfrm>
            <a:off x="527935" y="1026397"/>
            <a:ext cx="5105401" cy="5786199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status":"success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 "data":{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conclusion":"conclusion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{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globalGrade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"A",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totalWeightedRawScore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17.6,</a:t>
            </a:r>
          </a:p>
          <a:p>
            <a:r>
              <a:rPr lang="en-US" sz="1000">
                <a:solidFill>
                  <a:schemeClr val="bg1"/>
                </a:solidFill>
                <a:cs typeface="Poppins Light"/>
              </a:rPr>
              <a:t>      </a:t>
            </a:r>
            <a:r>
              <a:rPr lang="en-US" sz="1000">
                <a:solidFill>
                  <a:schemeClr val="bg1"/>
                </a:solidFill>
                <a:highlight>
                  <a:srgbClr val="00FFFF"/>
                </a:highlight>
                <a:cs typeface="Poppins Light"/>
              </a:rPr>
              <a:t>"</a:t>
            </a:r>
            <a:r>
              <a:rPr lang="en-US" sz="1000" err="1">
                <a:solidFill>
                  <a:schemeClr val="bg1"/>
                </a:solidFill>
                <a:highlight>
                  <a:srgbClr val="00FFFF"/>
                </a:highlight>
                <a:cs typeface="Poppins Light"/>
              </a:rPr>
              <a:t>totalWeightedMaxScore</a:t>
            </a:r>
            <a:r>
              <a:rPr lang="en-US" sz="1000">
                <a:solidFill>
                  <a:schemeClr val="bg1"/>
                </a:solidFill>
                <a:highlight>
                  <a:srgbClr val="00FFFF"/>
                </a:highlight>
                <a:cs typeface="Poppins Light"/>
              </a:rPr>
              <a:t>": 20,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totalSectionWeight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1,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sectionContribution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{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"Profile": {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sessionGrade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"A+",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totalSectionRawScore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20,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totalSectionMaxScore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20,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sectionWeight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0.1,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totalSectionRawScoreXWeight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2,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totalSectionMaxScoreXWeight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2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},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    ...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"Skills": {}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},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globalfeedback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"This resume effectively presents a strong candidate …. structure, detailed achievements, and robust technical skills, requiring no immediate improvements."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},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sectionDetail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":{</a:t>
            </a:r>
          </a:p>
          <a:p>
            <a:endParaRPr lang="en-US" sz="10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             },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 },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 "correlationId":"corr_ec0707b9b0e04b91a5cc81c8725db5a6",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 "metadata":{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 "modelName":"gemini-2.5-flash",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 "timestamp":"2026-01-18 23:49:24.235242+07:00",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 "weightsVersion":"weights_v1",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promptVersion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"prompt_v2"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 }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}</a:t>
            </a:r>
          </a:p>
          <a:p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B12024-E7CE-92C0-C041-097CC89F0F11}"/>
              </a:ext>
            </a:extLst>
          </p:cNvPr>
          <p:cNvSpPr txBox="1"/>
          <p:nvPr/>
        </p:nvSpPr>
        <p:spPr>
          <a:xfrm>
            <a:off x="6100634" y="1026396"/>
            <a:ext cx="5105401" cy="5786199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status":"success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 "data":{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conclusion":"conclusion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{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globalGrade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"A+",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totalWeightedRawScore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27,</a:t>
            </a:r>
          </a:p>
          <a:p>
            <a:r>
              <a:rPr lang="en-US" sz="1000">
                <a:solidFill>
                  <a:schemeClr val="bg1"/>
                </a:solidFill>
                <a:cs typeface="Poppins Light"/>
              </a:rPr>
              <a:t>      </a:t>
            </a:r>
            <a:r>
              <a:rPr lang="en-US" sz="1000">
                <a:solidFill>
                  <a:schemeClr val="bg1"/>
                </a:solidFill>
                <a:highlight>
                  <a:srgbClr val="00FFFF"/>
                </a:highlight>
                <a:cs typeface="Poppins Light"/>
              </a:rPr>
              <a:t>"</a:t>
            </a:r>
            <a:r>
              <a:rPr lang="en-US" sz="1000" err="1">
                <a:solidFill>
                  <a:schemeClr val="bg1"/>
                </a:solidFill>
                <a:highlight>
                  <a:srgbClr val="00FFFF"/>
                </a:highlight>
                <a:cs typeface="Poppins Light"/>
              </a:rPr>
              <a:t>totalWeightedMaxScore</a:t>
            </a:r>
            <a:r>
              <a:rPr lang="en-US" sz="1000">
                <a:solidFill>
                  <a:schemeClr val="bg1"/>
                </a:solidFill>
                <a:highlight>
                  <a:srgbClr val="00FFFF"/>
                </a:highlight>
                <a:cs typeface="Poppins Light"/>
              </a:rPr>
              <a:t>": 28,</a:t>
            </a:r>
            <a:endParaRPr lang="en-US" sz="1000">
              <a:solidFill>
                <a:schemeClr val="bg1"/>
              </a:solidFill>
              <a:highlight>
                <a:srgbClr val="00FFFF"/>
              </a:highlight>
            </a:endParaRP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totalSectionWeight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1,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sectionContribution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{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"Profile": {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sessionGrade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"A+",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totalSectionRawScore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20,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totalSectionMaxScore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20,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sectionWeight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0.1,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totalSectionRawScoreXWeight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2,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totalSectionMaxScoreXWeight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2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},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    ...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"Skills": {}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},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globalfeedback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"This resume effectively presents a strong candidate …. structure, detailed achievements, and robust technical skills, requiring no immediate improvements."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},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sectionDetail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":{</a:t>
            </a:r>
          </a:p>
          <a:p>
            <a:endParaRPr lang="en-US" sz="10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             },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 },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 "correlationId":"corr_ec0707b9b0e04b91a5cc81c8725db5a6",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 "metadata":{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 "modelName":"gemini-2.5-flash",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 "timestamp":"2026-01-18 23:49:24.235242+07:00",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 "weightsVersion":"weights_v1",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promptVersion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"prompt_v2"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 }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}</a:t>
            </a:r>
          </a:p>
          <a:p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8A1D22-A288-6C2A-CCD1-45D08586BF07}"/>
              </a:ext>
            </a:extLst>
          </p:cNvPr>
          <p:cNvSpPr txBox="1"/>
          <p:nvPr/>
        </p:nvSpPr>
        <p:spPr>
          <a:xfrm>
            <a:off x="3324159" y="1026135"/>
            <a:ext cx="2422235" cy="1785104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 w="952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{</a:t>
            </a:r>
            <a:endParaRPr lang="en-US" sz="1000">
              <a:solidFill>
                <a:schemeClr val="bg1"/>
              </a:solidFill>
            </a:endParaRP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000" err="1">
                <a:solidFill>
                  <a:schemeClr val="bg1"/>
                </a:solidFill>
                <a:ea typeface="+mn-lt"/>
                <a:cs typeface="+mn-lt"/>
              </a:rPr>
              <a:t>outputLang</a:t>
            </a:r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"</a:t>
            </a:r>
            <a:r>
              <a:rPr lang="en-US" sz="1000" err="1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en</a:t>
            </a:r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",</a:t>
            </a:r>
            <a:endParaRPr lang="en-US" sz="1000">
              <a:solidFill>
                <a:schemeClr val="bg1"/>
              </a:solidFill>
            </a:endParaRP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000" err="1">
                <a:solidFill>
                  <a:schemeClr val="bg1"/>
                </a:solidFill>
                <a:ea typeface="+mn-lt"/>
                <a:cs typeface="+mn-lt"/>
              </a:rPr>
              <a:t>resumeJson</a:t>
            </a:r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{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"Profile": {},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"Summary":{},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"Education":[],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"Experience": [], 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"Activity": [], 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"Skills": {}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}</a:t>
            </a:r>
            <a:endParaRPr lang="en-US" sz="1000">
              <a:solidFill>
                <a:schemeClr val="bg1"/>
              </a:solidFill>
            </a:endParaRP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}</a:t>
            </a:r>
            <a:endParaRPr lang="en-US" sz="1000">
              <a:solidFill>
                <a:schemeClr val="bg1"/>
              </a:solidFill>
              <a:cs typeface="Poppins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222096-1450-18A4-7659-2F2800A6249C}"/>
              </a:ext>
            </a:extLst>
          </p:cNvPr>
          <p:cNvSpPr txBox="1"/>
          <p:nvPr/>
        </p:nvSpPr>
        <p:spPr>
          <a:xfrm>
            <a:off x="8850955" y="1026135"/>
            <a:ext cx="2422235" cy="1938992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 w="952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{</a:t>
            </a:r>
            <a:endParaRPr lang="en-US" sz="1000">
              <a:solidFill>
                <a:schemeClr val="bg1"/>
              </a:solidFill>
            </a:endParaRP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000" err="1">
                <a:solidFill>
                  <a:schemeClr val="bg1"/>
                </a:solidFill>
                <a:ea typeface="+mn-lt"/>
                <a:cs typeface="+mn-lt"/>
              </a:rPr>
              <a:t>outputLang</a:t>
            </a:r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"</a:t>
            </a:r>
            <a:r>
              <a:rPr lang="en-US" sz="1000" err="1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en</a:t>
            </a:r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",</a:t>
            </a:r>
            <a:endParaRPr lang="en-US" sz="1000">
              <a:solidFill>
                <a:schemeClr val="bg1"/>
              </a:solidFill>
            </a:endParaRP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000" b="1" err="1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targetRole</a:t>
            </a:r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</a:t>
            </a:r>
            <a:r>
              <a:rPr lang="en-US" sz="1000">
                <a:solidFill>
                  <a:schemeClr val="bg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"</a:t>
            </a:r>
            <a:r>
              <a:rPr lang="en-US" sz="1000" err="1">
                <a:solidFill>
                  <a:schemeClr val="bg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role#ai_engineer</a:t>
            </a:r>
            <a:r>
              <a:rPr lang="en-US" sz="1000">
                <a:solidFill>
                  <a:schemeClr val="bg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",</a:t>
            </a:r>
            <a:endParaRPr lang="en-US" sz="1000">
              <a:solidFill>
                <a:schemeClr val="bg1"/>
              </a:solidFill>
              <a:highlight>
                <a:srgbClr val="FFFF00"/>
              </a:highlight>
            </a:endParaRP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000" err="1">
                <a:solidFill>
                  <a:schemeClr val="bg1"/>
                </a:solidFill>
                <a:ea typeface="+mn-lt"/>
                <a:cs typeface="+mn-lt"/>
              </a:rPr>
              <a:t>resumeJson</a:t>
            </a:r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{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"Profile": {},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"Summary":{},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"Education":[],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"Experience": [], 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"Activity": [], 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"Skills": {}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}</a:t>
            </a:r>
            <a:endParaRPr lang="en-US" sz="1000">
              <a:solidFill>
                <a:schemeClr val="bg1"/>
              </a:solidFill>
            </a:endParaRP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}</a:t>
            </a:r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114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D0D94-2EF9-22C8-F36B-B691CDECF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9F74081-126E-F214-3502-1537B2EBEB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F74081-126E-F214-3502-1537B2EBEB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958A356-41D2-2F7A-F885-453CD208F257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9FD1282-112E-3866-1717-599349748898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 err="1">
                <a:solidFill>
                  <a:srgbClr val="519BC9"/>
                </a:solidFill>
                <a:cs typeface="Poppins Light"/>
              </a:rPr>
              <a:t>CVResume</a:t>
            </a:r>
            <a:r>
              <a:rPr lang="en-US" sz="2400">
                <a:solidFill>
                  <a:srgbClr val="519BC9"/>
                </a:solidFill>
                <a:cs typeface="Poppins Light"/>
              </a:rPr>
              <a:t> evaluation</a:t>
            </a:r>
            <a:r>
              <a:rPr lang="en-TH" sz="2400">
                <a:solidFill>
                  <a:srgbClr val="519BC9"/>
                </a:solidFill>
              </a:rPr>
              <a:t> 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Target Role Comparison</a:t>
            </a:r>
            <a:endParaRPr lang="en-US" sz="2400">
              <a:solidFill>
                <a:srgbClr val="519BC9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E55FCE-BF1D-EB2E-7C9B-17A665FE75B3}"/>
              </a:ext>
            </a:extLst>
          </p:cNvPr>
          <p:cNvSpPr/>
          <p:nvPr/>
        </p:nvSpPr>
        <p:spPr>
          <a:xfrm>
            <a:off x="525114" y="861848"/>
            <a:ext cx="5407722" cy="5830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93876E-8FDB-AB59-C642-E6E1E989F1E3}"/>
              </a:ext>
            </a:extLst>
          </p:cNvPr>
          <p:cNvSpPr txBox="1"/>
          <p:nvPr/>
        </p:nvSpPr>
        <p:spPr>
          <a:xfrm>
            <a:off x="6286206" y="864814"/>
            <a:ext cx="5412164" cy="6086282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"</a:t>
            </a:r>
            <a:r>
              <a:rPr lang="en-US" sz="950" err="1">
                <a:solidFill>
                  <a:schemeClr val="bg1"/>
                </a:solidFill>
                <a:ea typeface="+mn-lt"/>
                <a:cs typeface="+mn-lt"/>
              </a:rPr>
              <a:t>sectionDetail</a:t>
            </a:r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":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{</a:t>
            </a: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"</a:t>
            </a:r>
            <a:r>
              <a:rPr lang="en-US" sz="950" b="1">
                <a:solidFill>
                  <a:schemeClr val="bg1"/>
                </a:solidFill>
                <a:ea typeface="+mn-lt"/>
                <a:cs typeface="+mn-lt"/>
              </a:rPr>
              <a:t>Profile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{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...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},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    "</a:t>
            </a:r>
            <a:r>
              <a:rPr lang="en-US" sz="950" b="1">
                <a:solidFill>
                  <a:schemeClr val="bg1"/>
                </a:solidFill>
                <a:ea typeface="+mn-lt"/>
                <a:cs typeface="+mn-lt"/>
              </a:rPr>
              <a:t>Summary</a:t>
            </a:r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": {</a:t>
            </a:r>
            <a:endParaRPr lang="en-US" sz="950">
              <a:solidFill>
                <a:schemeClr val="bg1"/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     "</a:t>
            </a:r>
            <a:r>
              <a:rPr lang="en-US" sz="95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totalSectionRawScore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46,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"</a:t>
            </a:r>
            <a:r>
              <a:rPr lang="en-US" sz="95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totalSectionMaxScore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50,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        "scores": {</a:t>
            </a:r>
          </a:p>
          <a:p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            </a:t>
            </a:r>
            <a:r>
              <a:rPr lang="en-US" sz="950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"</a:t>
            </a:r>
            <a:r>
              <a:rPr lang="en-US" sz="950" b="1" err="1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RoleRelevance</a:t>
            </a:r>
            <a:r>
              <a:rPr lang="en-US" sz="950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": {</a:t>
            </a:r>
          </a:p>
          <a:p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                </a:t>
            </a:r>
            <a:r>
              <a:rPr lang="en-US" sz="950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"score":6,</a:t>
            </a:r>
          </a:p>
          <a:p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               </a:t>
            </a:r>
            <a:r>
              <a:rPr lang="en-US" sz="950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 "feedback": "The summary ....  focusing more on data analysis than AI development."</a:t>
            </a:r>
          </a:p>
          <a:p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                    </a:t>
            </a:r>
            <a:r>
              <a:rPr lang="en-US" sz="950">
                <a:solidFill>
                  <a:schemeClr val="bg1"/>
                </a:solidFill>
                <a:highlight>
                  <a:srgbClr val="FFFF00"/>
                </a:highlight>
                <a:ea typeface="+mn-lt"/>
                <a:cs typeface="+mn-lt"/>
              </a:rPr>
              <a:t>},</a:t>
            </a: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     "</a:t>
            </a:r>
            <a:r>
              <a:rPr lang="en-US" sz="950" b="1">
                <a:solidFill>
                  <a:schemeClr val="bg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Length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{</a:t>
            </a: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"score": 10,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"feedback": "The summary is concise, fitting within ….... conveys key information."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     },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"</a:t>
            </a:r>
            <a:r>
              <a:rPr lang="en-US" sz="950" b="1">
                <a:solidFill>
                  <a:schemeClr val="bg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Grammar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{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     "score": 10,</a:t>
            </a: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"feedback": "The writing is clear, professional, …., enhancing readability."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     },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"</a:t>
            </a:r>
            <a:r>
              <a:rPr lang="en-US" sz="950" b="1" err="1">
                <a:solidFill>
                  <a:schemeClr val="bg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ContentQuality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{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"score": 10,</a:t>
            </a: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"feedback": "The content is highly specific, …. achievements and relevant technical skills."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     },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"</a:t>
            </a:r>
            <a:r>
              <a:rPr lang="en-US" sz="950" b="1">
                <a:solidFill>
                  <a:schemeClr val="bg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Completeness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{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"score": 10,</a:t>
            </a: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"feedback": "It clearly defines the candidate's.... experiences, and states relevant skills."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     }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},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"</a:t>
            </a:r>
            <a:r>
              <a:rPr lang="en-US" sz="950" b="1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sectionFeedbak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"This summary 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effe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.......,  a strong value proposition for the target role."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"</a:t>
            </a:r>
            <a:r>
              <a:rPr lang="en-US" sz="950" b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Education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{ … 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"</a:t>
            </a:r>
            <a:r>
              <a:rPr lang="en-US" sz="950" b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Experience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{ … 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"</a:t>
            </a:r>
            <a:r>
              <a:rPr lang="en-US" sz="950" b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Activities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{ … 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"</a:t>
            </a:r>
            <a:r>
              <a:rPr lang="en-US" sz="950" b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Skills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{ … },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}</a:t>
            </a:r>
          </a:p>
          <a:p>
            <a:endParaRPr lang="en-US" sz="950">
              <a:solidFill>
                <a:schemeClr val="bg1"/>
              </a:solidFill>
              <a:cs typeface="Poppins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699D92-8573-8604-86A1-318DA74FC108}"/>
              </a:ext>
            </a:extLst>
          </p:cNvPr>
          <p:cNvSpPr txBox="1"/>
          <p:nvPr/>
        </p:nvSpPr>
        <p:spPr>
          <a:xfrm>
            <a:off x="529472" y="864814"/>
            <a:ext cx="5412164" cy="5355312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"</a:t>
            </a:r>
            <a:r>
              <a:rPr lang="en-US" sz="950" err="1">
                <a:solidFill>
                  <a:schemeClr val="bg1"/>
                </a:solidFill>
                <a:ea typeface="+mn-lt"/>
                <a:cs typeface="+mn-lt"/>
              </a:rPr>
              <a:t>sectionDetail</a:t>
            </a:r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":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{</a:t>
            </a: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"</a:t>
            </a:r>
            <a:r>
              <a:rPr lang="en-US" sz="950" b="1">
                <a:solidFill>
                  <a:schemeClr val="bg1"/>
                </a:solidFill>
                <a:ea typeface="+mn-lt"/>
                <a:cs typeface="+mn-lt"/>
              </a:rPr>
              <a:t>Profile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{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...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},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    "</a:t>
            </a:r>
            <a:r>
              <a:rPr lang="en-US" sz="950" b="1">
                <a:solidFill>
                  <a:schemeClr val="bg1"/>
                </a:solidFill>
                <a:ea typeface="+mn-lt"/>
                <a:cs typeface="+mn-lt"/>
              </a:rPr>
              <a:t>Summary</a:t>
            </a:r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": {</a:t>
            </a:r>
            <a:endParaRPr lang="en-US" sz="950">
              <a:solidFill>
                <a:schemeClr val="bg1"/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     "</a:t>
            </a:r>
            <a:r>
              <a:rPr lang="en-US" sz="95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totalSectionRawScore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46,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"</a:t>
            </a:r>
            <a:r>
              <a:rPr lang="en-US" sz="95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totalSectionMaxScore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50,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ea typeface="+mn-lt"/>
                <a:cs typeface="+mn-lt"/>
              </a:rPr>
              <a:t>        "scores": {</a:t>
            </a: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     "</a:t>
            </a:r>
            <a:r>
              <a:rPr lang="en-US" sz="950" b="1">
                <a:solidFill>
                  <a:schemeClr val="bg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Length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{</a:t>
            </a: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"score": 10,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"feedback": "The summary is concise, fitting within ….... conveys key information."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     },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"</a:t>
            </a:r>
            <a:r>
              <a:rPr lang="en-US" sz="950" b="1">
                <a:solidFill>
                  <a:schemeClr val="bg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Grammar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{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     "score": 10,</a:t>
            </a: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"feedback": "The writing is clear, professional, …., enhancing readability."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     },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"</a:t>
            </a:r>
            <a:r>
              <a:rPr lang="en-US" sz="950" b="1" err="1">
                <a:solidFill>
                  <a:schemeClr val="bg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ContentQuality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{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"score": 10,</a:t>
            </a: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"feedback": "The content is highly specific, …. achievements and relevant technical skills."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     },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"</a:t>
            </a:r>
            <a:r>
              <a:rPr lang="en-US" sz="950" b="1">
                <a:solidFill>
                  <a:schemeClr val="bg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Completeness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{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"score": 10,</a:t>
            </a: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"feedback": "It clearly defines the candidate's.... experiences, and states relevant skills."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     }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},</a:t>
            </a:r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"</a:t>
            </a:r>
            <a:r>
              <a:rPr lang="en-US" sz="950" b="1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sectionFeedbak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"This summary 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effe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.......,  a strong value proposition for the target role."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"</a:t>
            </a:r>
            <a:r>
              <a:rPr lang="en-US" sz="950" b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Education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{ … 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"</a:t>
            </a:r>
            <a:r>
              <a:rPr lang="en-US" sz="950" b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Experience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{ … 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"</a:t>
            </a:r>
            <a:r>
              <a:rPr lang="en-US" sz="950" b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Activities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{ … 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"</a:t>
            </a:r>
            <a:r>
              <a:rPr lang="en-US" sz="950" b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Skills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{ … },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}</a:t>
            </a:r>
          </a:p>
          <a:p>
            <a:endParaRPr lang="en-US" sz="950">
              <a:solidFill>
                <a:schemeClr val="bg1"/>
              </a:solidFill>
              <a:cs typeface="Poppins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782107-ADFB-B43F-CD09-4E80BFFDA6A9}"/>
              </a:ext>
            </a:extLst>
          </p:cNvPr>
          <p:cNvSpPr txBox="1"/>
          <p:nvPr/>
        </p:nvSpPr>
        <p:spPr>
          <a:xfrm>
            <a:off x="3516674" y="2807607"/>
            <a:ext cx="2422235" cy="1785104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 w="952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{</a:t>
            </a:r>
            <a:endParaRPr lang="en-US" sz="1000">
              <a:solidFill>
                <a:schemeClr val="bg1"/>
              </a:solidFill>
            </a:endParaRP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000" err="1">
                <a:solidFill>
                  <a:schemeClr val="bg1"/>
                </a:solidFill>
                <a:ea typeface="+mn-lt"/>
                <a:cs typeface="+mn-lt"/>
              </a:rPr>
              <a:t>outputLang</a:t>
            </a:r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"</a:t>
            </a:r>
            <a:r>
              <a:rPr lang="en-US" sz="1000" err="1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en</a:t>
            </a:r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",</a:t>
            </a:r>
            <a:endParaRPr lang="en-US" sz="1000">
              <a:solidFill>
                <a:schemeClr val="bg1"/>
              </a:solidFill>
            </a:endParaRP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000" err="1">
                <a:solidFill>
                  <a:schemeClr val="bg1"/>
                </a:solidFill>
                <a:ea typeface="+mn-lt"/>
                <a:cs typeface="+mn-lt"/>
              </a:rPr>
              <a:t>resumeJson</a:t>
            </a:r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{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"Profile": {},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"Summary":{},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"Education":[],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"Experience": [], 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"Activity": [], 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"Skills": {}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}</a:t>
            </a:r>
            <a:endParaRPr lang="en-US" sz="1000">
              <a:solidFill>
                <a:schemeClr val="bg1"/>
              </a:solidFill>
            </a:endParaRP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}</a:t>
            </a:r>
            <a:endParaRPr lang="en-US" sz="1000">
              <a:solidFill>
                <a:schemeClr val="bg1"/>
              </a:solidFill>
              <a:cs typeface="Poppins Ligh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4F7242-2FD3-B942-6278-F102512003C2}"/>
              </a:ext>
            </a:extLst>
          </p:cNvPr>
          <p:cNvSpPr txBox="1"/>
          <p:nvPr/>
        </p:nvSpPr>
        <p:spPr>
          <a:xfrm>
            <a:off x="9321855" y="2807607"/>
            <a:ext cx="2422235" cy="1938992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 w="952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{</a:t>
            </a:r>
            <a:endParaRPr lang="en-US" sz="1000">
              <a:solidFill>
                <a:schemeClr val="bg1"/>
              </a:solidFill>
            </a:endParaRP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000" err="1">
                <a:solidFill>
                  <a:schemeClr val="bg1"/>
                </a:solidFill>
                <a:ea typeface="+mn-lt"/>
                <a:cs typeface="+mn-lt"/>
              </a:rPr>
              <a:t>outputLang</a:t>
            </a:r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"</a:t>
            </a:r>
            <a:r>
              <a:rPr lang="en-US" sz="1000" err="1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en</a:t>
            </a:r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",</a:t>
            </a:r>
            <a:endParaRPr lang="en-US" sz="1000">
              <a:solidFill>
                <a:schemeClr val="bg1"/>
              </a:solidFill>
            </a:endParaRP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000" b="1" err="1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targetRole</a:t>
            </a:r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</a:t>
            </a:r>
            <a:r>
              <a:rPr lang="en-US" sz="1000">
                <a:solidFill>
                  <a:schemeClr val="bg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"</a:t>
            </a:r>
            <a:r>
              <a:rPr lang="en-US" sz="1000" err="1">
                <a:solidFill>
                  <a:schemeClr val="bg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role#ai_engineer</a:t>
            </a:r>
            <a:r>
              <a:rPr lang="en-US" sz="1000">
                <a:solidFill>
                  <a:schemeClr val="bg1"/>
                </a:solidFill>
                <a:highlight>
                  <a:srgbClr val="FFFF00"/>
                </a:highlight>
                <a:latin typeface="Poppins Light"/>
                <a:ea typeface="+mn-lt"/>
                <a:cs typeface="+mn-lt"/>
              </a:rPr>
              <a:t>",</a:t>
            </a:r>
            <a:endParaRPr lang="en-US" sz="1000">
              <a:solidFill>
                <a:schemeClr val="bg1"/>
              </a:solidFill>
              <a:highlight>
                <a:srgbClr val="FFFF00"/>
              </a:highlight>
            </a:endParaRP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000" err="1">
                <a:solidFill>
                  <a:schemeClr val="bg1"/>
                </a:solidFill>
                <a:ea typeface="+mn-lt"/>
                <a:cs typeface="+mn-lt"/>
              </a:rPr>
              <a:t>resumeJson</a:t>
            </a:r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{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"Profile": {},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"Summary":{},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"Education":[],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"Experience": [], 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"Activity": [], 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"Skills": {}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}</a:t>
            </a:r>
            <a:endParaRPr lang="en-US" sz="1000">
              <a:solidFill>
                <a:schemeClr val="bg1"/>
              </a:solidFill>
            </a:endParaRP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}</a:t>
            </a:r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1401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7FDA3-252C-6C96-A2A6-12533B7AD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624A320-12A6-B8A7-D706-D75B7BE8209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624A320-12A6-B8A7-D706-D75B7BE820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0DBDD8C-08E6-85E1-68B3-E2DD25004042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BAD980-A9E2-9C09-4D26-3E2C7849EAF2}"/>
              </a:ext>
            </a:extLst>
          </p:cNvPr>
          <p:cNvSpPr txBox="1"/>
          <p:nvPr/>
        </p:nvSpPr>
        <p:spPr>
          <a:xfrm>
            <a:off x="6463966" y="864211"/>
            <a:ext cx="4487897" cy="6093976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resumeJson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":{</a:t>
            </a: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"Profile":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"name": "Juan Jose Carin",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"email": "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juanjose.carin@gmail.com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linkedin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"linkedin.com/in/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juanjosecarin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  },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"Summary":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summary_points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[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   "Experienced data scientist with analytical background."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     ]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 },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"Education": [</a:t>
            </a: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  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"institution": "University of California, Berkeley",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 "degree": "MIDS",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gpa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"3.93"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     }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],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"Experience": [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   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"title": "Data Scientist",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"company": "CONENTO",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"dates": "2016",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         "description": [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            "Built ETL pipelines and predictive models."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        ]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   }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 ],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"Activities": [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  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 "name": "LLM Evaluation Harness",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    }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 ],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"Skills":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"skills": ["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Python","RAG""Data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Analysis", "Machine Learning"],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 }</a:t>
            </a: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cs typeface="Poppins Light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A7CA1B-4D27-E04F-3934-E8F92CA1C1BF}"/>
              </a:ext>
            </a:extLst>
          </p:cNvPr>
          <p:cNvSpPr/>
          <p:nvPr/>
        </p:nvSpPr>
        <p:spPr>
          <a:xfrm>
            <a:off x="525114" y="861848"/>
            <a:ext cx="5407722" cy="5830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3EF6C2-ED74-6D5A-5FCE-861A665CFDAA}"/>
              </a:ext>
            </a:extLst>
          </p:cNvPr>
          <p:cNvSpPr/>
          <p:nvPr/>
        </p:nvSpPr>
        <p:spPr>
          <a:xfrm>
            <a:off x="525114" y="859879"/>
            <a:ext cx="5379147" cy="5187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>
                <a:cs typeface="Poppins Light"/>
              </a:rPr>
              <a:t>Input payload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03BEDD74-11C9-DC06-CFB3-7CC450A238E2}"/>
              </a:ext>
            </a:extLst>
          </p:cNvPr>
          <p:cNvSpPr txBox="1"/>
          <p:nvPr/>
        </p:nvSpPr>
        <p:spPr>
          <a:xfrm>
            <a:off x="2020841" y="2995056"/>
            <a:ext cx="2688935" cy="2292935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{</a:t>
            </a:r>
            <a:endParaRPr lang="en-US" sz="11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</a:t>
            </a:r>
            <a:r>
              <a:rPr lang="en-US" sz="1100">
                <a:solidFill>
                  <a:schemeClr val="bg1"/>
                </a:solidFill>
                <a:highlight>
                  <a:srgbClr val="00FFFF"/>
                </a:highlight>
                <a:latin typeface="Poppins Light"/>
                <a:ea typeface="+mn-lt"/>
                <a:cs typeface="+mn-lt"/>
              </a:rPr>
              <a:t>"</a:t>
            </a:r>
            <a:r>
              <a:rPr lang="en-US" sz="1100" err="1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outputLang</a:t>
            </a:r>
            <a:r>
              <a:rPr lang="en-US" sz="1100">
                <a:solidFill>
                  <a:schemeClr val="bg1"/>
                </a:solidFill>
                <a:highlight>
                  <a:srgbClr val="00FFFF"/>
                </a:highlight>
                <a:latin typeface="Poppins Light"/>
                <a:ea typeface="+mn-lt"/>
                <a:cs typeface="+mn-lt"/>
              </a:rPr>
              <a:t>": "</a:t>
            </a:r>
            <a:r>
              <a:rPr lang="en-US" sz="1100" err="1">
                <a:solidFill>
                  <a:schemeClr val="bg1"/>
                </a:solidFill>
                <a:highlight>
                  <a:srgbClr val="00FFFF"/>
                </a:highlight>
                <a:latin typeface="Poppins Light"/>
                <a:ea typeface="+mn-lt"/>
                <a:cs typeface="+mn-lt"/>
              </a:rPr>
              <a:t>en</a:t>
            </a:r>
            <a:r>
              <a:rPr lang="en-US" sz="1100">
                <a:solidFill>
                  <a:schemeClr val="bg1"/>
                </a:solidFill>
                <a:highlight>
                  <a:srgbClr val="00FFFF"/>
                </a:highlight>
                <a:latin typeface="Poppins Light"/>
                <a:ea typeface="+mn-lt"/>
                <a:cs typeface="+mn-lt"/>
              </a:rPr>
              <a:t>",</a:t>
            </a:r>
            <a:endParaRPr lang="en-US" sz="1100">
              <a:solidFill>
                <a:schemeClr val="bg1"/>
              </a:solidFill>
              <a:highlight>
                <a:srgbClr val="00FFFF"/>
              </a:highlight>
            </a:endParaRP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100" err="1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targetRole</a:t>
            </a:r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": "</a:t>
            </a:r>
            <a:r>
              <a:rPr lang="en-US" sz="1100" err="1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role#ai_engineer</a:t>
            </a:r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",</a:t>
            </a:r>
            <a:endParaRPr lang="en-US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1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resumeJson</a:t>
            </a:r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": {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    "Profile": {},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    "Summary":{},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    "Education":[],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    "Experience": [], 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    "Activity": [], 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    "Skills": {}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    }</a:t>
            </a:r>
            <a:endParaRPr lang="en-US" sz="11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}</a:t>
            </a:r>
            <a:endParaRPr lang="en-US" sz="11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endParaRPr lang="en-US" sz="1100">
              <a:solidFill>
                <a:schemeClr val="bg1"/>
              </a:solidFill>
              <a:cs typeface="Poppins Light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2A5B0AB8-A8B0-6331-CD8B-A9B02D2435B5}"/>
              </a:ext>
            </a:extLst>
          </p:cNvPr>
          <p:cNvSpPr txBox="1"/>
          <p:nvPr/>
        </p:nvSpPr>
        <p:spPr>
          <a:xfrm>
            <a:off x="522317" y="6211437"/>
            <a:ext cx="4331464" cy="369332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 Resume Evaluation Orchestrator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4562BADB-283C-FD18-33EA-72C3980BA989}"/>
              </a:ext>
            </a:extLst>
          </p:cNvPr>
          <p:cNvSpPr txBox="1"/>
          <p:nvPr/>
        </p:nvSpPr>
        <p:spPr>
          <a:xfrm>
            <a:off x="630190" y="1385330"/>
            <a:ext cx="5194010" cy="1277273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The evaluation API accepts a lightweight request wrapper and a structured resume body.  The wrapper controls evaluation behavior, while the resume body contains the actual CV content.</a:t>
            </a:r>
          </a:p>
          <a:p>
            <a:r>
              <a:rPr lang="en-US" sz="1100">
                <a:solidFill>
                  <a:schemeClr val="bg1"/>
                </a:solidFill>
                <a:cs typeface="Poppins Light"/>
              </a:rPr>
              <a:t>Key point:</a:t>
            </a:r>
          </a:p>
          <a:p>
            <a:r>
              <a:rPr lang="en-US" sz="1100">
                <a:solidFill>
                  <a:schemeClr val="bg1"/>
                </a:solidFill>
                <a:cs typeface="Poppins Light"/>
              </a:rPr>
              <a:t>    - Actual resume content</a:t>
            </a:r>
          </a:p>
          <a:p>
            <a:r>
              <a:rPr lang="en-US" sz="1100">
                <a:solidFill>
                  <a:schemeClr val="bg1"/>
                </a:solidFill>
                <a:cs typeface="Poppins Light"/>
              </a:rPr>
              <a:t>    - Flexible : missing sections are allowed</a:t>
            </a:r>
          </a:p>
          <a:p>
            <a:r>
              <a:rPr lang="en-US" sz="1100">
                <a:solidFill>
                  <a:schemeClr val="bg1"/>
                </a:solidFill>
                <a:cs typeface="Poppins Light"/>
              </a:rPr>
              <a:t>    - Used as the main input for scoring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D249125-4D1A-731D-EBFC-1B7C2C1CFFC1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Resume Evaluation Input Structure</a:t>
            </a:r>
            <a:endParaRPr lang="en-US">
              <a:solidFill>
                <a:srgbClr val="519BC9"/>
              </a:solidFill>
              <a:ea typeface="+mj-lt"/>
              <a:cs typeface="+mj-lt"/>
            </a:endParaRP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A9269827-5E7F-336C-0F90-8476272DFA57}"/>
              </a:ext>
            </a:extLst>
          </p:cNvPr>
          <p:cNvCxnSpPr>
            <a:cxnSpLocks/>
          </p:cNvCxnSpPr>
          <p:nvPr/>
        </p:nvCxnSpPr>
        <p:spPr>
          <a:xfrm flipV="1">
            <a:off x="3381375" y="1080445"/>
            <a:ext cx="2986427" cy="2529530"/>
          </a:xfrm>
          <a:prstGeom prst="bentConnector3">
            <a:avLst>
              <a:gd name="adj1" fmla="val 88592"/>
            </a:avLst>
          </a:prstGeom>
          <a:ln w="19050" cap="flat" cmpd="sng" algn="ctr">
            <a:solidFill>
              <a:srgbClr val="FF7E7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722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8111E-AB83-18A1-FA36-6B918C073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7D54684-1B51-9663-23FE-1731B4BD945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7D54684-1B51-9663-23FE-1731B4BD94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DF6440C-F2DA-64EC-FD0B-95F25E9818C8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0CB4D3-43EF-28AB-D8BF-7B7FF965EB8C}"/>
              </a:ext>
            </a:extLst>
          </p:cNvPr>
          <p:cNvSpPr txBox="1"/>
          <p:nvPr/>
        </p:nvSpPr>
        <p:spPr>
          <a:xfrm>
            <a:off x="6463966" y="864211"/>
            <a:ext cx="4487897" cy="6093976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resumeJson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":{</a:t>
            </a: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"Profile":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"name": "Juan Jose Carin",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"email": "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juanjose.carin@gmail.com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linkedin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"linkedin.com/in/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juanjosecarin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  },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"Summary":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summary_points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[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   "Experienced data scientist with analytical background."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     ]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 },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"Education": [</a:t>
            </a: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  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"institution": "University of California, Berkeley",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 "degree": "MIDS",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gpa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": "3.93"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     }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],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"Experience": [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   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"title": "Data Scientist",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"company": "CONENTO",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"dates": "2016",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         "description": [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            "Built ETL pipelines and predictive models."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        ]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   }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 ],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"Activities": [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  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           "name": "LLM Evaluation Harness",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    }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           ],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"Skills": {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             "skills": ["</a:t>
            </a:r>
            <a:r>
              <a:rPr lang="en-US" sz="10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Python","RAG""Data</a:t>
            </a:r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Analysis", "Machine Learning"],</a:t>
            </a:r>
            <a:endParaRPr lang="en-US" sz="10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            }</a:t>
            </a:r>
          </a:p>
          <a:p>
            <a:r>
              <a:rPr lang="en-US" sz="1000">
                <a:solidFill>
                  <a:schemeClr val="bg1">
                    <a:lumMod val="50000"/>
                    <a:lumOff val="50000"/>
                  </a:schemeClr>
                </a:solidFill>
                <a:cs typeface="Poppins Light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5C31E2-FA69-1289-E199-9E378916B73D}"/>
              </a:ext>
            </a:extLst>
          </p:cNvPr>
          <p:cNvSpPr/>
          <p:nvPr/>
        </p:nvSpPr>
        <p:spPr>
          <a:xfrm>
            <a:off x="525114" y="861848"/>
            <a:ext cx="5407722" cy="5830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29BD95-E9A7-0F37-B4E5-609B137AFBDD}"/>
              </a:ext>
            </a:extLst>
          </p:cNvPr>
          <p:cNvSpPr/>
          <p:nvPr/>
        </p:nvSpPr>
        <p:spPr>
          <a:xfrm>
            <a:off x="525114" y="859879"/>
            <a:ext cx="5379147" cy="5187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>
                <a:cs typeface="Poppins Light"/>
              </a:rPr>
              <a:t>Input payload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42961335-1F5F-463A-2FDD-9619B761E02E}"/>
              </a:ext>
            </a:extLst>
          </p:cNvPr>
          <p:cNvSpPr txBox="1"/>
          <p:nvPr/>
        </p:nvSpPr>
        <p:spPr>
          <a:xfrm>
            <a:off x="2020841" y="2995056"/>
            <a:ext cx="2688935" cy="2292935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{</a:t>
            </a:r>
            <a:endParaRPr lang="en-US" sz="11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1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</a:t>
            </a:r>
            <a:r>
              <a:rPr lang="en-US" sz="1100">
                <a:solidFill>
                  <a:schemeClr val="bg1"/>
                </a:solidFill>
                <a:highlight>
                  <a:srgbClr val="00FFFF"/>
                </a:highlight>
                <a:latin typeface="Poppins Light"/>
                <a:ea typeface="+mn-lt"/>
                <a:cs typeface="+mn-lt"/>
              </a:rPr>
              <a:t>"</a:t>
            </a:r>
            <a:r>
              <a:rPr lang="en-US" sz="1100" err="1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outputLang</a:t>
            </a:r>
            <a:r>
              <a:rPr lang="en-US" sz="1100">
                <a:solidFill>
                  <a:schemeClr val="bg1"/>
                </a:solidFill>
                <a:highlight>
                  <a:srgbClr val="00FFFF"/>
                </a:highlight>
                <a:latin typeface="Poppins Light"/>
                <a:ea typeface="+mn-lt"/>
                <a:cs typeface="+mn-lt"/>
              </a:rPr>
              <a:t>": "</a:t>
            </a:r>
            <a:r>
              <a:rPr lang="en-US" sz="1100" err="1">
                <a:solidFill>
                  <a:schemeClr val="bg1"/>
                </a:solidFill>
                <a:highlight>
                  <a:srgbClr val="00FFFF"/>
                </a:highlight>
                <a:latin typeface="Poppins Light"/>
                <a:ea typeface="+mn-lt"/>
                <a:cs typeface="+mn-lt"/>
              </a:rPr>
              <a:t>th</a:t>
            </a:r>
            <a:r>
              <a:rPr lang="en-US" sz="1100">
                <a:solidFill>
                  <a:schemeClr val="bg1"/>
                </a:solidFill>
                <a:highlight>
                  <a:srgbClr val="00FFFF"/>
                </a:highlight>
                <a:latin typeface="Poppins Light"/>
                <a:ea typeface="+mn-lt"/>
                <a:cs typeface="+mn-lt"/>
              </a:rPr>
              <a:t>",</a:t>
            </a:r>
            <a:endParaRPr lang="en-US" sz="1100">
              <a:solidFill>
                <a:schemeClr val="bg1"/>
              </a:solidFill>
              <a:highlight>
                <a:srgbClr val="00FFFF"/>
              </a:highlight>
            </a:endParaRP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100" err="1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targetRole</a:t>
            </a:r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": "</a:t>
            </a:r>
            <a:r>
              <a:rPr lang="en-US" sz="1100" err="1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role#ai_engineer</a:t>
            </a:r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",</a:t>
            </a:r>
            <a:endParaRPr lang="en-US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100" err="1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resumeJson</a:t>
            </a:r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": {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    "Profile": {},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    "Summary":{},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    "Education":[],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    "Experience": [], 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    "Activity": [], 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        "Skills": {}</a:t>
            </a: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    }</a:t>
            </a:r>
            <a:endParaRPr lang="en-US" sz="11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r>
              <a:rPr lang="en-US" sz="1100">
                <a:solidFill>
                  <a:schemeClr val="bg1">
                    <a:lumMod val="50000"/>
                    <a:lumOff val="50000"/>
                  </a:schemeClr>
                </a:solidFill>
                <a:latin typeface="Poppins Light"/>
                <a:ea typeface="+mn-lt"/>
                <a:cs typeface="+mn-lt"/>
              </a:rPr>
              <a:t>}</a:t>
            </a:r>
            <a:endParaRPr lang="en-US" sz="1100">
              <a:solidFill>
                <a:schemeClr val="bg1">
                  <a:lumMod val="50000"/>
                  <a:lumOff val="50000"/>
                </a:schemeClr>
              </a:solidFill>
            </a:endParaRPr>
          </a:p>
          <a:p>
            <a:endParaRPr lang="en-US" sz="1100">
              <a:solidFill>
                <a:schemeClr val="bg1"/>
              </a:solidFill>
              <a:cs typeface="Poppins Light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4CBE332A-1B19-0EB9-AB5F-B512A0F09205}"/>
              </a:ext>
            </a:extLst>
          </p:cNvPr>
          <p:cNvSpPr txBox="1"/>
          <p:nvPr/>
        </p:nvSpPr>
        <p:spPr>
          <a:xfrm>
            <a:off x="522317" y="6211437"/>
            <a:ext cx="4331464" cy="369332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 Resume Evaluation Orchestrator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80D52782-E743-E6A0-E853-40A16A0CE155}"/>
              </a:ext>
            </a:extLst>
          </p:cNvPr>
          <p:cNvSpPr txBox="1"/>
          <p:nvPr/>
        </p:nvSpPr>
        <p:spPr>
          <a:xfrm>
            <a:off x="630190" y="1385330"/>
            <a:ext cx="5194010" cy="1615827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The evaluation API supports Thai-language output without requiring any schema changes. The same resume structure and scoring logic are used, while all feedback is generated in Thai, making the system suitable for localized users.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cs typeface="Poppins Light"/>
              </a:rPr>
              <a:t>Key point:</a:t>
            </a:r>
          </a:p>
          <a:p>
            <a:r>
              <a:rPr lang="en-US" sz="1100">
                <a:solidFill>
                  <a:schemeClr val="bg1"/>
                </a:solidFill>
                <a:cs typeface="Poppins Light"/>
              </a:rPr>
              <a:t>    - </a:t>
            </a: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Same structured resume format</a:t>
            </a:r>
            <a:endParaRPr lang="en-US" sz="1100">
              <a:solidFill>
                <a:schemeClr val="bg1"/>
              </a:solidFill>
              <a:cs typeface="Poppins Light"/>
            </a:endParaRPr>
          </a:p>
          <a:p>
            <a:r>
              <a:rPr lang="en-US" sz="1100">
                <a:solidFill>
                  <a:schemeClr val="bg1"/>
                </a:solidFill>
                <a:cs typeface="Poppins Light"/>
              </a:rPr>
              <a:t>    - </a:t>
            </a: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Language of resume content can be English or Thai</a:t>
            </a:r>
            <a:endParaRPr lang="en-US" sz="1100">
              <a:solidFill>
                <a:schemeClr val="bg1"/>
              </a:solidFill>
              <a:cs typeface="Poppins Light"/>
            </a:endParaRPr>
          </a:p>
          <a:p>
            <a:r>
              <a:rPr lang="en-US" sz="1100">
                <a:solidFill>
                  <a:schemeClr val="bg1"/>
                </a:solidFill>
                <a:cs typeface="Poppins Light"/>
              </a:rPr>
              <a:t>    - </a:t>
            </a: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Used as the primary source for scoring and feedback generation</a:t>
            </a:r>
          </a:p>
          <a:p>
            <a:endParaRPr lang="en-US" sz="1100">
              <a:solidFill>
                <a:schemeClr val="bg1"/>
              </a:solidFill>
              <a:cs typeface="Poppins Light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10F6C1D8-F7A5-A59C-AD3A-1E03846AE430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Resume Evaluation Input Structure</a:t>
            </a:r>
            <a:endParaRPr lang="en-US">
              <a:solidFill>
                <a:srgbClr val="519BC9"/>
              </a:solidFill>
              <a:ea typeface="+mj-lt"/>
              <a:cs typeface="+mj-lt"/>
            </a:endParaRP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54EB148E-5159-4223-E777-2C03F4091F43}"/>
              </a:ext>
            </a:extLst>
          </p:cNvPr>
          <p:cNvCxnSpPr>
            <a:cxnSpLocks/>
          </p:cNvCxnSpPr>
          <p:nvPr/>
        </p:nvCxnSpPr>
        <p:spPr>
          <a:xfrm flipV="1">
            <a:off x="3381375" y="1080445"/>
            <a:ext cx="2986427" cy="2529530"/>
          </a:xfrm>
          <a:prstGeom prst="bentConnector3">
            <a:avLst>
              <a:gd name="adj1" fmla="val 88592"/>
            </a:avLst>
          </a:prstGeom>
          <a:ln w="19050" cap="flat" cmpd="sng" algn="ctr">
            <a:solidFill>
              <a:srgbClr val="FF7E79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489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745BC-55C5-6FF8-F750-C368DB302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FCC5F1B-F845-1CE1-6752-59E81BD9001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CC5F1B-F845-1CE1-6752-59E81BD900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55D8B92-0D1E-6AA8-2A37-3106328D8237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64385B-0B36-5925-5276-43011D851C64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Test Case 1 (Output - EN)</a:t>
            </a:r>
            <a:endParaRPr lang="en-US" sz="2400">
              <a:solidFill>
                <a:srgbClr val="000000"/>
              </a:solidFill>
              <a:ea typeface="+mj-lt"/>
              <a:cs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96308D-401C-8123-F80E-5AB94644218A}"/>
              </a:ext>
            </a:extLst>
          </p:cNvPr>
          <p:cNvSpPr/>
          <p:nvPr/>
        </p:nvSpPr>
        <p:spPr>
          <a:xfrm>
            <a:off x="525114" y="861848"/>
            <a:ext cx="5407722" cy="5830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A4566A-4950-8944-C13B-51A387D45E3A}"/>
              </a:ext>
            </a:extLst>
          </p:cNvPr>
          <p:cNvSpPr/>
          <p:nvPr/>
        </p:nvSpPr>
        <p:spPr>
          <a:xfrm>
            <a:off x="525114" y="859879"/>
            <a:ext cx="5379147" cy="5187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>
                <a:cs typeface="Poppins Light"/>
              </a:rPr>
              <a:t>output payload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BF66875A-36AA-BDBB-7930-69AA596AC2B4}"/>
              </a:ext>
            </a:extLst>
          </p:cNvPr>
          <p:cNvSpPr txBox="1"/>
          <p:nvPr/>
        </p:nvSpPr>
        <p:spPr>
          <a:xfrm>
            <a:off x="522317" y="6211437"/>
            <a:ext cx="4331464" cy="369332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 Resume Evaluation Orchestrator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E6163514-0B35-4DC6-E8FE-803D7E2A4F03}"/>
              </a:ext>
            </a:extLst>
          </p:cNvPr>
          <p:cNvSpPr txBox="1"/>
          <p:nvPr/>
        </p:nvSpPr>
        <p:spPr>
          <a:xfrm>
            <a:off x="630190" y="1385330"/>
            <a:ext cx="5194010" cy="144655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This slide shows the final result  of the evaluation.</a:t>
            </a:r>
            <a:br>
              <a:rPr lang="en-US" sz="1100">
                <a:solidFill>
                  <a:schemeClr val="bg1"/>
                </a:solidFill>
                <a:ea typeface="+mn-lt"/>
                <a:cs typeface="+mn-lt"/>
              </a:rPr>
            </a:b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 We calculate section scores, normalize them, apply weights, and produce a global grade with an overall feedback summary.</a:t>
            </a: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    - Final global grade after normalization and weighting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    - Aggregated raw and maximum scores across all sections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    - Per-section weighted score contribution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    - High-level global feedback summarizing resume quality</a:t>
            </a:r>
            <a:endParaRPr lang="en-US">
              <a:solidFill>
                <a:schemeClr val="bg1"/>
              </a:solidFill>
            </a:endParaRPr>
          </a:p>
          <a:p>
            <a:endParaRPr lang="en-US" sz="110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675376-7BDD-2589-4BE2-F8F6E44730B1}"/>
              </a:ext>
            </a:extLst>
          </p:cNvPr>
          <p:cNvSpPr txBox="1"/>
          <p:nvPr/>
        </p:nvSpPr>
        <p:spPr>
          <a:xfrm>
            <a:off x="937630" y="2795520"/>
            <a:ext cx="4561342" cy="3139321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{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 "</a:t>
            </a:r>
            <a:r>
              <a:rPr lang="en-US" sz="110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status":"success</a:t>
            </a:r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",</a:t>
            </a: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    "data":</a:t>
            </a:r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{</a:t>
            </a: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        "conclusion":{</a:t>
            </a:r>
            <a:endParaRPr lang="en-US" sz="1100">
              <a:solidFill>
                <a:schemeClr val="bg1"/>
              </a:solidFill>
            </a:endParaRPr>
          </a:p>
          <a:p>
            <a:endParaRPr lang="en-US" sz="1100"/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                    },</a:t>
            </a:r>
            <a:endParaRPr lang="en-US" sz="110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     "</a:t>
            </a:r>
            <a:r>
              <a:rPr lang="en-US" sz="110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sectionDetail</a:t>
            </a:r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":{</a:t>
            </a:r>
            <a:endParaRPr lang="en-US" sz="1100">
              <a:solidFill>
                <a:schemeClr val="bg1">
                  <a:lumMod val="25000"/>
                  <a:lumOff val="75000"/>
                </a:schemeClr>
              </a:solidFill>
            </a:endParaRPr>
          </a:p>
          <a:p>
            <a:endParaRPr lang="en-US" sz="1100">
              <a:solidFill>
                <a:schemeClr val="bg1">
                  <a:lumMod val="25000"/>
                  <a:lumOff val="75000"/>
                </a:schemeClr>
              </a:solidFill>
            </a:endParaRP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                 },</a:t>
            </a:r>
            <a:endParaRPr lang="en-US" sz="1100">
              <a:solidFill>
                <a:schemeClr val="bg1">
                  <a:lumMod val="25000"/>
                  <a:lumOff val="75000"/>
                </a:schemeClr>
              </a:solidFill>
            </a:endParaRP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 },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 "correlationId":"corr_ec0707b9b0e04b91a5cc81c8725db5a6",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 "metadata":{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     "modelName":"gemini-2.5-flash",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     "timestamp":"2026-01-18 23:49:24.235242+07:00",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     "weightsVersion":"weights_v1",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     "</a:t>
            </a:r>
            <a:r>
              <a:rPr lang="en-US" sz="110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promptVersion</a:t>
            </a:r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"prompt_v2"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 }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07031A-36E4-000E-44A1-93DA9C2E469A}"/>
              </a:ext>
            </a:extLst>
          </p:cNvPr>
          <p:cNvSpPr txBox="1"/>
          <p:nvPr/>
        </p:nvSpPr>
        <p:spPr>
          <a:xfrm>
            <a:off x="6352881" y="975671"/>
            <a:ext cx="5364539" cy="5793894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"conclusion": {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globalGrade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"A",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totalWeightedRawScore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22.20,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totalWeightedMaxScore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27,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totalSectionWeight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1,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sectionContribution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{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"Profile": {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sessionGrade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"A+",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totalSectionRawScore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16,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totalSectionMaxScore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20,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sectionWeight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0.1,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totalSectionRawScoreXWeight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1.6,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totalSectionMaxScoreXWeight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2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"Summary": {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...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"Education": {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...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"Experience": {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...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"Activities": {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sessionGrade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"-",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totalSectionRawScore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0,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totalSectionMaxScore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0,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sectionWeight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0.2,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totalSectionRawScoreXWeight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0,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totalSectionMaxScoreXWeight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0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"Skills": {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...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}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      "</a:t>
            </a:r>
            <a:r>
              <a:rPr lang="en-US" sz="950" err="1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globalfeedback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": "</a:t>
            </a:r>
            <a:r>
              <a:rPr lang="en-US" sz="950" err="1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เรซูเม่ชุดนี้มีข้อมูลประจำตัว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 </a:t>
            </a:r>
            <a:r>
              <a:rPr lang="en-US" sz="950" err="1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การศึกษา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 </a:t>
            </a:r>
            <a:r>
              <a:rPr lang="en-US" sz="950" err="1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และทักษะที่ชัดเจน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 </a:t>
            </a:r>
            <a:r>
              <a:rPr lang="en-US" sz="950" err="1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แต่ส่วนสรุปและประสบการณ์ยังขาดการระบุผลลัพธ์เชิงปริมาณ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 </a:t>
            </a:r>
            <a:r>
              <a:rPr lang="en-US" sz="950" err="1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และควรเพิ่มกิจกรรมเพื่อสนับสนุนทักษะทางสังคม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"</a:t>
            </a:r>
            <a:endParaRPr lang="en-US" sz="950">
              <a:solidFill>
                <a:schemeClr val="bg1"/>
              </a:solidFill>
              <a:highlight>
                <a:srgbClr val="00FFFF"/>
              </a:highlight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}</a:t>
            </a:r>
          </a:p>
          <a:p>
            <a:endParaRPr lang="en-US" sz="950">
              <a:solidFill>
                <a:schemeClr val="bg1"/>
              </a:solidFill>
              <a:cs typeface="Poppins Light"/>
            </a:endParaRP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E30E5B01-A0CC-9AD0-B2DC-19E2684F44F3}"/>
              </a:ext>
            </a:extLst>
          </p:cNvPr>
          <p:cNvCxnSpPr>
            <a:cxnSpLocks/>
          </p:cNvCxnSpPr>
          <p:nvPr/>
        </p:nvCxnSpPr>
        <p:spPr>
          <a:xfrm flipV="1">
            <a:off x="2000250" y="1066800"/>
            <a:ext cx="4352631" cy="2533650"/>
          </a:xfrm>
          <a:prstGeom prst="bentConnector3">
            <a:avLst>
              <a:gd name="adj1" fmla="val 92235"/>
            </a:avLst>
          </a:prstGeom>
          <a:ln w="9525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63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4C945-965D-D7DA-A8C7-6613CB02F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81BEA9C-77D2-452B-1D48-79F9DB71818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1BEA9C-77D2-452B-1D48-79F9DB7181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E5AEA9C-B28F-281C-8CAC-F5B79BEF81A2}"/>
              </a:ext>
            </a:extLst>
          </p:cNvPr>
          <p:cNvSpPr/>
          <p:nvPr/>
        </p:nvSpPr>
        <p:spPr>
          <a:xfrm>
            <a:off x="6287739" y="861849"/>
            <a:ext cx="5483922" cy="5830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9F815EB-F389-1D34-EA82-66F090DB04D4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Test Case 1 (Output - EN)</a:t>
            </a:r>
            <a:endParaRPr lang="en-US" sz="2400">
              <a:solidFill>
                <a:srgbClr val="000000"/>
              </a:solidFill>
              <a:ea typeface="+mj-lt"/>
              <a:cs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C36762-91DF-D8C8-3646-1C581DED300A}"/>
              </a:ext>
            </a:extLst>
          </p:cNvPr>
          <p:cNvSpPr/>
          <p:nvPr/>
        </p:nvSpPr>
        <p:spPr>
          <a:xfrm>
            <a:off x="525114" y="861848"/>
            <a:ext cx="5407722" cy="58305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E67CE9-EA45-7831-B5CA-71785B02DD78}"/>
              </a:ext>
            </a:extLst>
          </p:cNvPr>
          <p:cNvSpPr/>
          <p:nvPr/>
        </p:nvSpPr>
        <p:spPr>
          <a:xfrm>
            <a:off x="525114" y="859879"/>
            <a:ext cx="5379147" cy="5187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>
                <a:cs typeface="Poppins Light"/>
              </a:rPr>
              <a:t>output payload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53D2D52B-30FE-70CE-4BC2-540B060604F7}"/>
              </a:ext>
            </a:extLst>
          </p:cNvPr>
          <p:cNvSpPr txBox="1"/>
          <p:nvPr/>
        </p:nvSpPr>
        <p:spPr>
          <a:xfrm>
            <a:off x="522317" y="6211437"/>
            <a:ext cx="4331464" cy="369332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 Resume Evaluation Orchestrator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7E61E105-189D-3B7B-EF9D-B302696A5697}"/>
              </a:ext>
            </a:extLst>
          </p:cNvPr>
          <p:cNvSpPr txBox="1"/>
          <p:nvPr/>
        </p:nvSpPr>
        <p:spPr>
          <a:xfrm>
            <a:off x="630190" y="1385330"/>
            <a:ext cx="5194010" cy="144655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>
            <a:defPPr>
              <a:defRPr lang="en-TH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Each section is evaluated using multiple criteria, and we return both numeric scores and qualitative feedback.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    - Detailed scores per resume section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    - Criteria-based evaluation (e.g.  Length, Grammar, Content Quality)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    - Score + feedback for each criterion</a:t>
            </a:r>
            <a:endParaRPr lang="en-US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    - Section-level summary feedback explaining strengths and weaknesses</a:t>
            </a:r>
            <a:endParaRPr lang="en-US">
              <a:solidFill>
                <a:schemeClr val="bg1"/>
              </a:solidFill>
            </a:endParaRPr>
          </a:p>
          <a:p>
            <a:endParaRPr lang="en-US" sz="110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1ECC8D-E257-5356-F07D-DA2CFB849726}"/>
              </a:ext>
            </a:extLst>
          </p:cNvPr>
          <p:cNvSpPr txBox="1"/>
          <p:nvPr/>
        </p:nvSpPr>
        <p:spPr>
          <a:xfrm>
            <a:off x="937630" y="2795520"/>
            <a:ext cx="4561342" cy="3139321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{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 "</a:t>
            </a:r>
            <a:r>
              <a:rPr lang="en-US" sz="110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status":"success</a:t>
            </a:r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",</a:t>
            </a: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    "data":</a:t>
            </a:r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{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     "conclusion":{</a:t>
            </a:r>
            <a:endParaRPr lang="en-US" sz="1100">
              <a:solidFill>
                <a:schemeClr val="bg1">
                  <a:lumMod val="25000"/>
                  <a:lumOff val="75000"/>
                </a:schemeClr>
              </a:solidFill>
            </a:endParaRPr>
          </a:p>
          <a:p>
            <a:endParaRPr lang="en-US" sz="1100">
              <a:solidFill>
                <a:schemeClr val="bg1">
                  <a:lumMod val="25000"/>
                  <a:lumOff val="75000"/>
                </a:schemeClr>
              </a:solidFill>
            </a:endParaRP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                 },</a:t>
            </a:r>
            <a:endParaRPr lang="en-US" sz="1100">
              <a:solidFill>
                <a:schemeClr val="bg1">
                  <a:lumMod val="25000"/>
                  <a:lumOff val="75000"/>
                </a:schemeClr>
              </a:solidFill>
            </a:endParaRPr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        "</a:t>
            </a:r>
            <a:r>
              <a:rPr lang="en-US" sz="1100" err="1">
                <a:solidFill>
                  <a:schemeClr val="bg1"/>
                </a:solidFill>
                <a:ea typeface="+mn-lt"/>
                <a:cs typeface="+mn-lt"/>
              </a:rPr>
              <a:t>sectionDetail</a:t>
            </a: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":{</a:t>
            </a:r>
            <a:endParaRPr lang="en-US" sz="1100">
              <a:solidFill>
                <a:schemeClr val="bg1"/>
              </a:solidFill>
            </a:endParaRPr>
          </a:p>
          <a:p>
            <a:endParaRPr lang="en-US" sz="1100"/>
          </a:p>
          <a:p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                    },</a:t>
            </a:r>
            <a:endParaRPr lang="en-US" sz="110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 },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 "correlationId":"corr_ec0707b9b0e04b91a5cc81c8725db5a6",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 "metadata":{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     "modelName":"gemini-2.5-flash",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     "timestamp":"2026-01-18 23:49:24.235242+07:00",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     "weightsVersion":"weights_v1",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     "</a:t>
            </a:r>
            <a:r>
              <a:rPr lang="en-US" sz="110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promptVersion</a:t>
            </a:r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"prompt_v2"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   }</a:t>
            </a:r>
          </a:p>
          <a:p>
            <a:r>
              <a:rPr lang="en-US" sz="110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DF2C69-217D-9B65-A86A-9B1AEFCA3670}"/>
              </a:ext>
            </a:extLst>
          </p:cNvPr>
          <p:cNvSpPr txBox="1"/>
          <p:nvPr/>
        </p:nvSpPr>
        <p:spPr>
          <a:xfrm>
            <a:off x="6286206" y="864814"/>
            <a:ext cx="5412164" cy="5793894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sectionDetail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":{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"Profile": {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  ...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"Summary": {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     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totalSectionRawScore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38,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totalSectionMaxScore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50,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"scores": {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     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RoleRelevance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{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      "score":6,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 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"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feedback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": </a:t>
            </a:r>
            <a:r>
              <a:rPr lang="en-US" sz="950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"</a:t>
            </a:r>
            <a:r>
              <a:rPr lang="en-US" sz="950" err="1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ส่วนสรุปเชื่อมโยงกับบทบาทวิศวกรAI</a:t>
            </a:r>
            <a:r>
              <a:rPr lang="en-US" sz="950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 </a:t>
            </a:r>
            <a:r>
              <a:rPr lang="en-US" sz="950" err="1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ได้บางส่วนเน้นที่การวิเคราะห์ข้อมูล</a:t>
            </a:r>
            <a:r>
              <a:rPr lang="en-US" sz="950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"</a:t>
            </a:r>
            <a:endParaRPr lang="en-US" sz="950">
              <a:solidFill>
                <a:schemeClr val="tx2">
                  <a:lumMod val="10000"/>
                </a:schemeClr>
              </a:solidFill>
              <a:highlight>
                <a:srgbClr val="00FFFF"/>
              </a:highlight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          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     "Length": {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      "score": 10,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"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feedback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": </a:t>
            </a:r>
            <a:r>
              <a:rPr lang="en-US" sz="950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"</a:t>
            </a:r>
            <a:r>
              <a:rPr lang="en-US" sz="950" err="1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ส่วนสรุปมีความยาวที่เหมาะสมและอ่านง่าย</a:t>
            </a:r>
            <a:r>
              <a:rPr lang="en-US" sz="950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 </a:t>
            </a:r>
            <a:r>
              <a:rPr lang="en-US" sz="950" err="1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มีข้อมูลครบถ้วน</a:t>
            </a:r>
            <a:r>
              <a:rPr lang="en-US" sz="950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"</a:t>
            </a:r>
            <a:endParaRPr lang="en-US" sz="950">
              <a:solidFill>
                <a:schemeClr val="tx2">
                  <a:lumMod val="10000"/>
                </a:schemeClr>
              </a:solidFill>
              <a:highlight>
                <a:srgbClr val="00FFFF"/>
              </a:highlight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          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  "Grammar": {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      "score": 10,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"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feedback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": </a:t>
            </a:r>
            <a:r>
              <a:rPr lang="en-US" sz="950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"</a:t>
            </a:r>
            <a:r>
              <a:rPr lang="en-US" sz="950" err="1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การเขียนมีความเป็นมืออาชีพและไม่มีข้อผิดพลาดทางไวยากรณ์</a:t>
            </a:r>
            <a:r>
              <a:rPr lang="en-US" sz="950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"</a:t>
            </a:r>
            <a:endParaRPr lang="en-US" sz="950">
              <a:solidFill>
                <a:schemeClr val="tx2">
                  <a:lumMod val="10000"/>
                </a:schemeClr>
              </a:solidFill>
              <a:highlight>
                <a:srgbClr val="00FFFF"/>
              </a:highlight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          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ContentQuality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": {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      "score": 6,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"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feedback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": </a:t>
            </a:r>
            <a:r>
              <a:rPr lang="en-US" sz="950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"</a:t>
            </a:r>
            <a:r>
              <a:rPr lang="en-US" sz="950" err="1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ส่วนสรุปเข้าใจได้แต่ยังคงเป็นทั่วไป</a:t>
            </a:r>
            <a:r>
              <a:rPr lang="en-US" sz="950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 </a:t>
            </a:r>
            <a:r>
              <a:rPr lang="en-US" sz="950" err="1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ไม่ได้เน้นผลลัพธ์ที่เป็นรูปธรรมมากนัก</a:t>
            </a:r>
            <a:r>
              <a:rPr lang="en-US" sz="950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"</a:t>
            </a:r>
            <a:endParaRPr lang="en-US" sz="950">
              <a:solidFill>
                <a:schemeClr val="tx2">
                  <a:lumMod val="10000"/>
                </a:schemeClr>
              </a:solidFill>
              <a:highlight>
                <a:srgbClr val="00FFFF"/>
              </a:highlight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          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  "Completeness": {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      "score": 6,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                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"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feedback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": </a:t>
            </a:r>
            <a:r>
              <a:rPr lang="en-US" sz="950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"</a:t>
            </a:r>
            <a:r>
              <a:rPr lang="en-US" sz="950" err="1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มีการระบุตัวตนและทักษะพื้นฐาน</a:t>
            </a:r>
            <a:r>
              <a:rPr lang="en-US" sz="950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 </a:t>
            </a:r>
            <a:r>
              <a:rPr lang="en-US" sz="950" err="1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แต่ข้อเสนอคุณค่าหรือทิศทางอาชีพยังไม่ชัดเจน</a:t>
            </a:r>
            <a:r>
              <a:rPr lang="en-US" sz="950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"</a:t>
            </a:r>
            <a:endParaRPr lang="en-US" sz="950">
              <a:solidFill>
                <a:schemeClr val="tx2">
                  <a:lumMod val="10000"/>
                </a:schemeClr>
              </a:solidFill>
              <a:highlight>
                <a:srgbClr val="00FFFF"/>
              </a:highlight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          }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        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        "</a:t>
            </a:r>
            <a:r>
              <a:rPr lang="en-US" sz="950" err="1">
                <a:solidFill>
                  <a:schemeClr val="bg1"/>
                </a:solidFill>
                <a:highlight>
                  <a:srgbClr val="00FFFF"/>
                </a:highlight>
                <a:ea typeface="+mn-lt"/>
                <a:cs typeface="+mn-lt"/>
              </a:rPr>
              <a:t>sectionFeedbak</a:t>
            </a:r>
            <a:r>
              <a:rPr lang="en-US" sz="950">
                <a:solidFill>
                  <a:schemeClr val="bg1">
                    <a:lumMod val="50000"/>
                    <a:lumOff val="5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": </a:t>
            </a:r>
            <a:r>
              <a:rPr lang="en-US" sz="950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"</a:t>
            </a:r>
            <a:r>
              <a:rPr lang="en-US" sz="950" err="1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ส่วนสรุปนี้มีความกระชับและปราศจากข้อผิดพลาดทางไวยากรณ์</a:t>
            </a:r>
            <a:r>
              <a:rPr lang="en-US" sz="950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 แต่มีเนื้อหาที่เน้นไปทางการวิเคราะห์ข้อมูลและสถิติมากกว่าวิศวกรรม AI </a:t>
            </a:r>
            <a:r>
              <a:rPr lang="en-US" sz="950" err="1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โดยตรง</a:t>
            </a:r>
            <a:r>
              <a:rPr lang="en-US" sz="950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 </a:t>
            </a:r>
            <a:r>
              <a:rPr lang="en-US" sz="950" err="1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ทำให้การวางตำแหน่งสำหรับบทบาท</a:t>
            </a:r>
            <a:r>
              <a:rPr lang="en-US" sz="950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 AI Engineer </a:t>
            </a:r>
            <a:r>
              <a:rPr lang="en-US" sz="950" err="1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ยังไม่ชัดเจนและต้องการการปรับปรุงให้เน้นทักษะ</a:t>
            </a:r>
            <a:r>
              <a:rPr lang="en-US" sz="950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 AI </a:t>
            </a:r>
            <a:r>
              <a:rPr lang="en-US" sz="950" err="1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ที่เฉพาะเจาะจงมากขึ้น</a:t>
            </a:r>
            <a:r>
              <a:rPr lang="en-US" sz="950">
                <a:solidFill>
                  <a:schemeClr val="tx2">
                    <a:lumMod val="10000"/>
                  </a:schemeClr>
                </a:solidFill>
                <a:highlight>
                  <a:srgbClr val="00FFFF"/>
                </a:highlight>
                <a:ea typeface="+mn-lt"/>
                <a:cs typeface="+mn-lt"/>
              </a:rPr>
              <a:t>"</a:t>
            </a:r>
            <a:endParaRPr lang="en-US" sz="950">
              <a:solidFill>
                <a:schemeClr val="tx2">
                  <a:lumMod val="10000"/>
                </a:schemeClr>
              </a:solidFill>
              <a:highlight>
                <a:srgbClr val="00FFFF"/>
              </a:highlight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    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"Education": { … 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"Experience": { … 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"Activities": { … 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"Skills": { … },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ea typeface="+mn-lt"/>
                <a:cs typeface="+mn-lt"/>
              </a:rPr>
              <a:t>    }</a:t>
            </a:r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endParaRPr lang="en-US" sz="950">
              <a:solidFill>
                <a:schemeClr val="bg1">
                  <a:lumMod val="50000"/>
                  <a:lumOff val="50000"/>
                </a:schemeClr>
              </a:solidFill>
              <a:cs typeface="Poppins Light"/>
            </a:endParaRP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431F125A-038E-A65A-4BD7-45EFE24D4B68}"/>
              </a:ext>
            </a:extLst>
          </p:cNvPr>
          <p:cNvCxnSpPr>
            <a:cxnSpLocks/>
          </p:cNvCxnSpPr>
          <p:nvPr/>
        </p:nvCxnSpPr>
        <p:spPr>
          <a:xfrm flipV="1">
            <a:off x="1971675" y="1066800"/>
            <a:ext cx="4381206" cy="3048000"/>
          </a:xfrm>
          <a:prstGeom prst="bentConnector3">
            <a:avLst>
              <a:gd name="adj1" fmla="val 92177"/>
            </a:avLst>
          </a:prstGeom>
          <a:ln w="9525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118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4EC75-EB64-5A57-3569-4A32C29D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A2E477A-C045-887A-9B67-81E1D4FCA3D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2E477A-C045-887A-9B67-81E1D4FCA3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5BDE276-32C4-CBDC-8537-00A8A78205CA}"/>
              </a:ext>
            </a:extLst>
          </p:cNvPr>
          <p:cNvSpPr/>
          <p:nvPr/>
        </p:nvSpPr>
        <p:spPr>
          <a:xfrm>
            <a:off x="5952891" y="1023774"/>
            <a:ext cx="5322539" cy="54911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64CF69-ABBC-DEBE-56BC-3075FE5D8F85}"/>
              </a:ext>
            </a:extLst>
          </p:cNvPr>
          <p:cNvSpPr/>
          <p:nvPr/>
        </p:nvSpPr>
        <p:spPr>
          <a:xfrm>
            <a:off x="420339" y="1023774"/>
            <a:ext cx="5322539" cy="54911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29B84AC-4F39-05B7-B0E8-9C19DC91D3A6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Language Comparison</a:t>
            </a:r>
            <a:endParaRPr lang="en-US" sz="24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95E862-7042-DEFD-34DA-8230CC4922DF}"/>
              </a:ext>
            </a:extLst>
          </p:cNvPr>
          <p:cNvSpPr txBox="1"/>
          <p:nvPr/>
        </p:nvSpPr>
        <p:spPr>
          <a:xfrm>
            <a:off x="527935" y="1026397"/>
            <a:ext cx="5105401" cy="5501506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status":"success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 "data":{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conclusion":"conclusion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{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globalGrade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"A",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totalWeightedRawScore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17.6,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totalWeightedMaxScore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20,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totalSectionWeight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1,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sectionContribution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{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"Profile": {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sessionGrade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"A+",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totalSectionRawScore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20,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totalSectionMaxScore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20,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sectionWeight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0.1,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totalSectionRawScoreXWeight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2,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totalSectionMaxScoreXWeight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2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},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    ...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"Skills": {}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},</a:t>
            </a:r>
          </a:p>
          <a:p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cs typeface="Poppins Light"/>
              </a:rPr>
              <a:t>      "</a:t>
            </a:r>
            <a:r>
              <a:rPr lang="en-US" sz="950" err="1">
                <a:solidFill>
                  <a:schemeClr val="bg1"/>
                </a:solidFill>
                <a:highlight>
                  <a:srgbClr val="00FFFF"/>
                </a:highlight>
                <a:cs typeface="Poppins Light"/>
              </a:rPr>
              <a:t>globalfeedback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cs typeface="Poppins Light"/>
              </a:rPr>
              <a:t>": "This resume effectively presents a strong candidate …. structure, detailed achievements, and robust technical skills, requiring no immediate improvements."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},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sectionDetail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":{</a:t>
            </a:r>
          </a:p>
          <a:p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             },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 },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 "correlationId":"corr_ec0707b9b0e04b91a5cc81c8725db5a6",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 "metadata":{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 "modelName":"gemini-2.5-flash",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 "timestamp":"2026-01-18 23:49:24.235242+07:00",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 "weightsVersion":"weights_v1",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promptVersion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"prompt_v2"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 }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}</a:t>
            </a:r>
          </a:p>
          <a:p>
            <a:endParaRPr lang="en-US" sz="95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4E9AFE-FC09-5259-B0C9-166632FF9FB3}"/>
              </a:ext>
            </a:extLst>
          </p:cNvPr>
          <p:cNvSpPr txBox="1"/>
          <p:nvPr/>
        </p:nvSpPr>
        <p:spPr>
          <a:xfrm>
            <a:off x="6100634" y="1026396"/>
            <a:ext cx="5105401" cy="5401479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status":"success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 "data":{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globalGrade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"A",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totalWeightedRawScore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22.20,</a:t>
            </a:r>
          </a:p>
          <a:p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"</a:t>
            </a:r>
            <a:r>
              <a:rPr lang="en-US" sz="10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totalWeightedMaxScore</a:t>
            </a:r>
            <a:r>
              <a:rPr lang="en-US" sz="10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27,</a:t>
            </a:r>
            <a:endParaRPr lang="en-US" sz="1000">
              <a:solidFill>
                <a:schemeClr val="bg1">
                  <a:lumMod val="25000"/>
                  <a:lumOff val="75000"/>
                </a:schemeClr>
              </a:solidFill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totalSectionWeight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1,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sectionContribution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{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"Profile": {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sessionGrade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"A+",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totalSectionRawScore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16,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totalSectionMaxScore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20,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sectionWeight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0.1,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totalSectionRawScoreXWeight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1.6,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totalSectionMaxScoreXWeight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2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},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    ...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  "Skills": {}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  },</a:t>
            </a:r>
          </a:p>
          <a:p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cs typeface="Poppins Light"/>
              </a:rPr>
              <a:t>      "</a:t>
            </a:r>
            <a:r>
              <a:rPr lang="en-US" sz="950" err="1">
                <a:solidFill>
                  <a:schemeClr val="bg1"/>
                </a:solidFill>
                <a:highlight>
                  <a:srgbClr val="00FFFF"/>
                </a:highlight>
                <a:cs typeface="Poppins Light"/>
              </a:rPr>
              <a:t>globalfeedback</a:t>
            </a:r>
            <a:r>
              <a:rPr lang="en-US" sz="950">
                <a:solidFill>
                  <a:schemeClr val="bg1"/>
                </a:solidFill>
                <a:highlight>
                  <a:srgbClr val="00FFFF"/>
                </a:highlight>
                <a:cs typeface="Poppins Light"/>
              </a:rPr>
              <a:t>": </a:t>
            </a:r>
            <a:r>
              <a:rPr lang="en-US" sz="1000">
                <a:solidFill>
                  <a:schemeClr val="bg1"/>
                </a:solidFill>
                <a:highlight>
                  <a:srgbClr val="00FFFF"/>
                </a:highlight>
                <a:cs typeface="Poppins Light"/>
              </a:rPr>
              <a:t>"</a:t>
            </a:r>
            <a:r>
              <a:rPr lang="en-US" sz="1000" err="1">
                <a:solidFill>
                  <a:schemeClr val="bg1"/>
                </a:solidFill>
                <a:highlight>
                  <a:srgbClr val="00FFFF"/>
                </a:highlight>
                <a:cs typeface="Poppins Light"/>
              </a:rPr>
              <a:t>เรซูเม่ชุดนี้มีข้อมูลประจำตัว</a:t>
            </a:r>
            <a:r>
              <a:rPr lang="en-US" sz="1000">
                <a:solidFill>
                  <a:schemeClr val="bg1"/>
                </a:solidFill>
                <a:highlight>
                  <a:srgbClr val="00FFFF"/>
                </a:highlight>
                <a:cs typeface="Poppins Light"/>
              </a:rPr>
              <a:t> </a:t>
            </a:r>
            <a:r>
              <a:rPr lang="en-US" sz="1000" err="1">
                <a:solidFill>
                  <a:schemeClr val="bg1"/>
                </a:solidFill>
                <a:highlight>
                  <a:srgbClr val="00FFFF"/>
                </a:highlight>
                <a:cs typeface="Poppins Light"/>
              </a:rPr>
              <a:t>การศึกษา</a:t>
            </a:r>
            <a:r>
              <a:rPr lang="en-US" sz="1000">
                <a:solidFill>
                  <a:schemeClr val="bg1"/>
                </a:solidFill>
                <a:highlight>
                  <a:srgbClr val="00FFFF"/>
                </a:highlight>
                <a:cs typeface="Poppins Light"/>
              </a:rPr>
              <a:t> </a:t>
            </a:r>
            <a:r>
              <a:rPr lang="en-US" sz="1000" err="1">
                <a:solidFill>
                  <a:schemeClr val="bg1"/>
                </a:solidFill>
                <a:highlight>
                  <a:srgbClr val="00FFFF"/>
                </a:highlight>
                <a:cs typeface="Poppins Light"/>
              </a:rPr>
              <a:t>และทักษะที่ชัดเจน</a:t>
            </a:r>
            <a:r>
              <a:rPr lang="en-US" sz="1000">
                <a:solidFill>
                  <a:schemeClr val="bg1"/>
                </a:solidFill>
                <a:highlight>
                  <a:srgbClr val="00FFFF"/>
                </a:highlight>
                <a:cs typeface="Poppins Light"/>
              </a:rPr>
              <a:t> </a:t>
            </a:r>
            <a:r>
              <a:rPr lang="en-US" sz="1000" err="1">
                <a:solidFill>
                  <a:schemeClr val="bg1"/>
                </a:solidFill>
                <a:highlight>
                  <a:srgbClr val="00FFFF"/>
                </a:highlight>
                <a:cs typeface="Poppins Light"/>
              </a:rPr>
              <a:t>แต่ส่วนสรุปและประสบการณ์ยังขาดการระบุผลลัพธ์เชิงปริมาณ</a:t>
            </a:r>
            <a:r>
              <a:rPr lang="en-US" sz="1000">
                <a:solidFill>
                  <a:schemeClr val="bg1"/>
                </a:solidFill>
                <a:highlight>
                  <a:srgbClr val="00FFFF"/>
                </a:highlight>
                <a:cs typeface="Poppins Light"/>
              </a:rPr>
              <a:t> </a:t>
            </a:r>
            <a:r>
              <a:rPr lang="en-US" sz="1000" err="1">
                <a:solidFill>
                  <a:schemeClr val="bg1"/>
                </a:solidFill>
                <a:highlight>
                  <a:srgbClr val="00FFFF"/>
                </a:highlight>
                <a:cs typeface="Poppins Light"/>
              </a:rPr>
              <a:t>และควรเพิ่มกิจกรรมเพื่อสนับสนุนทักษะทางสังคม</a:t>
            </a:r>
            <a:r>
              <a:rPr lang="en-US" sz="1000">
                <a:solidFill>
                  <a:schemeClr val="bg1"/>
                </a:solidFill>
                <a:highlight>
                  <a:srgbClr val="00FFFF"/>
                </a:highlight>
                <a:cs typeface="Poppins Light"/>
              </a:rPr>
              <a:t>"</a:t>
            </a:r>
            <a:endParaRPr lang="en-US" sz="950">
              <a:solidFill>
                <a:schemeClr val="bg1"/>
              </a:solidFill>
              <a:highlight>
                <a:srgbClr val="00FFFF"/>
              </a:highlight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   },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sectionDetail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":{</a:t>
            </a:r>
          </a:p>
          <a:p>
            <a:endParaRPr lang="en-US" sz="95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             },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 },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 "correlationId":"corr_ec0707b9b0e04b91a5cc81c8725db5a6",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 "metadata":{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 "modelName":"gemini-2.5-flash",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 "timestamp":"2026-01-18 23:49:24.235242+07:00",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 "weightsVersion":"weights_v1",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     "</a:t>
            </a:r>
            <a:r>
              <a:rPr lang="en-US" sz="9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promptVersion</a:t>
            </a:r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"prompt_v2"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    }</a:t>
            </a:r>
          </a:p>
          <a:p>
            <a:r>
              <a:rPr lang="en-US" sz="9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}</a:t>
            </a:r>
          </a:p>
          <a:p>
            <a:endParaRPr lang="en-US" sz="95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6D8CCD-ECD4-ACAF-B12F-9F1931C82C8B}"/>
              </a:ext>
            </a:extLst>
          </p:cNvPr>
          <p:cNvSpPr txBox="1"/>
          <p:nvPr/>
        </p:nvSpPr>
        <p:spPr>
          <a:xfrm>
            <a:off x="3324159" y="1026135"/>
            <a:ext cx="2422235" cy="1938992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 w="952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{</a:t>
            </a:r>
            <a:endParaRPr lang="en-US" sz="1000">
              <a:solidFill>
                <a:schemeClr val="bg1"/>
              </a:solidFill>
              <a:cs typeface="Poppins Light"/>
            </a:endParaRP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000" b="1" err="1">
                <a:solidFill>
                  <a:schemeClr val="bg1"/>
                </a:solidFill>
                <a:ea typeface="+mn-lt"/>
                <a:cs typeface="+mn-lt"/>
              </a:rPr>
              <a:t>outputLang</a:t>
            </a:r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</a:t>
            </a:r>
            <a:r>
              <a:rPr lang="en-US" sz="1000">
                <a:solidFill>
                  <a:schemeClr val="bg1"/>
                </a:solidFill>
                <a:highlight>
                  <a:srgbClr val="00FFFF"/>
                </a:highlight>
                <a:latin typeface="Poppins Light"/>
                <a:ea typeface="+mn-lt"/>
                <a:cs typeface="+mn-lt"/>
              </a:rPr>
              <a:t>"</a:t>
            </a:r>
            <a:r>
              <a:rPr lang="en-US" sz="1000" err="1">
                <a:solidFill>
                  <a:schemeClr val="bg1"/>
                </a:solidFill>
                <a:highlight>
                  <a:srgbClr val="00FFFF"/>
                </a:highlight>
                <a:latin typeface="Poppins Light"/>
                <a:ea typeface="+mn-lt"/>
                <a:cs typeface="+mn-lt"/>
              </a:rPr>
              <a:t>en</a:t>
            </a:r>
            <a:r>
              <a:rPr lang="en-US" sz="1000">
                <a:solidFill>
                  <a:schemeClr val="bg1"/>
                </a:solidFill>
                <a:highlight>
                  <a:srgbClr val="00FFFF"/>
                </a:highlight>
                <a:latin typeface="Poppins Light"/>
                <a:ea typeface="+mn-lt"/>
                <a:cs typeface="+mn-lt"/>
              </a:rPr>
              <a:t>"</a:t>
            </a:r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,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000" err="1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targetRole</a:t>
            </a:r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"</a:t>
            </a:r>
            <a:r>
              <a:rPr lang="en-US" sz="1000" err="1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role#ai_engineer</a:t>
            </a:r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",</a:t>
            </a:r>
            <a:endParaRPr lang="en-US" sz="1000">
              <a:solidFill>
                <a:schemeClr val="bg1"/>
              </a:solidFill>
              <a:cs typeface="Poppins Light"/>
            </a:endParaRP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000" err="1">
                <a:solidFill>
                  <a:schemeClr val="bg1"/>
                </a:solidFill>
                <a:ea typeface="+mn-lt"/>
                <a:cs typeface="+mn-lt"/>
              </a:rPr>
              <a:t>resumeJson</a:t>
            </a:r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{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"Profile": {},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"Summary":{},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"Education":[],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"Experience": [], 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"Activity": [], 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"Skills": {}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}</a:t>
            </a:r>
            <a:endParaRPr lang="en-US" sz="1000">
              <a:solidFill>
                <a:schemeClr val="bg1"/>
              </a:solidFill>
              <a:cs typeface="Poppins Light"/>
            </a:endParaRP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}</a:t>
            </a:r>
            <a:endParaRPr lang="en-US" sz="1000">
              <a:solidFill>
                <a:schemeClr val="bg1"/>
              </a:solidFill>
              <a:cs typeface="Poppins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D445DE-B17A-1244-2DAE-D8A96651CCD8}"/>
              </a:ext>
            </a:extLst>
          </p:cNvPr>
          <p:cNvSpPr txBox="1"/>
          <p:nvPr/>
        </p:nvSpPr>
        <p:spPr>
          <a:xfrm>
            <a:off x="8850955" y="1026135"/>
            <a:ext cx="2422235" cy="1938992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 w="9525" cap="rnd" cmpd="sng" algn="ctr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{</a:t>
            </a:r>
            <a:endParaRPr lang="en-US" sz="1000">
              <a:solidFill>
                <a:schemeClr val="bg1"/>
              </a:solidFill>
              <a:cs typeface="Poppins Light"/>
            </a:endParaRP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000" b="1" err="1">
                <a:solidFill>
                  <a:schemeClr val="bg1"/>
                </a:solidFill>
                <a:ea typeface="+mn-lt"/>
                <a:cs typeface="+mn-lt"/>
              </a:rPr>
              <a:t>outputLang</a:t>
            </a:r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</a:t>
            </a:r>
            <a:r>
              <a:rPr lang="en-US" sz="1000">
                <a:solidFill>
                  <a:schemeClr val="bg1"/>
                </a:solidFill>
                <a:highlight>
                  <a:srgbClr val="00FFFF"/>
                </a:highlight>
                <a:latin typeface="Poppins Light"/>
                <a:ea typeface="+mn-lt"/>
                <a:cs typeface="+mn-lt"/>
              </a:rPr>
              <a:t>"</a:t>
            </a:r>
            <a:r>
              <a:rPr lang="en-US" sz="1000" err="1">
                <a:solidFill>
                  <a:schemeClr val="bg1"/>
                </a:solidFill>
                <a:highlight>
                  <a:srgbClr val="00FFFF"/>
                </a:highlight>
                <a:latin typeface="Poppins Light"/>
                <a:ea typeface="+mn-lt"/>
                <a:cs typeface="+mn-lt"/>
              </a:rPr>
              <a:t>th</a:t>
            </a:r>
            <a:r>
              <a:rPr lang="en-US" sz="1000">
                <a:solidFill>
                  <a:schemeClr val="bg1"/>
                </a:solidFill>
                <a:highlight>
                  <a:srgbClr val="00FFFF"/>
                </a:highlight>
                <a:latin typeface="Poppins Light"/>
                <a:ea typeface="+mn-lt"/>
                <a:cs typeface="+mn-lt"/>
              </a:rPr>
              <a:t>",</a:t>
            </a:r>
            <a:endParaRPr lang="en-US" sz="1000">
              <a:solidFill>
                <a:schemeClr val="bg1"/>
              </a:solidFill>
              <a:highlight>
                <a:srgbClr val="00FFFF"/>
              </a:highlight>
              <a:cs typeface="Poppins Light"/>
            </a:endParaRP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000" err="1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targetRole</a:t>
            </a:r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"</a:t>
            </a:r>
            <a:r>
              <a:rPr lang="en-US" sz="1000" err="1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role#ai_engineer</a:t>
            </a:r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",</a:t>
            </a:r>
            <a:endParaRPr lang="en-US" sz="1000">
              <a:solidFill>
                <a:schemeClr val="bg1"/>
              </a:solidFill>
              <a:cs typeface="Poppins Light"/>
            </a:endParaRP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"</a:t>
            </a:r>
            <a:r>
              <a:rPr lang="en-US" sz="1000" err="1">
                <a:solidFill>
                  <a:schemeClr val="bg1"/>
                </a:solidFill>
                <a:ea typeface="+mn-lt"/>
                <a:cs typeface="+mn-lt"/>
              </a:rPr>
              <a:t>resumeJson</a:t>
            </a:r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": {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"Profile": {},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"Summary":{},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"Education":[],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"Experience": [], 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"Activity": [], 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    "Skills": {}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    }</a:t>
            </a:r>
          </a:p>
          <a:p>
            <a:r>
              <a:rPr lang="en-US" sz="1000">
                <a:solidFill>
                  <a:schemeClr val="bg1"/>
                </a:solidFill>
                <a:latin typeface="Poppins Light"/>
                <a:ea typeface="+mn-lt"/>
                <a:cs typeface="+mn-lt"/>
              </a:rPr>
              <a:t>}</a:t>
            </a:r>
            <a:endParaRPr lang="en-US" sz="1000">
              <a:solidFill>
                <a:schemeClr val="bg1"/>
              </a:solidFill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131674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EED43-AF43-9E5E-55D6-3ACCA93D0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7E6D3-2365-CDDD-F6AA-5FD184589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F4A587-0D78-3199-D7E0-0701CDDAC372}"/>
              </a:ext>
            </a:extLst>
          </p:cNvPr>
          <p:cNvSpPr/>
          <p:nvPr/>
        </p:nvSpPr>
        <p:spPr>
          <a:xfrm>
            <a:off x="0" y="0"/>
            <a:ext cx="1600200" cy="5187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>
                <a:cs typeface="Poppins Light"/>
              </a:rPr>
              <a:t>Profile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07E7BE-8ECD-0F4F-9345-8F25FDC5A727}"/>
              </a:ext>
            </a:extLst>
          </p:cNvPr>
          <p:cNvSpPr/>
          <p:nvPr/>
        </p:nvSpPr>
        <p:spPr>
          <a:xfrm>
            <a:off x="5952890" y="667423"/>
            <a:ext cx="5810484" cy="30175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1B3AB4-18A4-52F9-3B3A-73775EE6ECD6}"/>
              </a:ext>
            </a:extLst>
          </p:cNvPr>
          <p:cNvSpPr/>
          <p:nvPr/>
        </p:nvSpPr>
        <p:spPr>
          <a:xfrm>
            <a:off x="1066800" y="667424"/>
            <a:ext cx="4676078" cy="3017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33DB7A-336F-5079-8E28-FF1B1FE61FA0}"/>
              </a:ext>
            </a:extLst>
          </p:cNvPr>
          <p:cNvSpPr/>
          <p:nvPr/>
        </p:nvSpPr>
        <p:spPr>
          <a:xfrm>
            <a:off x="5952890" y="3747645"/>
            <a:ext cx="5810484" cy="30175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398FAB-40D5-9891-BF2E-05C0E096F439}"/>
              </a:ext>
            </a:extLst>
          </p:cNvPr>
          <p:cNvSpPr/>
          <p:nvPr/>
        </p:nvSpPr>
        <p:spPr>
          <a:xfrm>
            <a:off x="1066800" y="3747645"/>
            <a:ext cx="4676078" cy="3017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892C55-CE57-B201-4A28-038944A20AC7}"/>
              </a:ext>
            </a:extLst>
          </p:cNvPr>
          <p:cNvSpPr txBox="1"/>
          <p:nvPr/>
        </p:nvSpPr>
        <p:spPr>
          <a:xfrm>
            <a:off x="1171804" y="3844517"/>
            <a:ext cx="4488331" cy="78483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00">
                <a:solidFill>
                  <a:schemeClr val="bg1"/>
                </a:solidFill>
                <a:cs typeface="Poppins Light"/>
              </a:rPr>
              <a:t>"Profile": 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"name": "John Doe",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"email": "john@gmail.com"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},</a:t>
            </a:r>
          </a:p>
          <a:p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4884D-DD88-6859-6451-9E74B7846AB5}"/>
              </a:ext>
            </a:extLst>
          </p:cNvPr>
          <p:cNvSpPr txBox="1"/>
          <p:nvPr/>
        </p:nvSpPr>
        <p:spPr>
          <a:xfrm>
            <a:off x="1171807" y="739585"/>
            <a:ext cx="4488328" cy="1200329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00">
                <a:solidFill>
                  <a:schemeClr val="bg1"/>
                </a:solidFill>
                <a:cs typeface="Poppins Light"/>
              </a:rPr>
              <a:t>"Profile": 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"name": "Juan Jose Carin",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"email": "juanjose.carin@gmail.com",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"phone": "650-336-4590",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linkedin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"linkedin.com/in/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juanjosecarin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jobdb_link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"-",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portfolio_link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"juanjocarin.github.io"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},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E4DA07-59C3-6A88-969F-893A25E2EB58}"/>
              </a:ext>
            </a:extLst>
          </p:cNvPr>
          <p:cNvSpPr txBox="1"/>
          <p:nvPr/>
        </p:nvSpPr>
        <p:spPr>
          <a:xfrm>
            <a:off x="6096000" y="739585"/>
            <a:ext cx="5562600" cy="2446824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00">
                <a:solidFill>
                  <a:schemeClr val="bg1"/>
                </a:solidFill>
                <a:cs typeface="Poppins Light"/>
              </a:rPr>
              <a:t>"Profile": 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totalSectionRawScore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16,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totalSectionMaxScore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20,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"scores": 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ContentQuality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"score": 6,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"feedback": "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ผู้สมัครใช้ชื่อตำแหน่งที่กว้างเกินไปและ</a:t>
            </a:r>
            <a:endParaRPr lang="en-US" sz="900">
              <a:solidFill>
                <a:schemeClr val="bg1"/>
              </a:solidFill>
              <a:cs typeface="Poppins Light"/>
            </a:endParaRP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 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ไม่ได้ระบุความเชี่ยวชาญเฉพาะทางสำหรับบทบาท </a:t>
            </a:r>
            <a:endParaRPr lang="en-US" sz="900">
              <a:solidFill>
                <a:schemeClr val="bg1"/>
              </a:solidFill>
              <a:cs typeface="Poppins Light"/>
            </a:endParaRP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 AI Engineer"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},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"Completeness": 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"score": 10,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"feedback": "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ข้อมูลระบุตัวตนและรายละเอียดการติดต่อครบถ้วนและค้นหาง่าย"</a:t>
            </a:r>
          </a:p>
          <a:p>
            <a:r>
              <a:rPr lang="th-TH" sz="900">
                <a:solidFill>
                  <a:schemeClr val="bg1"/>
                </a:solidFill>
                <a:cs typeface="Poppins Light"/>
              </a:rPr>
              <a:t>          }</a:t>
            </a:r>
          </a:p>
          <a:p>
            <a:r>
              <a:rPr lang="th-TH" sz="900">
                <a:solidFill>
                  <a:schemeClr val="bg1"/>
                </a:solidFill>
                <a:cs typeface="Poppins Light"/>
              </a:rPr>
              <a:t>        },</a:t>
            </a:r>
          </a:p>
          <a:p>
            <a:r>
              <a:rPr lang="th-TH" sz="900">
                <a:solidFill>
                  <a:schemeClr val="bg1"/>
                </a:solidFill>
                <a:cs typeface="Poppins Light"/>
              </a:rPr>
              <a:t>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sectionFeedbak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"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ส่วนโปรไฟล์นี้ระบุข้อมูลสำคัญครบถ้วนและง่ายต่อการติดต่อ อย่างไรก็ตาม ผู้สมัครควรปรับปรุงชื่อตำแหน่งให้เฉพาะเจาะจงมากขึ้น เพื่อสื่อถึงความเชี่ยวชาญในบทบาท 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AI Engineer 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ได้ชัดเจนขึ้น"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6AF583-2ED1-9281-A749-A99532BA6112}"/>
              </a:ext>
            </a:extLst>
          </p:cNvPr>
          <p:cNvSpPr txBox="1"/>
          <p:nvPr/>
        </p:nvSpPr>
        <p:spPr>
          <a:xfrm>
            <a:off x="6096000" y="3844517"/>
            <a:ext cx="5562600" cy="2446824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00">
                <a:solidFill>
                  <a:schemeClr val="bg1"/>
                </a:solidFill>
                <a:cs typeface="Poppins Light"/>
              </a:rPr>
              <a:t>"Profile": 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totalSectionRawScore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8,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totalSectionMaxScore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20,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"scores": 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ContentQuality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"score": 2,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"feedback": "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ส่วนนี้ขาดตำแหน่งงานที่ชัดเจน </a:t>
            </a:r>
            <a:endParaRPr lang="en-US" sz="900">
              <a:solidFill>
                <a:schemeClr val="bg1"/>
              </a:solidFill>
              <a:cs typeface="Poppins Light"/>
            </a:endParaRP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 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ทำให้ไม่สามารถระบุตัวตนทางวิชาชีพได้."</a:t>
            </a:r>
          </a:p>
          <a:p>
            <a:r>
              <a:rPr lang="th-TH" sz="900">
                <a:solidFill>
                  <a:schemeClr val="bg1"/>
                </a:solidFill>
                <a:cs typeface="Poppins Light"/>
              </a:rPr>
              <a:t>          },</a:t>
            </a:r>
          </a:p>
          <a:p>
            <a:r>
              <a:rPr lang="th-TH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Completeness": 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"score": 6,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"feedback": "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มีการระบุชื่อและอีเมล แต่ขาดข้อมูลสำคัญ เช่น ตำแหน่งงาน และช่องทางติดต่อเสริม."</a:t>
            </a:r>
          </a:p>
          <a:p>
            <a:r>
              <a:rPr lang="th-TH" sz="900">
                <a:solidFill>
                  <a:schemeClr val="bg1"/>
                </a:solidFill>
                <a:cs typeface="Poppins Light"/>
              </a:rPr>
              <a:t>          }</a:t>
            </a:r>
          </a:p>
          <a:p>
            <a:r>
              <a:rPr lang="th-TH" sz="900">
                <a:solidFill>
                  <a:schemeClr val="bg1"/>
                </a:solidFill>
                <a:cs typeface="Poppins Light"/>
              </a:rPr>
              <a:t>        },</a:t>
            </a:r>
          </a:p>
          <a:p>
            <a:r>
              <a:rPr lang="th-TH" sz="900">
                <a:solidFill>
                  <a:schemeClr val="bg1"/>
                </a:solidFill>
                <a:cs typeface="Poppins Light"/>
              </a:rPr>
              <a:t>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sectionFeedbak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"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โปรไฟล์นี้ระบุชื่อและอีเมลแต่ขาดตำแหน่งงานที่ชัดเจน ซึ่งทำให้ไม่สามารถสร้างความประทับใจแรกทางวิชาชีพที่แข็งแกร่งสำหรับบทบาท 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AI Engineer 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ได้ ควรเพิ่มรายละเอียดที่เกี่ยวข้องกับอาชีพเพื่อเสริมความน่าเชื่อถือ."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E9A75E-37B7-6D38-0954-FDC2A321A5CF}"/>
              </a:ext>
            </a:extLst>
          </p:cNvPr>
          <p:cNvSpPr txBox="1"/>
          <p:nvPr/>
        </p:nvSpPr>
        <p:spPr>
          <a:xfrm>
            <a:off x="9208009" y="667424"/>
            <a:ext cx="2555365" cy="1200329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00">
                <a:solidFill>
                  <a:schemeClr val="bg1"/>
                </a:solidFill>
                <a:cs typeface="Poppins Light"/>
              </a:rPr>
              <a:t> "Profile": 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sessionGrade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“A",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totalSectionRawScore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16,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totalSectionMaxScore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20,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sectionWeight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0.1,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totalSectionRawScoreXWeight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1.2,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totalSectionMaxScoreXWeight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2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},</a:t>
            </a:r>
            <a:endParaRPr lang="th-TH" sz="900">
              <a:solidFill>
                <a:schemeClr val="bg1"/>
              </a:solidFill>
              <a:cs typeface="Poppins Ligh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8E308D-8FD6-6BA5-1915-EA1902B9D975}"/>
              </a:ext>
            </a:extLst>
          </p:cNvPr>
          <p:cNvSpPr txBox="1"/>
          <p:nvPr/>
        </p:nvSpPr>
        <p:spPr>
          <a:xfrm>
            <a:off x="9208009" y="3747645"/>
            <a:ext cx="2555366" cy="1200329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00">
                <a:solidFill>
                  <a:schemeClr val="bg1"/>
                </a:solidFill>
                <a:cs typeface="Poppins Light"/>
              </a:rPr>
              <a:t>"Profile": 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sessionGrade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"C",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totalSectionRawScore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8,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totalSectionMaxScore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20,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sectionWeight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0.1,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totalSectionRawScoreXWeight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0.8,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totalSectionMaxScoreXWeight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2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},</a:t>
            </a:r>
            <a:endParaRPr lang="th-TH" sz="900">
              <a:solidFill>
                <a:schemeClr val="bg1"/>
              </a:solidFill>
              <a:cs typeface="Poppins Light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01E56B8-DE40-5607-FCEA-C355B032F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76" y="1051472"/>
            <a:ext cx="518715" cy="5187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3E7BFB9-B412-1BAD-B9BE-B4160A7AA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576" y="4073117"/>
            <a:ext cx="521208" cy="521208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6738A83D-3742-AD28-F3D3-5F1F8368A88B}"/>
              </a:ext>
            </a:extLst>
          </p:cNvPr>
          <p:cNvSpPr/>
          <p:nvPr/>
        </p:nvSpPr>
        <p:spPr>
          <a:xfrm>
            <a:off x="12083796" y="41939"/>
            <a:ext cx="62837" cy="62837"/>
          </a:xfrm>
          <a:prstGeom prst="ellipse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170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24FB0-6302-964B-E59E-6FCCFE32A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0CB3A-77BA-DC37-B447-919AB4C12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959668-3C5A-4955-4A77-7942977218B0}"/>
              </a:ext>
            </a:extLst>
          </p:cNvPr>
          <p:cNvSpPr/>
          <p:nvPr/>
        </p:nvSpPr>
        <p:spPr>
          <a:xfrm>
            <a:off x="0" y="0"/>
            <a:ext cx="1600200" cy="5187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>
                <a:cs typeface="Poppins Light"/>
              </a:rPr>
              <a:t>Profile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4F176E-64A7-BA58-A0A8-C779B78C871B}"/>
              </a:ext>
            </a:extLst>
          </p:cNvPr>
          <p:cNvSpPr/>
          <p:nvPr/>
        </p:nvSpPr>
        <p:spPr>
          <a:xfrm>
            <a:off x="5952890" y="667424"/>
            <a:ext cx="5724144" cy="30175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6BE71B-365B-2BCB-4BA1-CD61BC249172}"/>
              </a:ext>
            </a:extLst>
          </p:cNvPr>
          <p:cNvSpPr/>
          <p:nvPr/>
        </p:nvSpPr>
        <p:spPr>
          <a:xfrm>
            <a:off x="1066800" y="667424"/>
            <a:ext cx="4676078" cy="3017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C82881-A6AB-A811-305C-B8FAD1D76CB2}"/>
              </a:ext>
            </a:extLst>
          </p:cNvPr>
          <p:cNvSpPr/>
          <p:nvPr/>
        </p:nvSpPr>
        <p:spPr>
          <a:xfrm>
            <a:off x="5952890" y="3747645"/>
            <a:ext cx="5810484" cy="30175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BB7EEF-8B22-D95C-B6B6-85974AE05B65}"/>
              </a:ext>
            </a:extLst>
          </p:cNvPr>
          <p:cNvSpPr/>
          <p:nvPr/>
        </p:nvSpPr>
        <p:spPr>
          <a:xfrm>
            <a:off x="1066800" y="3747645"/>
            <a:ext cx="4676078" cy="3017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8BD5B0-30AA-CC12-7314-BFE2F5BF2A6D}"/>
              </a:ext>
            </a:extLst>
          </p:cNvPr>
          <p:cNvSpPr txBox="1"/>
          <p:nvPr/>
        </p:nvSpPr>
        <p:spPr>
          <a:xfrm>
            <a:off x="1171804" y="3844517"/>
            <a:ext cx="4488331" cy="78483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00">
                <a:solidFill>
                  <a:schemeClr val="bg1"/>
                </a:solidFill>
                <a:cs typeface="Poppins Light"/>
              </a:rPr>
              <a:t>"Profile": 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"name": "John Doe",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"email": "john@gmail.com"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},</a:t>
            </a:r>
          </a:p>
          <a:p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FD6F6D-EE48-597E-C2A8-14829E59FCDA}"/>
              </a:ext>
            </a:extLst>
          </p:cNvPr>
          <p:cNvSpPr txBox="1"/>
          <p:nvPr/>
        </p:nvSpPr>
        <p:spPr>
          <a:xfrm>
            <a:off x="1171807" y="739585"/>
            <a:ext cx="4488328" cy="1200329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00">
                <a:solidFill>
                  <a:schemeClr val="bg1"/>
                </a:solidFill>
                <a:cs typeface="Poppins Light"/>
              </a:rPr>
              <a:t>"Profile": 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"name": "Juan Jose Carin",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"email": "juanjose.carin@gmail.com",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"phone": "650-336-4590",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linkedin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"linkedin.com/in/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juanjosecarin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jobdb_link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"-",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portfolio_link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"juanjocarin.github.io"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},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D3DDB7-398C-A4DB-4BB7-301D86823BEA}"/>
              </a:ext>
            </a:extLst>
          </p:cNvPr>
          <p:cNvSpPr txBox="1"/>
          <p:nvPr/>
        </p:nvSpPr>
        <p:spPr>
          <a:xfrm>
            <a:off x="6096000" y="739585"/>
            <a:ext cx="5562600" cy="2446824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00">
                <a:solidFill>
                  <a:schemeClr val="bg1"/>
                </a:solidFill>
                <a:cs typeface="Poppins Light"/>
              </a:rPr>
              <a:t>"Profile"</a:t>
            </a:r>
            <a:r>
              <a:rPr lang="en-US" sz="900">
                <a:solidFill>
                  <a:schemeClr val="bg1">
                    <a:lumMod val="50000"/>
                    <a:lumOff val="50000"/>
                  </a:schemeClr>
                </a:solidFill>
                <a:cs typeface="Poppins Light"/>
              </a:rPr>
              <a:t>: 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"</a:t>
            </a:r>
            <a:r>
              <a:rPr lang="en-US" sz="9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totalSectionRawScore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16,</a:t>
            </a:r>
          </a:p>
          <a:p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"</a:t>
            </a:r>
            <a:r>
              <a:rPr lang="en-US" sz="9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totalSectionMaxScore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20,</a:t>
            </a:r>
          </a:p>
          <a:p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"scores": {</a:t>
            </a:r>
          </a:p>
          <a:p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ContentQuality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"score": </a:t>
            </a:r>
            <a:r>
              <a:rPr lang="en-US" sz="900" b="1">
                <a:solidFill>
                  <a:schemeClr val="bg1"/>
                </a:solidFill>
                <a:cs typeface="Poppins Light"/>
              </a:rPr>
              <a:t>6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"feedback": "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ผู้สมัครใช้ชื่อตำแหน่งที่กว้างเกินไปและ</a:t>
            </a:r>
            <a:endParaRPr lang="en-US" sz="900">
              <a:solidFill>
                <a:schemeClr val="bg1"/>
              </a:solidFill>
              <a:cs typeface="Poppins Light"/>
            </a:endParaRP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 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ไม่ได้ระบุความเชี่ยวชาญเฉพาะทางสำหรับบทบาท </a:t>
            </a:r>
            <a:endParaRPr lang="en-US" sz="900">
              <a:solidFill>
                <a:schemeClr val="bg1"/>
              </a:solidFill>
              <a:cs typeface="Poppins Light"/>
            </a:endParaRP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 AI Engineer"</a:t>
            </a:r>
          </a:p>
          <a:p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  },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"Completeness": 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"score": </a:t>
            </a:r>
            <a:r>
              <a:rPr lang="en-US" sz="900" b="1">
                <a:solidFill>
                  <a:schemeClr val="bg1"/>
                </a:solidFill>
                <a:cs typeface="Poppins Light"/>
              </a:rPr>
              <a:t>10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"feedback": "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ข้อมูลระบุตัวตนและรายละเอียดการติดต่อครบถ้วนและค้นหาง่าย"</a:t>
            </a:r>
          </a:p>
          <a:p>
            <a:r>
              <a:rPr lang="th-TH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  }</a:t>
            </a:r>
          </a:p>
          <a:p>
            <a:r>
              <a:rPr lang="th-TH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},</a:t>
            </a:r>
          </a:p>
          <a:p>
            <a:r>
              <a:rPr lang="th-TH" sz="900">
                <a:solidFill>
                  <a:schemeClr val="bg1"/>
                </a:solidFill>
                <a:cs typeface="Poppins Light"/>
              </a:rPr>
              <a:t>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sectionFeedbak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"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ส่วนโปรไฟล์นี้ระบุข้อมูลสำคัญครบถ้วนและง่ายต่อการติดต่อ อย่างไรก็ตาม ผู้สมัครควรปรับปรุงชื่อตำแหน่งให้เฉพาะเจาะจงมากขึ้น เพื่อสื่อถึงความเชี่ยวชาญในบทบาท 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AI Engineer 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ได้ชัดเจนขึ้น"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86BA81-01D5-97F7-67ED-EB4ECA39FBCB}"/>
              </a:ext>
            </a:extLst>
          </p:cNvPr>
          <p:cNvSpPr txBox="1"/>
          <p:nvPr/>
        </p:nvSpPr>
        <p:spPr>
          <a:xfrm>
            <a:off x="6096000" y="3844517"/>
            <a:ext cx="5562600" cy="2308324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00">
                <a:solidFill>
                  <a:schemeClr val="bg1"/>
                </a:solidFill>
                <a:cs typeface="Poppins Light"/>
              </a:rPr>
              <a:t>"Profile"</a:t>
            </a:r>
            <a:r>
              <a:rPr lang="en-US" sz="900">
                <a:solidFill>
                  <a:schemeClr val="bg1">
                    <a:lumMod val="50000"/>
                    <a:lumOff val="50000"/>
                  </a:schemeClr>
                </a:solidFill>
                <a:cs typeface="Poppins Light"/>
              </a:rPr>
              <a:t>: 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"</a:t>
            </a:r>
            <a:r>
              <a:rPr lang="en-US" sz="9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totalSectionRawScore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8,</a:t>
            </a:r>
          </a:p>
          <a:p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"</a:t>
            </a:r>
            <a:r>
              <a:rPr lang="en-US" sz="9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totalSectionMaxScore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20,</a:t>
            </a:r>
          </a:p>
          <a:p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"scores": 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ContentQuality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"score": </a:t>
            </a:r>
            <a:r>
              <a:rPr lang="en-US" sz="900" b="1">
                <a:solidFill>
                  <a:schemeClr val="bg1"/>
                </a:solidFill>
                <a:cs typeface="Poppins Light"/>
              </a:rPr>
              <a:t>2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"feedback": "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ส่วนนี้ขาดตำแหน่งงานที่ชัดเจน </a:t>
            </a:r>
            <a:endParaRPr lang="en-US" sz="900">
              <a:solidFill>
                <a:schemeClr val="bg1"/>
              </a:solidFill>
              <a:cs typeface="Poppins Light"/>
            </a:endParaRP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 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ทำให้ไม่สามารถระบุตัวตนทางวิชาชีพได้."</a:t>
            </a:r>
          </a:p>
          <a:p>
            <a:r>
              <a:rPr lang="th-TH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  },</a:t>
            </a:r>
          </a:p>
          <a:p>
            <a:r>
              <a:rPr lang="th-TH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Completeness": 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"score": </a:t>
            </a:r>
            <a:r>
              <a:rPr lang="en-US" sz="900" b="1">
                <a:solidFill>
                  <a:schemeClr val="bg1"/>
                </a:solidFill>
                <a:cs typeface="Poppins Light"/>
              </a:rPr>
              <a:t>6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"feedback": </a:t>
            </a:r>
            <a:r>
              <a:rPr lang="en-US" sz="900">
                <a:solidFill>
                  <a:schemeClr val="bg1"/>
                </a:solidFill>
                <a:highlight>
                  <a:srgbClr val="FFFF00"/>
                </a:highlight>
                <a:cs typeface="Poppins Light"/>
              </a:rPr>
              <a:t>"</a:t>
            </a:r>
            <a:r>
              <a:rPr lang="th-TH" sz="900">
                <a:solidFill>
                  <a:schemeClr val="bg1"/>
                </a:solidFill>
                <a:highlight>
                  <a:srgbClr val="FFFF00"/>
                </a:highlight>
                <a:cs typeface="Poppins Light"/>
              </a:rPr>
              <a:t>มีการระบุชื่อและอีเมล แต่ขาดข้อมูลสำคัญ เช่น ตำแหน่งงาน และช่องทางติดต่อเสริม."</a:t>
            </a:r>
          </a:p>
          <a:p>
            <a:r>
              <a:rPr lang="th-TH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  }</a:t>
            </a:r>
          </a:p>
          <a:p>
            <a:r>
              <a:rPr lang="th-TH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},</a:t>
            </a:r>
          </a:p>
          <a:p>
            <a:r>
              <a:rPr lang="th-TH" sz="900">
                <a:solidFill>
                  <a:schemeClr val="bg1"/>
                </a:solidFill>
                <a:cs typeface="Poppins Light"/>
              </a:rPr>
              <a:t>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sectionFeedbak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"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โปรไฟล์นี้ระบุชื่อและอีเมลแต่ขาดตำแหน่งงานที่ชัดเจน ซึ่งทำให้ไม่สามารถสร้างความประทับใจแรกทางวิชาชีพที่แข็งแกร่งสำหรับบทบาท 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AI Engineer 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ได้ ควรเพิ่มรายละเอียดที่เกี่ยวข้องกับอาชีพเพื่อเสริมความน่าเชื่อถือ."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4BB2AF-F87D-23DA-CCBD-9EBBAC392A51}"/>
              </a:ext>
            </a:extLst>
          </p:cNvPr>
          <p:cNvSpPr txBox="1"/>
          <p:nvPr/>
        </p:nvSpPr>
        <p:spPr>
          <a:xfrm>
            <a:off x="9208009" y="667424"/>
            <a:ext cx="2555365" cy="1200329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00">
                <a:solidFill>
                  <a:schemeClr val="bg1"/>
                </a:solidFill>
                <a:cs typeface="Poppins Light"/>
              </a:rPr>
              <a:t> "Profile": 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sessionGrade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“A",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totalSectionRawScore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16,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totalSectionMaxScore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20,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sectionWeight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0.1,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totalSectionRawScoreXWeight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1.2,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totalSectionMaxScoreXWeight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2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},</a:t>
            </a:r>
            <a:endParaRPr lang="th-TH" sz="900">
              <a:solidFill>
                <a:schemeClr val="bg1"/>
              </a:solidFill>
              <a:cs typeface="Poppins Ligh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E9DBE8-B0FA-F1CB-7A7A-502F5CD76C90}"/>
              </a:ext>
            </a:extLst>
          </p:cNvPr>
          <p:cNvSpPr txBox="1"/>
          <p:nvPr/>
        </p:nvSpPr>
        <p:spPr>
          <a:xfrm>
            <a:off x="9208009" y="3747645"/>
            <a:ext cx="2555366" cy="1200329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00">
                <a:solidFill>
                  <a:schemeClr val="bg1"/>
                </a:solidFill>
                <a:cs typeface="Poppins Light"/>
              </a:rPr>
              <a:t>"Profile": 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sessionGrade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"C",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totalSectionRawScore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8,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totalSectionMaxScore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20,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sectionWeight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0.1,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totalSectionRawScoreXWeight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0.8,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totalSectionMaxScoreXWeight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2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},</a:t>
            </a:r>
            <a:endParaRPr lang="th-TH" sz="900">
              <a:solidFill>
                <a:schemeClr val="bg1"/>
              </a:solidFill>
              <a:cs typeface="Poppins Light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6CF2308-FC3F-E306-C30A-3949E3A4F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76" y="1051472"/>
            <a:ext cx="518715" cy="5187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457B6D1-BB7E-6EE3-2D1E-06E9B92E4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576" y="4073117"/>
            <a:ext cx="521208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986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C814F-DE24-5BCE-8DC3-D323000FA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518403-D3DF-4093-C72D-5E596DB63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09C8C3-8B14-5F45-52AA-2C29EBD4F87A}"/>
              </a:ext>
            </a:extLst>
          </p:cNvPr>
          <p:cNvSpPr/>
          <p:nvPr/>
        </p:nvSpPr>
        <p:spPr>
          <a:xfrm>
            <a:off x="0" y="0"/>
            <a:ext cx="1600200" cy="5187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1400" b="1">
                <a:cs typeface="Poppins Light"/>
              </a:rPr>
              <a:t>Education</a:t>
            </a:r>
            <a:endParaRPr lang="en-GB" sz="1400" b="1">
              <a:cs typeface="Poppins Ligh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DDBF05-E3B4-36B6-6429-CD728B43084F}"/>
              </a:ext>
            </a:extLst>
          </p:cNvPr>
          <p:cNvSpPr/>
          <p:nvPr/>
        </p:nvSpPr>
        <p:spPr>
          <a:xfrm>
            <a:off x="5952890" y="667423"/>
            <a:ext cx="5810484" cy="30175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5352F4-1352-60A5-7E31-80A9C28E1683}"/>
              </a:ext>
            </a:extLst>
          </p:cNvPr>
          <p:cNvSpPr/>
          <p:nvPr/>
        </p:nvSpPr>
        <p:spPr>
          <a:xfrm>
            <a:off x="1066800" y="667424"/>
            <a:ext cx="4676078" cy="3017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6A6678-6DE2-EA48-DBC4-36DAE28A1309}"/>
              </a:ext>
            </a:extLst>
          </p:cNvPr>
          <p:cNvSpPr/>
          <p:nvPr/>
        </p:nvSpPr>
        <p:spPr>
          <a:xfrm>
            <a:off x="5952890" y="3747645"/>
            <a:ext cx="5810484" cy="30175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56FA91-7251-5728-5827-4DC8E259471C}"/>
              </a:ext>
            </a:extLst>
          </p:cNvPr>
          <p:cNvSpPr/>
          <p:nvPr/>
        </p:nvSpPr>
        <p:spPr>
          <a:xfrm>
            <a:off x="1066800" y="3747645"/>
            <a:ext cx="4676078" cy="3017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BF9632-1847-D305-96AD-97579330953E}"/>
              </a:ext>
            </a:extLst>
          </p:cNvPr>
          <p:cNvSpPr txBox="1"/>
          <p:nvPr/>
        </p:nvSpPr>
        <p:spPr>
          <a:xfrm>
            <a:off x="1171804" y="3844517"/>
            <a:ext cx="4488331" cy="1269578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50">
                <a:solidFill>
                  <a:schemeClr val="bg1"/>
                </a:solidFill>
                <a:cs typeface="Poppins Light"/>
              </a:rPr>
              <a:t> "Education": [</a:t>
            </a:r>
          </a:p>
          <a:p>
            <a:r>
              <a:rPr lang="en-US" sz="850">
                <a:solidFill>
                  <a:schemeClr val="bg1"/>
                </a:solidFill>
                <a:cs typeface="Poppins Light"/>
              </a:rPr>
              <a:t>      {</a:t>
            </a:r>
          </a:p>
          <a:p>
            <a:r>
              <a:rPr lang="en-US" sz="850">
                <a:solidFill>
                  <a:schemeClr val="bg1"/>
                </a:solidFill>
                <a:cs typeface="Poppins Light"/>
              </a:rPr>
              <a:t>        "institution": "Local University",</a:t>
            </a:r>
          </a:p>
          <a:p>
            <a:r>
              <a:rPr lang="en-US" sz="850">
                <a:solidFill>
                  <a:schemeClr val="bg1"/>
                </a:solidFill>
                <a:cs typeface="Poppins Light"/>
              </a:rPr>
              <a:t>        "degree": "Bachelor Degree",</a:t>
            </a:r>
          </a:p>
          <a:p>
            <a:r>
              <a:rPr lang="en-US" sz="850">
                <a:solidFill>
                  <a:schemeClr val="bg1"/>
                </a:solidFill>
                <a:cs typeface="Poppins Light"/>
              </a:rPr>
              <a:t>        "dates": "-",</a:t>
            </a:r>
          </a:p>
          <a:p>
            <a:r>
              <a:rPr lang="en-US" sz="850">
                <a:solidFill>
                  <a:schemeClr val="bg1"/>
                </a:solidFill>
                <a:cs typeface="Poppins Light"/>
              </a:rPr>
              <a:t>        "</a:t>
            </a:r>
            <a:r>
              <a:rPr lang="en-US" sz="850" err="1">
                <a:solidFill>
                  <a:schemeClr val="bg1"/>
                </a:solidFill>
                <a:cs typeface="Poppins Light"/>
              </a:rPr>
              <a:t>gpa</a:t>
            </a:r>
            <a:r>
              <a:rPr lang="en-US" sz="850">
                <a:solidFill>
                  <a:schemeClr val="bg1"/>
                </a:solidFill>
                <a:cs typeface="Poppins Light"/>
              </a:rPr>
              <a:t>": "-",</a:t>
            </a:r>
          </a:p>
          <a:p>
            <a:r>
              <a:rPr lang="en-US" sz="850">
                <a:solidFill>
                  <a:schemeClr val="bg1"/>
                </a:solidFill>
                <a:cs typeface="Poppins Light"/>
              </a:rPr>
              <a:t>        "honors": "-"</a:t>
            </a:r>
          </a:p>
          <a:p>
            <a:r>
              <a:rPr lang="en-US" sz="850">
                <a:solidFill>
                  <a:schemeClr val="bg1"/>
                </a:solidFill>
                <a:cs typeface="Poppins Light"/>
              </a:rPr>
              <a:t>      }</a:t>
            </a:r>
          </a:p>
          <a:p>
            <a:r>
              <a:rPr lang="en-US" sz="850">
                <a:solidFill>
                  <a:schemeClr val="bg1"/>
                </a:solidFill>
                <a:cs typeface="Poppins Light"/>
              </a:rPr>
              <a:t>    ],</a:t>
            </a:r>
            <a:endParaRPr lang="en-US" sz="85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D61D8B-5B60-F8D2-3F9D-B5418914D182}"/>
              </a:ext>
            </a:extLst>
          </p:cNvPr>
          <p:cNvSpPr txBox="1"/>
          <p:nvPr/>
        </p:nvSpPr>
        <p:spPr>
          <a:xfrm>
            <a:off x="1171807" y="739585"/>
            <a:ext cx="4488328" cy="2839239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50">
                <a:solidFill>
                  <a:schemeClr val="bg1"/>
                </a:solidFill>
                <a:cs typeface="Poppins Light"/>
              </a:rPr>
              <a:t>"Education": [</a:t>
            </a:r>
          </a:p>
          <a:p>
            <a:r>
              <a:rPr lang="en-US" sz="850">
                <a:solidFill>
                  <a:schemeClr val="bg1"/>
                </a:solidFill>
                <a:cs typeface="Poppins Light"/>
              </a:rPr>
              <a:t>        {</a:t>
            </a:r>
          </a:p>
          <a:p>
            <a:r>
              <a:rPr lang="en-US" sz="850">
                <a:solidFill>
                  <a:schemeClr val="bg1"/>
                </a:solidFill>
                <a:cs typeface="Poppins Light"/>
              </a:rPr>
              <a:t>            "institution": "University of California, Berkeley",</a:t>
            </a:r>
          </a:p>
          <a:p>
            <a:r>
              <a:rPr lang="en-US" sz="850">
                <a:solidFill>
                  <a:schemeClr val="bg1"/>
                </a:solidFill>
                <a:cs typeface="Poppins Light"/>
              </a:rPr>
              <a:t>            "degree": "Master of Information and Data Science",</a:t>
            </a:r>
          </a:p>
          <a:p>
            <a:r>
              <a:rPr lang="en-US" sz="850">
                <a:solidFill>
                  <a:schemeClr val="bg1"/>
                </a:solidFill>
                <a:cs typeface="Poppins Light"/>
              </a:rPr>
              <a:t>            "dates": "2016",</a:t>
            </a:r>
          </a:p>
          <a:p>
            <a:r>
              <a:rPr lang="en-US" sz="850">
                <a:solidFill>
                  <a:schemeClr val="bg1"/>
                </a:solidFill>
                <a:cs typeface="Poppins Light"/>
              </a:rPr>
              <a:t>            "</a:t>
            </a:r>
            <a:r>
              <a:rPr lang="en-US" sz="850" err="1">
                <a:solidFill>
                  <a:schemeClr val="bg1"/>
                </a:solidFill>
                <a:cs typeface="Poppins Light"/>
              </a:rPr>
              <a:t>gpa</a:t>
            </a:r>
            <a:r>
              <a:rPr lang="en-US" sz="850">
                <a:solidFill>
                  <a:schemeClr val="bg1"/>
                </a:solidFill>
                <a:cs typeface="Poppins Light"/>
              </a:rPr>
              <a:t>": "3.93",</a:t>
            </a:r>
          </a:p>
          <a:p>
            <a:r>
              <a:rPr lang="en-US" sz="850">
                <a:solidFill>
                  <a:schemeClr val="bg1"/>
                </a:solidFill>
                <a:cs typeface="Poppins Light"/>
              </a:rPr>
              <a:t>            "honors": "Relevant courses: Machine Learning; Machine Learning at Scale; Storing and Retrieving Data; Field Experiments; Applied Regression and Time Series Analysis; Exploring and Analyzing Data; Data Visualization and Communication; Research Design and Applications for Data Analysis."</a:t>
            </a:r>
          </a:p>
          <a:p>
            <a:r>
              <a:rPr lang="en-US" sz="850">
                <a:solidFill>
                  <a:schemeClr val="bg1"/>
                </a:solidFill>
                <a:cs typeface="Poppins Light"/>
              </a:rPr>
              <a:t>        },</a:t>
            </a:r>
          </a:p>
          <a:p>
            <a:r>
              <a:rPr lang="en-US" sz="850">
                <a:solidFill>
                  <a:schemeClr val="bg1"/>
                </a:solidFill>
                <a:cs typeface="Poppins Light"/>
              </a:rPr>
              <a:t>        {</a:t>
            </a:r>
          </a:p>
          <a:p>
            <a:r>
              <a:rPr lang="en-US" sz="850">
                <a:solidFill>
                  <a:schemeClr val="bg1"/>
                </a:solidFill>
                <a:cs typeface="Poppins Light"/>
              </a:rPr>
              <a:t>            "institution": "Universidad Politécnica de Madrid",</a:t>
            </a:r>
          </a:p>
          <a:p>
            <a:r>
              <a:rPr lang="en-US" sz="850">
                <a:solidFill>
                  <a:schemeClr val="bg1"/>
                </a:solidFill>
                <a:cs typeface="Poppins Light"/>
              </a:rPr>
              <a:t>            "degree": "M.S. in Telecommunication Engineering",</a:t>
            </a:r>
          </a:p>
          <a:p>
            <a:r>
              <a:rPr lang="en-US" sz="850">
                <a:solidFill>
                  <a:schemeClr val="bg1"/>
                </a:solidFill>
                <a:cs typeface="Poppins Light"/>
              </a:rPr>
              <a:t>            "dates": "2005",</a:t>
            </a:r>
          </a:p>
          <a:p>
            <a:r>
              <a:rPr lang="en-US" sz="850">
                <a:solidFill>
                  <a:schemeClr val="bg1"/>
                </a:solidFill>
                <a:cs typeface="Poppins Light"/>
              </a:rPr>
              <a:t>            "</a:t>
            </a:r>
            <a:r>
              <a:rPr lang="en-US" sz="850" err="1">
                <a:solidFill>
                  <a:schemeClr val="bg1"/>
                </a:solidFill>
                <a:cs typeface="Poppins Light"/>
              </a:rPr>
              <a:t>gpa</a:t>
            </a:r>
            <a:r>
              <a:rPr lang="en-US" sz="850">
                <a:solidFill>
                  <a:schemeClr val="bg1"/>
                </a:solidFill>
                <a:cs typeface="Poppins Light"/>
              </a:rPr>
              <a:t>": "3.03",</a:t>
            </a:r>
          </a:p>
          <a:p>
            <a:r>
              <a:rPr lang="en-US" sz="850">
                <a:solidFill>
                  <a:schemeClr val="bg1"/>
                </a:solidFill>
                <a:cs typeface="Poppins Light"/>
              </a:rPr>
              <a:t>            "honors": "Focus Area: Radio communication systems (radar and mobile). Fellowship: First year at University, due to Honors obtained last year at high school."</a:t>
            </a:r>
          </a:p>
          <a:p>
            <a:r>
              <a:rPr lang="en-US" sz="850">
                <a:solidFill>
                  <a:schemeClr val="bg1"/>
                </a:solidFill>
                <a:cs typeface="Poppins Light"/>
              </a:rPr>
              <a:t>        }</a:t>
            </a:r>
          </a:p>
          <a:p>
            <a:r>
              <a:rPr lang="en-US" sz="850">
                <a:solidFill>
                  <a:schemeClr val="bg1"/>
                </a:solidFill>
                <a:cs typeface="Poppins Light"/>
              </a:rPr>
              <a:t>    ],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3C3BD0-AE22-0F15-F30D-C2691075FE27}"/>
              </a:ext>
            </a:extLst>
          </p:cNvPr>
          <p:cNvSpPr txBox="1"/>
          <p:nvPr/>
        </p:nvSpPr>
        <p:spPr>
          <a:xfrm>
            <a:off x="6096000" y="739585"/>
            <a:ext cx="5562600" cy="2585323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00">
                <a:solidFill>
                  <a:schemeClr val="bg1"/>
                </a:solidFill>
                <a:cs typeface="Poppins Light"/>
              </a:rPr>
              <a:t>"Education": 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"</a:t>
            </a:r>
            <a:r>
              <a:rPr lang="en-US" sz="9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totalSectionRawScore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20,</a:t>
            </a:r>
          </a:p>
          <a:p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"</a:t>
            </a:r>
            <a:r>
              <a:rPr lang="en-US" sz="9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totalSectionMaxScore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20,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"scores": 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RoleRelevance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"score": </a:t>
            </a:r>
            <a:r>
              <a:rPr lang="en-US" sz="900" b="1">
                <a:solidFill>
                  <a:schemeClr val="bg1"/>
                </a:solidFill>
                <a:cs typeface="Poppins Light"/>
              </a:rPr>
              <a:t>10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"feedback": "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ประวัติการศึกษาโดยรวมสนับสนุนความรู้</a:t>
            </a:r>
          </a:p>
          <a:p>
            <a:r>
              <a:rPr lang="th-TH" sz="900">
                <a:solidFill>
                  <a:schemeClr val="bg1"/>
                </a:solidFill>
                <a:cs typeface="Poppins Light"/>
              </a:rPr>
              <a:t>             และทักษะที่จำเป็นสำหรับบทบาท </a:t>
            </a:r>
            <a:r>
              <a:rPr lang="en-US" sz="900">
                <a:solidFill>
                  <a:schemeClr val="bg1"/>
                </a:solidFill>
                <a:highlight>
                  <a:srgbClr val="FFFF00"/>
                </a:highlight>
                <a:cs typeface="Poppins Light"/>
              </a:rPr>
              <a:t>AI Engineer </a:t>
            </a:r>
            <a:endParaRPr lang="th-TH" sz="900">
              <a:solidFill>
                <a:schemeClr val="bg1"/>
              </a:solidFill>
              <a:highlight>
                <a:srgbClr val="FFFF00"/>
              </a:highlight>
              <a:cs typeface="Poppins Light"/>
            </a:endParaRPr>
          </a:p>
          <a:p>
            <a:r>
              <a:rPr lang="th-TH" sz="900">
                <a:solidFill>
                  <a:schemeClr val="bg1"/>
                </a:solidFill>
                <a:cs typeface="Poppins Light"/>
              </a:rPr>
              <a:t>             เป็นอย่างยิ่ง"</a:t>
            </a:r>
          </a:p>
          <a:p>
            <a:r>
              <a:rPr lang="th-TH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  },</a:t>
            </a:r>
          </a:p>
          <a:p>
            <a:r>
              <a:rPr lang="th-TH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Completeness": 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"score": </a:t>
            </a:r>
            <a:r>
              <a:rPr lang="en-US" sz="900" b="1">
                <a:solidFill>
                  <a:schemeClr val="bg1"/>
                </a:solidFill>
                <a:cs typeface="Poppins Light"/>
              </a:rPr>
              <a:t>10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"feedback": "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ข้อมูลสถาบันการศึกษา ระดับปริญญา สาขาวิชา และปีที่ศึกษาครบถ้วนชัดเจน ทำให้เข้าใจง่าย"</a:t>
            </a:r>
          </a:p>
          <a:p>
            <a:r>
              <a:rPr lang="th-TH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  }</a:t>
            </a:r>
          </a:p>
          <a:p>
            <a:r>
              <a:rPr lang="th-TH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},</a:t>
            </a:r>
          </a:p>
          <a:p>
            <a:r>
              <a:rPr lang="th-TH" sz="900">
                <a:solidFill>
                  <a:schemeClr val="bg1"/>
                </a:solidFill>
                <a:cs typeface="Poppins Light"/>
              </a:rPr>
              <a:t>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sectionFeedbak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"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ส่วนการศึกษานี้มีความแข็งแกร่งอย่างมาก โดยมีการศึกษาระดับปริญญาโทหลายใบที่เกี่ยวข้องโดยตรงกับ 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AI Engineer 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และรายละเอียดครบถ้วน ทำให้ผู้สมัครโดดเด่นสำหรับตำแหน่งนี้"</a:t>
            </a:r>
          </a:p>
          <a:p>
            <a:r>
              <a:rPr lang="th-TH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},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26C7DD-3AE1-F046-B39B-6143FD91AA5A}"/>
              </a:ext>
            </a:extLst>
          </p:cNvPr>
          <p:cNvSpPr txBox="1"/>
          <p:nvPr/>
        </p:nvSpPr>
        <p:spPr>
          <a:xfrm>
            <a:off x="6096000" y="3844517"/>
            <a:ext cx="5562600" cy="2446824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00">
                <a:solidFill>
                  <a:schemeClr val="bg1"/>
                </a:solidFill>
                <a:cs typeface="Poppins Light"/>
              </a:rPr>
              <a:t>"Education": 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"</a:t>
            </a:r>
            <a:r>
              <a:rPr lang="en-US" sz="9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totalSectionRawScore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4,</a:t>
            </a:r>
          </a:p>
          <a:p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"</a:t>
            </a:r>
            <a:r>
              <a:rPr lang="en-US" sz="90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totalSectionMaxScore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20,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"scores": 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RoleRelevance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"score": </a:t>
            </a:r>
            <a:r>
              <a:rPr lang="en-US" sz="900" b="1">
                <a:solidFill>
                  <a:schemeClr val="bg1"/>
                </a:solidFill>
                <a:cs typeface="Poppins Light"/>
              </a:rPr>
              <a:t>2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"feedback": "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การศึกษาที่ระบุมีความเกี่ยวข้องกับ</a:t>
            </a:r>
          </a:p>
          <a:p>
            <a:r>
              <a:rPr lang="th-TH" sz="900">
                <a:solidFill>
                  <a:schemeClr val="bg1"/>
                </a:solidFill>
                <a:cs typeface="Poppins Light"/>
              </a:rPr>
              <a:t>             บทบาทเป้าหมายน้อยมาก"</a:t>
            </a:r>
          </a:p>
          <a:p>
            <a:r>
              <a:rPr lang="th-TH" sz="900">
                <a:solidFill>
                  <a:schemeClr val="bg1">
                    <a:lumMod val="50000"/>
                    <a:lumOff val="50000"/>
                  </a:schemeClr>
                </a:solidFill>
                <a:cs typeface="Poppins Light"/>
              </a:rPr>
              <a:t>          </a:t>
            </a:r>
            <a:r>
              <a:rPr lang="th-TH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},</a:t>
            </a:r>
          </a:p>
          <a:p>
            <a:r>
              <a:rPr lang="th-TH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Completeness": 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"score": </a:t>
            </a:r>
            <a:r>
              <a:rPr lang="en-US" sz="900" b="1">
                <a:solidFill>
                  <a:schemeClr val="bg1"/>
                </a:solidFill>
                <a:cs typeface="Poppins Light"/>
              </a:rPr>
              <a:t>2</a:t>
            </a:r>
            <a:r>
              <a:rPr lang="en-US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  "feedback": "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ข้อมูลการศึกษาไม่เพียงพอและคลุมเครือ ทำให้ยากต่อการประเมินภูมิหลังทางวิชาการ"</a:t>
            </a:r>
          </a:p>
          <a:p>
            <a:r>
              <a:rPr lang="th-TH" sz="900">
                <a:solidFill>
                  <a:schemeClr val="bg1">
                    <a:lumMod val="50000"/>
                    <a:lumOff val="50000"/>
                  </a:schemeClr>
                </a:solidFill>
                <a:cs typeface="Poppins Light"/>
              </a:rPr>
              <a:t>          </a:t>
            </a:r>
            <a:r>
              <a:rPr lang="th-TH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}</a:t>
            </a:r>
          </a:p>
          <a:p>
            <a:r>
              <a:rPr lang="th-TH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},</a:t>
            </a:r>
          </a:p>
          <a:p>
            <a:r>
              <a:rPr lang="th-TH" sz="900">
                <a:solidFill>
                  <a:schemeClr val="bg1"/>
                </a:solidFill>
                <a:cs typeface="Poppins Light"/>
              </a:rPr>
              <a:t>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sectionFeedbak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"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ส่วนนี้ให้ข้อมูลการศึกษาที่จำกัดและไม่ชัดเจน ซึ่งไม่สนับสนุน</a:t>
            </a:r>
            <a:r>
              <a:rPr lang="th-TH" sz="900">
                <a:solidFill>
                  <a:schemeClr val="bg1"/>
                </a:solidFill>
                <a:highlight>
                  <a:srgbClr val="FFFF00"/>
                </a:highlight>
                <a:cs typeface="Poppins Light"/>
              </a:rPr>
              <a:t>บทบาทวิศวกร </a:t>
            </a:r>
            <a:r>
              <a:rPr lang="en-US" sz="900">
                <a:solidFill>
                  <a:schemeClr val="bg1"/>
                </a:solidFill>
                <a:highlight>
                  <a:srgbClr val="FFFF00"/>
                </a:highlight>
                <a:cs typeface="Poppins Light"/>
              </a:rPr>
              <a:t>AI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 </a:t>
            </a:r>
            <a:r>
              <a:rPr lang="th-TH" sz="900">
                <a:solidFill>
                  <a:schemeClr val="bg1"/>
                </a:solidFill>
                <a:cs typeface="Poppins Light"/>
              </a:rPr>
              <a:t>ได้อย่างมีประสิทธิภาพ ทำให้ไม่สามารถประเมินความพร้อมของผู้สมัครได้"</a:t>
            </a:r>
          </a:p>
          <a:p>
            <a:r>
              <a:rPr lang="th-TH" sz="9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},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1A062B-0640-6D69-F08D-B206C6E7DBB8}"/>
              </a:ext>
            </a:extLst>
          </p:cNvPr>
          <p:cNvSpPr txBox="1"/>
          <p:nvPr/>
        </p:nvSpPr>
        <p:spPr>
          <a:xfrm>
            <a:off x="9208009" y="667424"/>
            <a:ext cx="2555365" cy="1200329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00">
                <a:solidFill>
                  <a:schemeClr val="bg1"/>
                </a:solidFill>
                <a:cs typeface="Poppins Light"/>
              </a:rPr>
              <a:t>"Education": 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sessionGrade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"A+",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totalSectionRawScore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20,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totalSectionMaxScore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20,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sectionWeight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0.2,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totalSectionRawScoreXWeight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4,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totalSectionMaxScoreXWeight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4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},</a:t>
            </a:r>
            <a:endParaRPr lang="th-TH" sz="900">
              <a:solidFill>
                <a:schemeClr val="bg1"/>
              </a:solidFill>
              <a:cs typeface="Poppins Ligh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5F3A92-969F-FF15-8D07-2D255465795C}"/>
              </a:ext>
            </a:extLst>
          </p:cNvPr>
          <p:cNvSpPr txBox="1"/>
          <p:nvPr/>
        </p:nvSpPr>
        <p:spPr>
          <a:xfrm>
            <a:off x="9208009" y="3747645"/>
            <a:ext cx="2555366" cy="1200329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00">
                <a:solidFill>
                  <a:schemeClr val="bg1"/>
                </a:solidFill>
                <a:cs typeface="Poppins Light"/>
              </a:rPr>
              <a:t>"Education": 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sessionGrade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"D",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totalSectionRawScore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4,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totalSectionMaxScore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20,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sectionWeight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0.2,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totalSectionRawScoreXWeight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0.8,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totalSectionMaxScoreXWeight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4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},</a:t>
            </a:r>
            <a:endParaRPr lang="th-TH" sz="900">
              <a:solidFill>
                <a:schemeClr val="bg1"/>
              </a:solidFill>
              <a:cs typeface="Poppins Light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F6A3822-BBDF-34FE-3602-F44598EA8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76" y="1051472"/>
            <a:ext cx="518715" cy="5187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3B9546A-6652-BB11-2A2D-ADE57D1B4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576" y="4073117"/>
            <a:ext cx="521208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527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04977-5AE0-4D92-DC86-565BBB8DA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788FF-05FC-6697-E0E1-3AED1E5DA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4B8555-4D29-2A74-1E25-E2BB1A642917}"/>
              </a:ext>
            </a:extLst>
          </p:cNvPr>
          <p:cNvSpPr/>
          <p:nvPr/>
        </p:nvSpPr>
        <p:spPr>
          <a:xfrm>
            <a:off x="0" y="0"/>
            <a:ext cx="1600200" cy="5187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1400" b="1">
                <a:cs typeface="Poppins Light"/>
              </a:rPr>
              <a:t>Experience</a:t>
            </a:r>
            <a:endParaRPr lang="en-GB" sz="1400" b="1">
              <a:cs typeface="Poppins Ligh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62FD74-55B0-1870-4874-638362FC4942}"/>
              </a:ext>
            </a:extLst>
          </p:cNvPr>
          <p:cNvSpPr/>
          <p:nvPr/>
        </p:nvSpPr>
        <p:spPr>
          <a:xfrm>
            <a:off x="5952890" y="667423"/>
            <a:ext cx="5810484" cy="30175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5BE004-7E18-348B-349C-09822F586B91}"/>
              </a:ext>
            </a:extLst>
          </p:cNvPr>
          <p:cNvSpPr/>
          <p:nvPr/>
        </p:nvSpPr>
        <p:spPr>
          <a:xfrm>
            <a:off x="1066800" y="667424"/>
            <a:ext cx="4676078" cy="3017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A1698-3109-9DC9-F179-DCD455241165}"/>
              </a:ext>
            </a:extLst>
          </p:cNvPr>
          <p:cNvSpPr/>
          <p:nvPr/>
        </p:nvSpPr>
        <p:spPr>
          <a:xfrm>
            <a:off x="5952890" y="3747645"/>
            <a:ext cx="5810484" cy="30175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8D66501-0CFC-41EE-926A-AF61CB3E31C3}"/>
              </a:ext>
            </a:extLst>
          </p:cNvPr>
          <p:cNvSpPr/>
          <p:nvPr/>
        </p:nvSpPr>
        <p:spPr>
          <a:xfrm>
            <a:off x="1066800" y="3747645"/>
            <a:ext cx="4676078" cy="3017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63394E-D90C-B901-F071-911BA26CAC61}"/>
              </a:ext>
            </a:extLst>
          </p:cNvPr>
          <p:cNvSpPr txBox="1"/>
          <p:nvPr/>
        </p:nvSpPr>
        <p:spPr>
          <a:xfrm>
            <a:off x="1171807" y="703009"/>
            <a:ext cx="4488328" cy="2923877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/>
                </a:solidFill>
                <a:cs typeface="Poppins Light"/>
              </a:rPr>
              <a:t>"Experience": [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{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    "title": "Data Scientist",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    "company": "CONENTO (Madrid, Spain) — working remotely",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    "dates": "Jan 2016 - Mar 2016",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    "description": [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        "Designed and implemented the ETL pipeline for a predictive model of traffic on the main roads in eastern Spain (project for the Spanish government).","Automated scripts in R to extract, transform, clean (including anomaly detection), and load into MySQL data from multiple sources (road traffic sensors, accidents, road works, weather)."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    ]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},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{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    "title": "</a:t>
            </a:r>
            <a:r>
              <a:rPr lang="en-US" sz="800" b="1">
                <a:solidFill>
                  <a:schemeClr val="bg1"/>
                </a:solidFill>
                <a:highlight>
                  <a:srgbClr val="FFFF00"/>
                </a:highlight>
                <a:cs typeface="Poppins Light"/>
              </a:rPr>
              <a:t>Head of Sales, Spain &amp; Portugal - Test &amp; Measurement dept</a:t>
            </a:r>
            <a:r>
              <a:rPr lang="en-US" sz="800">
                <a:solidFill>
                  <a:schemeClr val="bg1"/>
                </a:solidFill>
                <a:highlight>
                  <a:srgbClr val="FFFF00"/>
                </a:highlight>
                <a:cs typeface="Poppins Light"/>
              </a:rPr>
              <a:t>.",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    "company": "YOKOGAWA (Madrid, Spain)",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    "dates": "Feb 2009 - Aug 2013",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    "description": [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        "Applied analysis of sales and market trends to decide the direction of the </a:t>
            </a:r>
            <a:r>
              <a:rPr lang="en-US" sz="800" err="1">
                <a:solidFill>
                  <a:schemeClr val="bg1"/>
                </a:solidFill>
                <a:cs typeface="Poppins Light"/>
              </a:rPr>
              <a:t>department.","Led</a:t>
            </a:r>
            <a:r>
              <a:rPr lang="en-US" sz="800">
                <a:solidFill>
                  <a:schemeClr val="bg1"/>
                </a:solidFill>
                <a:cs typeface="Poppins Light"/>
              </a:rPr>
              <a:t> a team of 7 </a:t>
            </a:r>
            <a:r>
              <a:rPr lang="en-US" sz="800" err="1">
                <a:solidFill>
                  <a:schemeClr val="bg1"/>
                </a:solidFill>
                <a:cs typeface="Poppins Light"/>
              </a:rPr>
              <a:t>people.","Increased</a:t>
            </a:r>
            <a:r>
              <a:rPr lang="en-US" sz="800">
                <a:solidFill>
                  <a:schemeClr val="bg1"/>
                </a:solidFill>
                <a:cs typeface="Poppins Light"/>
              </a:rPr>
              <a:t> revenue by 6.3%, gross profit by 4.2%, and operating income by 146%; achieved a 30% ratio of new customers (3x growth) by entering new markets and improving customer service and training."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    ]],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A608B5-67B3-761B-22DE-77228C606831}"/>
              </a:ext>
            </a:extLst>
          </p:cNvPr>
          <p:cNvSpPr txBox="1"/>
          <p:nvPr/>
        </p:nvSpPr>
        <p:spPr>
          <a:xfrm>
            <a:off x="6095999" y="682429"/>
            <a:ext cx="5610225" cy="2977738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750">
                <a:solidFill>
                  <a:schemeClr val="bg1"/>
                </a:solidFill>
                <a:cs typeface="Poppins Light"/>
              </a:rPr>
              <a:t> "Experience": </a:t>
            </a:r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"</a:t>
            </a:r>
            <a:r>
              <a:rPr lang="en-US" sz="7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totalSectionRawScore</a:t>
            </a:r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38,</a:t>
            </a:r>
          </a:p>
          <a:p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"</a:t>
            </a:r>
            <a:r>
              <a:rPr lang="en-US" sz="7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totalSectionMaxScore</a:t>
            </a:r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50,</a:t>
            </a: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"scores": </a:t>
            </a:r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750" err="1">
                <a:solidFill>
                  <a:schemeClr val="bg1"/>
                </a:solidFill>
                <a:cs typeface="Poppins Light"/>
              </a:rPr>
              <a:t>RoleRelevance</a:t>
            </a:r>
            <a:r>
              <a:rPr lang="en-US" sz="750">
                <a:solidFill>
                  <a:schemeClr val="bg1"/>
                </a:solidFill>
                <a:cs typeface="Poppins Light"/>
              </a:rPr>
              <a:t>": </a:t>
            </a:r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  "score": </a:t>
            </a:r>
            <a:r>
              <a:rPr lang="en-US" sz="750" b="1">
                <a:solidFill>
                  <a:schemeClr val="bg1"/>
                </a:solidFill>
                <a:cs typeface="Poppins Light"/>
              </a:rPr>
              <a:t>6</a:t>
            </a:r>
            <a:r>
              <a:rPr lang="en-US" sz="750">
                <a:solidFill>
                  <a:schemeClr val="bg1"/>
                </a:solidFill>
                <a:cs typeface="Poppins Light"/>
              </a:rPr>
              <a:t>,</a:t>
            </a: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  "feedback": "</a:t>
            </a:r>
            <a:r>
              <a:rPr lang="th-TH" sz="750">
                <a:solidFill>
                  <a:schemeClr val="bg1"/>
                </a:solidFill>
                <a:cs typeface="Poppins Light"/>
              </a:rPr>
              <a:t>ประสบการณ์บางส่วนมีความเกี่ยวข้องกับบทบาท </a:t>
            </a:r>
            <a:endParaRPr lang="en-US" sz="750">
              <a:solidFill>
                <a:schemeClr val="bg1"/>
              </a:solidFill>
              <a:cs typeface="Poppins Light"/>
            </a:endParaRP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   AI Engineer </a:t>
            </a:r>
            <a:r>
              <a:rPr lang="th-TH" sz="750">
                <a:solidFill>
                  <a:schemeClr val="bg1"/>
                </a:solidFill>
                <a:highlight>
                  <a:srgbClr val="FFFF00"/>
                </a:highlight>
                <a:cs typeface="Poppins Light"/>
              </a:rPr>
              <a:t>โดยเฉพาะงาน </a:t>
            </a:r>
            <a:r>
              <a:rPr lang="en-US" sz="750">
                <a:solidFill>
                  <a:schemeClr val="bg1"/>
                </a:solidFill>
                <a:highlight>
                  <a:srgbClr val="FFFF00"/>
                </a:highlight>
                <a:cs typeface="Poppins Light"/>
              </a:rPr>
              <a:t>Data Scientist </a:t>
            </a:r>
            <a:r>
              <a:rPr lang="th-TH" sz="750">
                <a:solidFill>
                  <a:schemeClr val="bg1"/>
                </a:solidFill>
                <a:highlight>
                  <a:srgbClr val="FFFF00"/>
                </a:highlight>
                <a:cs typeface="Poppins Light"/>
              </a:rPr>
              <a:t>ในช่วงหลังอาชีพ</a:t>
            </a:r>
            <a:r>
              <a:rPr lang="th-TH" sz="750">
                <a:solidFill>
                  <a:schemeClr val="bg1"/>
                </a:solidFill>
                <a:cs typeface="Poppins Light"/>
              </a:rPr>
              <a:t>"</a:t>
            </a:r>
            <a:r>
              <a:rPr lang="th-TH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},</a:t>
            </a:r>
          </a:p>
          <a:p>
            <a:r>
              <a:rPr lang="th-TH" sz="75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750">
                <a:solidFill>
                  <a:schemeClr val="bg1"/>
                </a:solidFill>
                <a:cs typeface="Poppins Light"/>
              </a:rPr>
              <a:t>Length": </a:t>
            </a:r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  "score": </a:t>
            </a:r>
            <a:r>
              <a:rPr lang="en-US" sz="750" b="1">
                <a:solidFill>
                  <a:schemeClr val="bg1"/>
                </a:solidFill>
                <a:cs typeface="Poppins Light"/>
              </a:rPr>
              <a:t>8</a:t>
            </a:r>
            <a:r>
              <a:rPr lang="en-US" sz="750">
                <a:solidFill>
                  <a:schemeClr val="bg1"/>
                </a:solidFill>
                <a:cs typeface="Poppins Light"/>
              </a:rPr>
              <a:t>,</a:t>
            </a: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  "feedback": "</a:t>
            </a:r>
            <a:r>
              <a:rPr lang="th-TH" sz="750">
                <a:solidFill>
                  <a:schemeClr val="bg1"/>
                </a:solidFill>
                <a:cs typeface="Poppins Light"/>
              </a:rPr>
              <a:t>คำอธิบายกระชับและให้รายละเอียดเพียงพอสำหรับ</a:t>
            </a:r>
            <a:endParaRPr lang="en-US" sz="750">
              <a:solidFill>
                <a:schemeClr val="bg1"/>
              </a:solidFill>
              <a:cs typeface="Poppins Light"/>
            </a:endParaRP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   </a:t>
            </a:r>
            <a:r>
              <a:rPr lang="th-TH" sz="750">
                <a:solidFill>
                  <a:schemeClr val="bg1"/>
                </a:solidFill>
                <a:cs typeface="Poppins Light"/>
              </a:rPr>
              <a:t>บทบาท </a:t>
            </a:r>
            <a:r>
              <a:rPr lang="en-US" sz="750">
                <a:solidFill>
                  <a:schemeClr val="bg1"/>
                </a:solidFill>
                <a:cs typeface="Poppins Light"/>
              </a:rPr>
              <a:t>Data Scientist </a:t>
            </a:r>
            <a:r>
              <a:rPr lang="th-TH" sz="750">
                <a:solidFill>
                  <a:schemeClr val="bg1"/>
                </a:solidFill>
                <a:cs typeface="Poppins Light"/>
              </a:rPr>
              <a:t>แต่บทบาทอื่นกระชับเกินไป"</a:t>
            </a:r>
            <a:r>
              <a:rPr lang="th-TH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},</a:t>
            </a:r>
          </a:p>
          <a:p>
            <a:r>
              <a:rPr lang="th-TH" sz="75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750">
                <a:solidFill>
                  <a:schemeClr val="bg1"/>
                </a:solidFill>
                <a:cs typeface="Poppins Light"/>
              </a:rPr>
              <a:t>Grammar": </a:t>
            </a:r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  "score": </a:t>
            </a:r>
            <a:r>
              <a:rPr lang="en-US" sz="750" b="1">
                <a:solidFill>
                  <a:schemeClr val="bg1"/>
                </a:solidFill>
                <a:cs typeface="Poppins Light"/>
              </a:rPr>
              <a:t>10</a:t>
            </a:r>
            <a:r>
              <a:rPr lang="en-US" sz="750">
                <a:solidFill>
                  <a:schemeClr val="bg1"/>
                </a:solidFill>
                <a:cs typeface="Poppins Light"/>
              </a:rPr>
              <a:t>,</a:t>
            </a: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  "feedback": "</a:t>
            </a:r>
            <a:r>
              <a:rPr lang="th-TH" sz="750">
                <a:solidFill>
                  <a:schemeClr val="bg1"/>
                </a:solidFill>
                <a:cs typeface="Poppins Light"/>
              </a:rPr>
              <a:t>การเขียนชัดเจน เป็นมืออาชีพ และไม่มีข้อผิดพลาดทางไวยากรณ์หรือการสะกดคำ"</a:t>
            </a:r>
            <a:r>
              <a:rPr lang="th-TH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},</a:t>
            </a:r>
          </a:p>
          <a:p>
            <a:r>
              <a:rPr lang="th-TH" sz="75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750" err="1">
                <a:solidFill>
                  <a:schemeClr val="bg1"/>
                </a:solidFill>
                <a:cs typeface="Poppins Light"/>
              </a:rPr>
              <a:t>ContentQuality</a:t>
            </a:r>
            <a:r>
              <a:rPr lang="en-US" sz="750">
                <a:solidFill>
                  <a:schemeClr val="bg1"/>
                </a:solidFill>
                <a:cs typeface="Poppins Light"/>
              </a:rPr>
              <a:t>": </a:t>
            </a:r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  "score": </a:t>
            </a:r>
            <a:r>
              <a:rPr lang="en-US" sz="750" b="1">
                <a:solidFill>
                  <a:schemeClr val="bg1"/>
                </a:solidFill>
                <a:cs typeface="Poppins Light"/>
              </a:rPr>
              <a:t>6</a:t>
            </a:r>
            <a:r>
              <a:rPr lang="en-US" sz="750">
                <a:solidFill>
                  <a:schemeClr val="bg1"/>
                </a:solidFill>
                <a:cs typeface="Poppins Light"/>
              </a:rPr>
              <a:t>,</a:t>
            </a: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  "feedback": "</a:t>
            </a:r>
            <a:r>
              <a:rPr lang="th-TH" sz="750">
                <a:solidFill>
                  <a:schemeClr val="bg1"/>
                </a:solidFill>
                <a:cs typeface="Poppins Light"/>
              </a:rPr>
              <a:t>มีทั้งการดำเนินการและวิธีการในบางรายการ แต่ผลลัพธ์เชิงปริมาณและการใช้เครื่องมือเฉพาะยังมีจำกัด"</a:t>
            </a:r>
            <a:r>
              <a:rPr lang="th-TH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},</a:t>
            </a:r>
          </a:p>
          <a:p>
            <a:r>
              <a:rPr lang="th-TH" sz="75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750">
                <a:solidFill>
                  <a:schemeClr val="bg1"/>
                </a:solidFill>
                <a:cs typeface="Poppins Light"/>
              </a:rPr>
              <a:t>Completeness": </a:t>
            </a:r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  "score": </a:t>
            </a:r>
            <a:r>
              <a:rPr lang="en-US" sz="750" b="1">
                <a:solidFill>
                  <a:schemeClr val="bg1"/>
                </a:solidFill>
                <a:cs typeface="Poppins Light"/>
              </a:rPr>
              <a:t>8</a:t>
            </a:r>
            <a:r>
              <a:rPr lang="en-US" sz="750">
                <a:solidFill>
                  <a:schemeClr val="bg1"/>
                </a:solidFill>
                <a:cs typeface="Poppins Light"/>
              </a:rPr>
              <a:t>,</a:t>
            </a: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  "feedback": "</a:t>
            </a:r>
            <a:r>
              <a:rPr lang="th-TH" sz="750">
                <a:solidFill>
                  <a:schemeClr val="bg1"/>
                </a:solidFill>
                <a:cs typeface="Poppins Light"/>
              </a:rPr>
              <a:t>องค์ประกอบสำคัญครบถ้วน รวมถึงตำแหน่งงาน บริษัท และระยะเวลา แต่รายละเอียดผลลัพธ์บางส่วนไม่ชัดเจน"</a:t>
            </a:r>
            <a:r>
              <a:rPr lang="th-TH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}</a:t>
            </a:r>
          </a:p>
          <a:p>
            <a:r>
              <a:rPr lang="th-TH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},</a:t>
            </a:r>
          </a:p>
          <a:p>
            <a:r>
              <a:rPr lang="th-TH" sz="750">
                <a:solidFill>
                  <a:schemeClr val="bg1"/>
                </a:solidFill>
                <a:cs typeface="Poppins Light"/>
              </a:rPr>
              <a:t>        "</a:t>
            </a:r>
            <a:r>
              <a:rPr lang="en-US" sz="750" err="1">
                <a:solidFill>
                  <a:schemeClr val="bg1"/>
                </a:solidFill>
                <a:cs typeface="Poppins Light"/>
              </a:rPr>
              <a:t>sectionFeedbak</a:t>
            </a:r>
            <a:r>
              <a:rPr lang="en-US" sz="750">
                <a:solidFill>
                  <a:schemeClr val="bg1"/>
                </a:solidFill>
                <a:cs typeface="Poppins Light"/>
              </a:rPr>
              <a:t>": "</a:t>
            </a:r>
            <a:r>
              <a:rPr lang="th-TH" sz="750">
                <a:solidFill>
                  <a:schemeClr val="bg1"/>
                </a:solidFill>
                <a:cs typeface="Poppins Light"/>
              </a:rPr>
              <a:t>ส่วนประสบการณ์นี้แสดงให้เห็นถึงพื้นฐานด้านข้อมูลที่แข็งแกร่งและทักษะที่เกี่ยวข้องบางส่วนสำหรับบทบาท </a:t>
            </a:r>
            <a:r>
              <a:rPr lang="en-US" sz="750">
                <a:solidFill>
                  <a:schemeClr val="bg1"/>
                </a:solidFill>
                <a:cs typeface="Poppins Light"/>
              </a:rPr>
              <a:t>AI Engineer </a:t>
            </a:r>
            <a:r>
              <a:rPr lang="th-TH" sz="750">
                <a:solidFill>
                  <a:schemeClr val="bg1"/>
                </a:solidFill>
                <a:cs typeface="Poppins Light"/>
              </a:rPr>
              <a:t>โดยเฉพาะจากตำแหน่ง </a:t>
            </a:r>
            <a:r>
              <a:rPr lang="en-US" sz="750">
                <a:solidFill>
                  <a:schemeClr val="bg1"/>
                </a:solidFill>
                <a:cs typeface="Poppins Light"/>
              </a:rPr>
              <a:t>Data Scientist </a:t>
            </a:r>
            <a:r>
              <a:rPr lang="th-TH" sz="750">
                <a:solidFill>
                  <a:schemeClr val="bg1"/>
                </a:solidFill>
                <a:cs typeface="Poppins Light"/>
              </a:rPr>
              <a:t>อย่างไรก็ตาม ขาดความลึกซึ้งทางเทคนิคที่จำเป็นและผลลัพธ์เชิงปริมาณที่ชัดเจนในหลายบทบาท ทำให้การประเมินความเหมาะสมกับ </a:t>
            </a:r>
            <a:r>
              <a:rPr lang="en-US" sz="750">
                <a:solidFill>
                  <a:schemeClr val="bg1"/>
                </a:solidFill>
                <a:cs typeface="Poppins Light"/>
              </a:rPr>
              <a:t>AI Engineer </a:t>
            </a:r>
            <a:r>
              <a:rPr lang="th-TH" sz="750">
                <a:solidFill>
                  <a:schemeClr val="bg1"/>
                </a:solidFill>
                <a:cs typeface="Poppins Light"/>
              </a:rPr>
              <a:t>ทำได้ยากขึ้น."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65EC2F-10FB-F608-4564-52FC897AE3E7}"/>
              </a:ext>
            </a:extLst>
          </p:cNvPr>
          <p:cNvSpPr txBox="1"/>
          <p:nvPr/>
        </p:nvSpPr>
        <p:spPr>
          <a:xfrm>
            <a:off x="6096000" y="3734974"/>
            <a:ext cx="5562600" cy="2862322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750">
                <a:solidFill>
                  <a:schemeClr val="bg1"/>
                </a:solidFill>
                <a:cs typeface="Poppins Light"/>
              </a:rPr>
              <a:t> "Experience": </a:t>
            </a:r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"</a:t>
            </a:r>
            <a:r>
              <a:rPr lang="en-US" sz="7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totalSectionRawScore</a:t>
            </a:r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18,</a:t>
            </a:r>
          </a:p>
          <a:p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       "</a:t>
            </a:r>
            <a:r>
              <a:rPr lang="en-US" sz="750" err="1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totalSectionMaxScore</a:t>
            </a:r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": 50,</a:t>
            </a: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"scores": </a:t>
            </a:r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750" err="1">
                <a:solidFill>
                  <a:schemeClr val="bg1"/>
                </a:solidFill>
                <a:cs typeface="Poppins Light"/>
              </a:rPr>
              <a:t>RoleRelevance</a:t>
            </a:r>
            <a:r>
              <a:rPr lang="en-US" sz="750">
                <a:solidFill>
                  <a:schemeClr val="bg1"/>
                </a:solidFill>
                <a:cs typeface="Poppins Light"/>
              </a:rPr>
              <a:t>": </a:t>
            </a:r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  "score": </a:t>
            </a:r>
            <a:r>
              <a:rPr lang="en-US" sz="750" b="1">
                <a:solidFill>
                  <a:schemeClr val="bg1"/>
                </a:solidFill>
                <a:cs typeface="Poppins Light"/>
              </a:rPr>
              <a:t>2</a:t>
            </a:r>
            <a:r>
              <a:rPr lang="en-US" sz="750">
                <a:solidFill>
                  <a:schemeClr val="bg1"/>
                </a:solidFill>
                <a:cs typeface="Poppins Light"/>
              </a:rPr>
              <a:t>,</a:t>
            </a: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  "feedback": "</a:t>
            </a:r>
            <a:r>
              <a:rPr lang="th-TH" sz="750">
                <a:solidFill>
                  <a:schemeClr val="bg1"/>
                </a:solidFill>
                <a:cs typeface="Poppins Light"/>
              </a:rPr>
              <a:t>ประสบการณ์มีความเกี่ยวข้องน้อยมากกับบทบาท</a:t>
            </a:r>
            <a:endParaRPr lang="en-US" sz="750">
              <a:solidFill>
                <a:schemeClr val="bg1"/>
              </a:solidFill>
              <a:cs typeface="Poppins Light"/>
            </a:endParaRP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   </a:t>
            </a:r>
            <a:r>
              <a:rPr lang="th-TH" sz="750">
                <a:solidFill>
                  <a:schemeClr val="bg1"/>
                </a:solidFill>
                <a:cs typeface="Poppins Light"/>
              </a:rPr>
              <a:t>เป้าหมาย เนื่องจากหน้าที่ที่ระบุไม่เกี่ยวข้องกับงานที่คาดหวัง."</a:t>
            </a:r>
            <a:r>
              <a:rPr lang="th-TH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},</a:t>
            </a:r>
          </a:p>
          <a:p>
            <a:r>
              <a:rPr lang="th-TH" sz="75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750">
                <a:solidFill>
                  <a:schemeClr val="bg1"/>
                </a:solidFill>
                <a:cs typeface="Poppins Light"/>
              </a:rPr>
              <a:t>Length": </a:t>
            </a:r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  "score": </a:t>
            </a:r>
            <a:r>
              <a:rPr lang="en-US" sz="750" b="1">
                <a:solidFill>
                  <a:schemeClr val="bg1"/>
                </a:solidFill>
                <a:cs typeface="Poppins Light"/>
              </a:rPr>
              <a:t>2</a:t>
            </a:r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,</a:t>
            </a: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  "feedback": "</a:t>
            </a:r>
            <a:r>
              <a:rPr lang="th-TH" sz="750">
                <a:solidFill>
                  <a:schemeClr val="bg1"/>
                </a:solidFill>
                <a:cs typeface="Poppins Light"/>
              </a:rPr>
              <a:t>เนื้อหาสั้นเกินไปจนไม่สามารถสื่อสารข้อมูลที่มี</a:t>
            </a:r>
            <a:endParaRPr lang="en-US" sz="750">
              <a:solidFill>
                <a:schemeClr val="bg1"/>
              </a:solidFill>
              <a:cs typeface="Poppins Light"/>
            </a:endParaRP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   </a:t>
            </a:r>
            <a:r>
              <a:rPr lang="th-TH" sz="750">
                <a:solidFill>
                  <a:schemeClr val="bg1"/>
                </a:solidFill>
                <a:cs typeface="Poppins Light"/>
              </a:rPr>
              <a:t>ความหมายได้."</a:t>
            </a:r>
            <a:r>
              <a:rPr lang="th-TH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},</a:t>
            </a:r>
          </a:p>
          <a:p>
            <a:r>
              <a:rPr lang="th-TH" sz="75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750">
                <a:solidFill>
                  <a:schemeClr val="bg1"/>
                </a:solidFill>
                <a:cs typeface="Poppins Light"/>
              </a:rPr>
              <a:t>Grammar": </a:t>
            </a:r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  "score": </a:t>
            </a:r>
            <a:r>
              <a:rPr lang="en-US" sz="750" b="1">
                <a:solidFill>
                  <a:schemeClr val="bg1"/>
                </a:solidFill>
                <a:cs typeface="Poppins Light"/>
              </a:rPr>
              <a:t>6</a:t>
            </a:r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,</a:t>
            </a: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  "feedback": "</a:t>
            </a:r>
            <a:r>
              <a:rPr lang="th-TH" sz="750">
                <a:solidFill>
                  <a:schemeClr val="bg1"/>
                </a:solidFill>
                <a:cs typeface="Poppins Light"/>
              </a:rPr>
              <a:t>มีปัญหาด้านไวยากรณ์หรือการใช้คำเล็กน้อยที่ลดความชัดเจนลงเล็กน้อย."</a:t>
            </a:r>
            <a:r>
              <a:rPr lang="th-TH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},</a:t>
            </a:r>
          </a:p>
          <a:p>
            <a:r>
              <a:rPr lang="th-TH" sz="75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750" err="1">
                <a:solidFill>
                  <a:schemeClr val="bg1"/>
                </a:solidFill>
                <a:cs typeface="Poppins Light"/>
              </a:rPr>
              <a:t>ContentQuality</a:t>
            </a:r>
            <a:r>
              <a:rPr lang="en-US" sz="750">
                <a:solidFill>
                  <a:schemeClr val="bg1"/>
                </a:solidFill>
                <a:cs typeface="Poppins Light"/>
              </a:rPr>
              <a:t>": </a:t>
            </a:r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  "score": </a:t>
            </a:r>
            <a:r>
              <a:rPr lang="en-US" sz="750" b="1">
                <a:solidFill>
                  <a:schemeClr val="bg1"/>
                </a:solidFill>
                <a:cs typeface="Poppins Light"/>
              </a:rPr>
              <a:t>2</a:t>
            </a:r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,</a:t>
            </a: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  "feedback": "</a:t>
            </a:r>
            <a:r>
              <a:rPr lang="th-TH" sz="750">
                <a:solidFill>
                  <a:schemeClr val="bg1"/>
                </a:solidFill>
                <a:cs typeface="Poppins Light"/>
              </a:rPr>
              <a:t>เนื้อหามีความคลุมเครือและไม่มีวิธีการ เครื่องมือ หรือผลลัพธ์ที่วัดผลได้ที่ชัดเจน."</a:t>
            </a:r>
            <a:r>
              <a:rPr lang="th-TH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},</a:t>
            </a:r>
          </a:p>
          <a:p>
            <a:r>
              <a:rPr lang="th-TH" sz="75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750">
                <a:solidFill>
                  <a:schemeClr val="bg1"/>
                </a:solidFill>
                <a:cs typeface="Poppins Light"/>
              </a:rPr>
              <a:t>Completeness": </a:t>
            </a:r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{</a:t>
            </a: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  "score": </a:t>
            </a:r>
            <a:r>
              <a:rPr lang="en-US" sz="750" b="1">
                <a:solidFill>
                  <a:schemeClr val="bg1"/>
                </a:solidFill>
                <a:cs typeface="Poppins Light"/>
              </a:rPr>
              <a:t>6</a:t>
            </a:r>
            <a:r>
              <a:rPr lang="en-US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,</a:t>
            </a:r>
          </a:p>
          <a:p>
            <a:r>
              <a:rPr lang="en-US" sz="750">
                <a:solidFill>
                  <a:schemeClr val="bg1"/>
                </a:solidFill>
                <a:cs typeface="Poppins Light"/>
              </a:rPr>
              <a:t>            "feedback": "</a:t>
            </a:r>
            <a:r>
              <a:rPr lang="th-TH" sz="750">
                <a:solidFill>
                  <a:schemeClr val="bg1"/>
                </a:solidFill>
                <a:cs typeface="Poppins Light"/>
              </a:rPr>
              <a:t>องค์ประกอบหลักส่วนใหญ่มีอยู่ แต่รายละเอียดบางอย่างไม่ชัดเจนหรือขาดหายไป เช่น ผลลัพธ์."</a:t>
            </a:r>
            <a:r>
              <a:rPr lang="th-TH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}</a:t>
            </a:r>
          </a:p>
          <a:p>
            <a:r>
              <a:rPr lang="th-TH" sz="750">
                <a:solidFill>
                  <a:schemeClr val="bg1"/>
                </a:solidFill>
                <a:cs typeface="Poppins Light"/>
              </a:rPr>
              <a:t>       </a:t>
            </a:r>
            <a:r>
              <a:rPr lang="th-TH" sz="75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 },</a:t>
            </a:r>
          </a:p>
          <a:p>
            <a:r>
              <a:rPr lang="th-TH" sz="750">
                <a:solidFill>
                  <a:schemeClr val="bg1"/>
                </a:solidFill>
                <a:cs typeface="Poppins Light"/>
              </a:rPr>
              <a:t>        "</a:t>
            </a:r>
            <a:r>
              <a:rPr lang="en-US" sz="750" err="1">
                <a:solidFill>
                  <a:schemeClr val="bg1"/>
                </a:solidFill>
                <a:cs typeface="Poppins Light"/>
              </a:rPr>
              <a:t>sectionFeedbak</a:t>
            </a:r>
            <a:r>
              <a:rPr lang="en-US" sz="750">
                <a:solidFill>
                  <a:schemeClr val="bg1"/>
                </a:solidFill>
                <a:cs typeface="Poppins Light"/>
              </a:rPr>
              <a:t>": "</a:t>
            </a:r>
            <a:r>
              <a:rPr lang="th-TH" sz="750">
                <a:solidFill>
                  <a:schemeClr val="bg1"/>
                </a:solidFill>
                <a:cs typeface="Poppins Light"/>
              </a:rPr>
              <a:t>ส่วนนี้แสดงประสบการณ์ที่ไม่ค่อยเกี่ยวข้องกับบทบาท </a:t>
            </a:r>
            <a:r>
              <a:rPr lang="en-US" sz="750">
                <a:solidFill>
                  <a:schemeClr val="bg1"/>
                </a:solidFill>
                <a:cs typeface="Poppins Light"/>
              </a:rPr>
              <a:t>AI Engineer </a:t>
            </a:r>
            <a:r>
              <a:rPr lang="th-TH" sz="750">
                <a:solidFill>
                  <a:schemeClr val="bg1"/>
                </a:solidFill>
                <a:cs typeface="Poppins Light"/>
              </a:rPr>
              <a:t>โดยขาดความลึกทางเทคนิคและผลลัพธ์ที่วัดผลได้ การนำเสนอที่สั้นเกินไปและคลุมเครือจำกัดความสามารถในการประเมินคุณสมบัติของผู้สมัครสำหรับตำแหน่งนี้."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FFB51F-08CD-1627-978E-434AA54690DF}"/>
              </a:ext>
            </a:extLst>
          </p:cNvPr>
          <p:cNvSpPr txBox="1"/>
          <p:nvPr/>
        </p:nvSpPr>
        <p:spPr>
          <a:xfrm>
            <a:off x="9195309" y="667424"/>
            <a:ext cx="2555365" cy="1200329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00">
                <a:solidFill>
                  <a:schemeClr val="bg1"/>
                </a:solidFill>
                <a:cs typeface="Poppins Light"/>
              </a:rPr>
              <a:t>"Experience": 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sessionGrade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"A+",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totalSectionRawScore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40,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totalSectionMaxScore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40,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sectionWeight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0.2,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totalSectionRawScoreXWeight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8,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totalSectionMaxScoreXWeight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8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},</a:t>
            </a:r>
            <a:endParaRPr lang="th-TH" sz="900">
              <a:solidFill>
                <a:schemeClr val="bg1"/>
              </a:solidFill>
              <a:cs typeface="Poppins Ligh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5978C7-8788-4F2D-B1E5-BE36E6EAB29E}"/>
              </a:ext>
            </a:extLst>
          </p:cNvPr>
          <p:cNvSpPr txBox="1"/>
          <p:nvPr/>
        </p:nvSpPr>
        <p:spPr>
          <a:xfrm>
            <a:off x="9188959" y="3747645"/>
            <a:ext cx="2555366" cy="1200329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900">
                <a:solidFill>
                  <a:schemeClr val="bg1"/>
                </a:solidFill>
                <a:cs typeface="Poppins Light"/>
              </a:rPr>
              <a:t> "Experience": {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sessionGrade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"D+",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totalSectionRawScore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18,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totalSectionMaxScore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50,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sectionWeight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0.2,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totalSectionRawScoreXWeight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3.6,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  "</a:t>
            </a:r>
            <a:r>
              <a:rPr lang="en-US" sz="900" err="1">
                <a:solidFill>
                  <a:schemeClr val="bg1"/>
                </a:solidFill>
                <a:cs typeface="Poppins Light"/>
              </a:rPr>
              <a:t>totalSectionMaxScoreXWeight</a:t>
            </a:r>
            <a:r>
              <a:rPr lang="en-US" sz="900">
                <a:solidFill>
                  <a:schemeClr val="bg1"/>
                </a:solidFill>
                <a:cs typeface="Poppins Light"/>
              </a:rPr>
              <a:t>": 10</a:t>
            </a:r>
          </a:p>
          <a:p>
            <a:r>
              <a:rPr lang="en-US" sz="900">
                <a:solidFill>
                  <a:schemeClr val="bg1"/>
                </a:solidFill>
                <a:cs typeface="Poppins Light"/>
              </a:rPr>
              <a:t>        },</a:t>
            </a:r>
            <a:endParaRPr lang="th-TH" sz="900">
              <a:solidFill>
                <a:schemeClr val="bg1"/>
              </a:solidFill>
              <a:cs typeface="Poppins Light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8D0F459-8AE2-32DE-94B3-78BD923DC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76" y="1051472"/>
            <a:ext cx="518715" cy="51871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4762726-DFA2-F0C1-4696-467AB8BD4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576" y="4073117"/>
            <a:ext cx="521208" cy="5212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B3E524-7500-DA80-B60A-9EFB4F7715C2}"/>
              </a:ext>
            </a:extLst>
          </p:cNvPr>
          <p:cNvSpPr txBox="1"/>
          <p:nvPr/>
        </p:nvSpPr>
        <p:spPr>
          <a:xfrm>
            <a:off x="1171807" y="3789653"/>
            <a:ext cx="4488328" cy="2431435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/>
                </a:solidFill>
                <a:cs typeface="Poppins Light"/>
              </a:rPr>
              <a:t> "Experience": [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{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"title": "Staff",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"company": "ABC Company",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"dates": "2021 - 2023",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"description": [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  "Worked on many tasks assigned by manager.",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  "Helped team when needed."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]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},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{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"title": "Sales Engineer - Test &amp; Measurement dept.",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"company": "YOKOGAWA (Madrid, Spain)",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"dates": "Apr 2008 - Jan 2009",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"description": [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  "Promoted to head of sales after 5 months leading the sales team."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  ]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  }</a:t>
            </a:r>
          </a:p>
          <a:p>
            <a:r>
              <a:rPr lang="en-US" sz="800">
                <a:solidFill>
                  <a:schemeClr val="bg1"/>
                </a:solidFill>
                <a:cs typeface="Poppins Light"/>
              </a:rPr>
              <a:t>    ],</a:t>
            </a:r>
          </a:p>
        </p:txBody>
      </p:sp>
    </p:spTree>
    <p:extLst>
      <p:ext uri="{BB962C8B-B14F-4D97-AF65-F5344CB8AC3E}">
        <p14:creationId xmlns:p14="http://schemas.microsoft.com/office/powerpoint/2010/main" val="32782095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2391-9EE1-BE0D-70A8-B152EDC62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A8C717B-2028-6CAC-2AA9-64F58C2697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A8C717B-2028-6CAC-2AA9-64F58C2697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D967BA9-C67C-5B56-6595-77E2D5B1F4D0}"/>
              </a:ext>
            </a:extLst>
          </p:cNvPr>
          <p:cNvSpPr/>
          <p:nvPr/>
        </p:nvSpPr>
        <p:spPr>
          <a:xfrm>
            <a:off x="420338" y="1080924"/>
            <a:ext cx="11351322" cy="56209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3383E8-0DED-2FAF-9FFD-73D55E0EA056}"/>
              </a:ext>
            </a:extLst>
          </p:cNvPr>
          <p:cNvSpPr txBox="1"/>
          <p:nvPr/>
        </p:nvSpPr>
        <p:spPr>
          <a:xfrm>
            <a:off x="556510" y="2464328"/>
            <a:ext cx="3512317" cy="1938992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{ 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"section": "Profile", 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"scores": { 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"ContentQuality": { 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"score": 1, 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"feedback": "The profile lacks .... professional identity.." 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        },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 "score": 3,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 "feedback": "The profile includes … current status."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"session_feedback": "While contact information ....  scientist role.."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}</a:t>
            </a:r>
            <a:endParaRPr lang="en-US" sz="800">
              <a:solidFill>
                <a:srgbClr val="272428"/>
              </a:solidFill>
              <a:cs typeface="Poppins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84980A-9A18-0238-2A5F-B1FF644F360E}"/>
              </a:ext>
            </a:extLst>
          </p:cNvPr>
          <p:cNvSpPr txBox="1"/>
          <p:nvPr/>
        </p:nvSpPr>
        <p:spPr>
          <a:xfrm>
            <a:off x="4323246" y="4446675"/>
            <a:ext cx="3512317" cy="2185214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{ 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"section": "Education", 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"total_section_raw_score"20.0,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"total_section_max_score":20.0,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"scores": { 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"RoleRelevance": { 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"score": 10, 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"feedback": "The educational .... expected for the target role." 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        },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 "score": 10,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 "feedback": "Clearly presents. … candidate's education."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"session_feedback": "The candidate's ....  the data scientist role."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8E0340-16C2-1339-31EB-C95446EABEB0}"/>
              </a:ext>
            </a:extLst>
          </p:cNvPr>
          <p:cNvSpPr txBox="1"/>
          <p:nvPr/>
        </p:nvSpPr>
        <p:spPr>
          <a:xfrm>
            <a:off x="556509" y="4465037"/>
            <a:ext cx="3512317" cy="1938992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{ 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"section": "Education", 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"scores": { 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"RoleRelevance": { 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"score": 5, 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"feedback": "The educational .... expected for the target role." 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        },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 "score": 5,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 "feedback": "Clearly presents. … candidate's education."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"session_feedback": "The candidate's ....  the data scientist role."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}</a:t>
            </a:r>
            <a:endParaRPr lang="en-US" sz="800">
              <a:solidFill>
                <a:srgbClr val="272428"/>
              </a:solidFill>
              <a:cs typeface="Poppins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BE965C-D36D-E6FA-8358-A6F7613A4876}"/>
              </a:ext>
            </a:extLst>
          </p:cNvPr>
          <p:cNvSpPr txBox="1"/>
          <p:nvPr/>
        </p:nvSpPr>
        <p:spPr>
          <a:xfrm>
            <a:off x="4323245" y="2336830"/>
            <a:ext cx="3512317" cy="2062103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{ 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"section": "Profile", 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"total_section_raw_score"8.0,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"total_section_max_score":20.0,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"scores": { 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"RoleRelevance": { 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"score": 2.0, 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"feedback": "The profile lacks .... professional identity.." 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        },</a:t>
            </a:r>
            <a:endParaRPr lang="en-US" sz="80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 "score": 6.0,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 "feedback": "The profile includes … current status."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"session_feedback": "While contact information ....  scientist role."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C24AE6-2C1E-FE59-477A-C35F6358CDA4}"/>
              </a:ext>
            </a:extLst>
          </p:cNvPr>
          <p:cNvSpPr txBox="1"/>
          <p:nvPr/>
        </p:nvSpPr>
        <p:spPr>
          <a:xfrm>
            <a:off x="8134276" y="2737338"/>
            <a:ext cx="3512317" cy="3416320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"</a:t>
            </a:r>
            <a:r>
              <a:rPr lang="en-US" sz="800" err="1">
                <a:solidFill>
                  <a:srgbClr val="272428"/>
                </a:solidFill>
                <a:latin typeface="Poppins Light"/>
                <a:cs typeface="Poppins Light"/>
              </a:rPr>
              <a:t>Conclution</a:t>
            </a:r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": { </a:t>
            </a:r>
            <a:endParaRPr lang="en-US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rgbClr val="272428"/>
                </a:solidFill>
                <a:latin typeface="Poppins Light"/>
                <a:cs typeface="Poppins Light"/>
              </a:rPr>
              <a:t>global_grade</a:t>
            </a:r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": “A", </a:t>
            </a:r>
            <a:endParaRPr lang="en-US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rgbClr val="272428"/>
                </a:solidFill>
                <a:latin typeface="Poppins Light"/>
                <a:cs typeface="Poppins Light"/>
              </a:rPr>
              <a:t>total_weighted_raw_score</a:t>
            </a:r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": 4.8, </a:t>
            </a:r>
            <a:endParaRPr lang="en-US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rgbClr val="272428"/>
                </a:solidFill>
                <a:latin typeface="Poppins Light"/>
                <a:cs typeface="Poppins Light"/>
              </a:rPr>
              <a:t>total_weighted_max_score</a:t>
            </a:r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": 6.0, </a:t>
            </a:r>
            <a:endParaRPr lang="en-US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rgbClr val="272428"/>
                </a:solidFill>
                <a:latin typeface="Poppins Light"/>
                <a:cs typeface="Poppins Light"/>
              </a:rPr>
              <a:t>section_contribution</a:t>
            </a:r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": { </a:t>
            </a:r>
            <a:endParaRPr lang="en-US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"Profile": { </a:t>
            </a:r>
            <a:endParaRPr lang="en-US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rgbClr val="272428"/>
                </a:solidFill>
                <a:latin typeface="Poppins Light"/>
                <a:cs typeface="Poppins Light"/>
              </a:rPr>
              <a:t>session_grade</a:t>
            </a:r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": “C", </a:t>
            </a:r>
            <a:endParaRPr lang="en-US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rgbClr val="272428"/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": 8.0,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rgbClr val="272428"/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rgbClr val="272428"/>
                </a:solidFill>
                <a:latin typeface="Poppins Light"/>
                <a:cs typeface="Poppins Light"/>
              </a:rPr>
              <a:t>section_weight</a:t>
            </a:r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": 0.1,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rgbClr val="272428"/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": 0.8,   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            "</a:t>
            </a:r>
            <a:r>
              <a:rPr lang="en-US" sz="800" err="1">
                <a:solidFill>
                  <a:srgbClr val="272428"/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": 2.0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},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"Education": {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rgbClr val="272428"/>
                </a:solidFill>
                <a:latin typeface="Poppins Light"/>
                <a:cs typeface="Poppins Light"/>
              </a:rPr>
              <a:t>session_grade</a:t>
            </a:r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": “A",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rgbClr val="272428"/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rgbClr val="272428"/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rgbClr val="272428"/>
                </a:solidFill>
                <a:latin typeface="Poppins Light"/>
                <a:cs typeface="Poppins Light"/>
              </a:rPr>
              <a:t>section_weight</a:t>
            </a:r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": 0.2,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rgbClr val="272428"/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": 4.0,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  "</a:t>
            </a:r>
            <a:r>
              <a:rPr lang="en-US" sz="800" err="1">
                <a:solidFill>
                  <a:srgbClr val="272428"/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": 4.0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rgbClr val="272428"/>
                </a:solidFill>
                <a:latin typeface="Poppins Light"/>
                <a:cs typeface="Poppins Light"/>
              </a:rPr>
              <a:t>globalfeedback</a:t>
            </a:r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      "response": "Strong education clearly supports the role; however, define your professional title for instant clarity and stronger impact." </a:t>
            </a:r>
          </a:p>
          <a:p>
            <a:r>
              <a:rPr lang="en-US" sz="800">
                <a:solidFill>
                  <a:srgbClr val="272428"/>
                </a:solidFill>
                <a:latin typeface="Poppins Light"/>
                <a:cs typeface="Poppins Light"/>
              </a:rPr>
              <a:t>    }</a:t>
            </a:r>
            <a:endParaRPr lang="en-US" sz="800">
              <a:solidFill>
                <a:srgbClr val="272428"/>
              </a:solidFill>
              <a:cs typeface="Poppins Light"/>
            </a:endParaRPr>
          </a:p>
        </p:txBody>
      </p:sp>
      <p:pic>
        <p:nvPicPr>
          <p:cNvPr id="18" name="Picture 17" descr="A red arrow pointing at a rectangle&#10;&#10;AI-generated content may be incorrect.">
            <a:extLst>
              <a:ext uri="{FF2B5EF4-FFF2-40B4-BE49-F238E27FC236}">
                <a16:creationId xmlns:a16="http://schemas.microsoft.com/office/drawing/2014/main" id="{6659721A-A9E7-958D-11F3-94633391C4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3" y="1209675"/>
            <a:ext cx="10277475" cy="11239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E600D02-EA84-1DF2-1467-E16416B61A71}"/>
              </a:ext>
            </a:extLst>
          </p:cNvPr>
          <p:cNvSpPr txBox="1">
            <a:spLocks/>
          </p:cNvSpPr>
          <p:nvPr/>
        </p:nvSpPr>
        <p:spPr>
          <a:xfrm>
            <a:off x="990600" y="4859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Scoring Computation Flow</a:t>
            </a:r>
            <a:endParaRPr lang="en-US">
              <a:solidFill>
                <a:srgbClr val="519BC9"/>
              </a:solidFill>
              <a:latin typeface="Poppins Light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49CD414-BF58-CA36-D13A-6930784DEC9E}"/>
              </a:ext>
            </a:extLst>
          </p:cNvPr>
          <p:cNvSpPr/>
          <p:nvPr/>
        </p:nvSpPr>
        <p:spPr>
          <a:xfrm>
            <a:off x="12083796" y="41939"/>
            <a:ext cx="62837" cy="62837"/>
          </a:xfrm>
          <a:prstGeom prst="ellipse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81385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B1F53-42A8-9B92-BC82-DD516A2ED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361FD-DAB1-54CE-B7EE-D4D1755040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361FD-DAB1-54CE-B7EE-D4D1755040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83802754-CA1B-78C6-E2B2-CBDB2E74DC69}"/>
              </a:ext>
            </a:extLst>
          </p:cNvPr>
          <p:cNvSpPr/>
          <p:nvPr/>
        </p:nvSpPr>
        <p:spPr>
          <a:xfrm>
            <a:off x="420338" y="1080924"/>
            <a:ext cx="11351322" cy="56209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983FAE-817C-8094-50E5-C04E81CBEEF8}"/>
              </a:ext>
            </a:extLst>
          </p:cNvPr>
          <p:cNvSpPr txBox="1"/>
          <p:nvPr/>
        </p:nvSpPr>
        <p:spPr>
          <a:xfrm>
            <a:off x="556510" y="2464328"/>
            <a:ext cx="3512317" cy="1938992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"Profile",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ContentQuality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profile lacks .... professional identity.."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3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"The profile includes … current status."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"While contact information ....  scientist role.."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A8C73F-55DC-0D12-CB0F-7DB1D3DDFA46}"/>
              </a:ext>
            </a:extLst>
          </p:cNvPr>
          <p:cNvSpPr txBox="1"/>
          <p:nvPr/>
        </p:nvSpPr>
        <p:spPr>
          <a:xfrm>
            <a:off x="4323246" y="4446675"/>
            <a:ext cx="3512317" cy="2185214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"Education",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"total_section_raw_score"20.0,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"total_section_max_score":20.0,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10,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educational .... expected for the target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10,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"Clearly presents. … candidate's education."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"The candidate's ....  the data 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82A827-AAD8-90B2-D9E0-A61D27E950E7}"/>
              </a:ext>
            </a:extLst>
          </p:cNvPr>
          <p:cNvSpPr txBox="1"/>
          <p:nvPr/>
        </p:nvSpPr>
        <p:spPr>
          <a:xfrm>
            <a:off x="556509" y="4465037"/>
            <a:ext cx="3512317" cy="1938992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"Education",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accent1">
                    <a:lumMod val="10000"/>
                  </a:schemeClr>
                </a:solidFill>
                <a:latin typeface="Poppins Light"/>
                <a:cs typeface="Poppins Light"/>
              </a:rPr>
              <a:t>5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educational .... expected for the target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accent1">
                    <a:lumMod val="10000"/>
                  </a:schemeClr>
                </a:solidFill>
                <a:latin typeface="Poppins Light"/>
                <a:cs typeface="Poppins Light"/>
              </a:rPr>
              <a:t>5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"Clearly presents. … candidate's education."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"The candidate's ....  the data 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AA43DF-8A39-3504-9C2B-D4E744B65212}"/>
              </a:ext>
            </a:extLst>
          </p:cNvPr>
          <p:cNvSpPr txBox="1"/>
          <p:nvPr/>
        </p:nvSpPr>
        <p:spPr>
          <a:xfrm>
            <a:off x="4323245" y="2336830"/>
            <a:ext cx="3512317" cy="2062103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"Profile",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"total_section_raw_score"8.0,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"total_section_max_score":20.0,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2.0,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profile lacks .... professional identity.."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6.0,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"The profile includes … current status."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"While contact information ....  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1E9EAA-D318-A96D-A4F9-EDD86466A8C0}"/>
              </a:ext>
            </a:extLst>
          </p:cNvPr>
          <p:cNvSpPr txBox="1"/>
          <p:nvPr/>
        </p:nvSpPr>
        <p:spPr>
          <a:xfrm>
            <a:off x="8134276" y="2737338"/>
            <a:ext cx="3512317" cy="3416320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Conclution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global_grade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“A",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total_weighted_raw_score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4.8,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total_weighted_max_score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6.0,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section_contribution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"Profile":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“C",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8.0,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0.1,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0.8,   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 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2.0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"Education":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“A",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0.2,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4.0,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 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4.0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globalfeedback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"response": "Strong education clearly supports the role; however, define your professional title for instant clarity and stronger impact."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pic>
        <p:nvPicPr>
          <p:cNvPr id="18" name="Picture 17" descr="A red arrow pointing at a rectangle&#10;&#10;AI-generated content may be incorrect.">
            <a:extLst>
              <a:ext uri="{FF2B5EF4-FFF2-40B4-BE49-F238E27FC236}">
                <a16:creationId xmlns:a16="http://schemas.microsoft.com/office/drawing/2014/main" id="{23C9D1AC-8CF5-ABD5-C5DA-D8C4B9024D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3" y="1209675"/>
            <a:ext cx="10277475" cy="11239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E666A23-D394-2928-DEAB-BE69BDC7B650}"/>
              </a:ext>
            </a:extLst>
          </p:cNvPr>
          <p:cNvSpPr txBox="1">
            <a:spLocks/>
          </p:cNvSpPr>
          <p:nvPr/>
        </p:nvSpPr>
        <p:spPr>
          <a:xfrm>
            <a:off x="990600" y="4859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Scoring Computation Flow</a:t>
            </a:r>
            <a:endParaRPr lang="en-US">
              <a:solidFill>
                <a:srgbClr val="519BC9"/>
              </a:solidFill>
              <a:latin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2964835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AB42E-88DB-1925-E605-1CD3D2C26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375C392-88E4-4A70-1434-1CF3E9AD21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375C392-88E4-4A70-1434-1CF3E9AD21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5BA814C-11A3-C792-B32C-0139830DB1BF}"/>
              </a:ext>
            </a:extLst>
          </p:cNvPr>
          <p:cNvSpPr/>
          <p:nvPr/>
        </p:nvSpPr>
        <p:spPr>
          <a:xfrm>
            <a:off x="420338" y="1080924"/>
            <a:ext cx="11351322" cy="56209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C8A6A8-58B0-0758-329D-38EFFD97D818}"/>
              </a:ext>
            </a:extLst>
          </p:cNvPr>
          <p:cNvSpPr txBox="1"/>
          <p:nvPr/>
        </p:nvSpPr>
        <p:spPr>
          <a:xfrm>
            <a:off x="556510" y="2464328"/>
            <a:ext cx="3512317" cy="1938992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"Profile",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ContentQuality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profile lacks .... professional identity.."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3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"The profile includes … current status."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"While contact information ....  scientist role.."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AA5477-E4FE-5A1D-FBE7-DA2C4DDCDF5B}"/>
              </a:ext>
            </a:extLst>
          </p:cNvPr>
          <p:cNvSpPr txBox="1"/>
          <p:nvPr/>
        </p:nvSpPr>
        <p:spPr>
          <a:xfrm>
            <a:off x="4323246" y="4446675"/>
            <a:ext cx="3512317" cy="2185214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"Education",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"total_section_raw_score"20.0,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"total_section_max_score":20.0,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educational .... expected for the target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"Clearly presents. … candidate's education."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"The candidate's ....  the data 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FFCED7-34BF-BC8F-8038-85F1603E2A92}"/>
              </a:ext>
            </a:extLst>
          </p:cNvPr>
          <p:cNvSpPr txBox="1"/>
          <p:nvPr/>
        </p:nvSpPr>
        <p:spPr>
          <a:xfrm>
            <a:off x="556509" y="4465037"/>
            <a:ext cx="3512317" cy="1938992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"Education",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accent1">
                    <a:lumMod val="10000"/>
                  </a:schemeClr>
                </a:solidFill>
                <a:latin typeface="Poppins Light"/>
                <a:cs typeface="Poppins Light"/>
              </a:rPr>
              <a:t>5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educational .... expected for the target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accent1">
                    <a:lumMod val="10000"/>
                  </a:schemeClr>
                </a:solidFill>
                <a:latin typeface="Poppins Light"/>
                <a:cs typeface="Poppins Light"/>
              </a:rPr>
              <a:t>5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"Clearly presents. … candidate's education."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"The candidate's ....  the data 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8E33E9-8147-6A3E-AD87-A58807654381}"/>
              </a:ext>
            </a:extLst>
          </p:cNvPr>
          <p:cNvSpPr txBox="1"/>
          <p:nvPr/>
        </p:nvSpPr>
        <p:spPr>
          <a:xfrm>
            <a:off x="4323245" y="2336830"/>
            <a:ext cx="3512317" cy="2062103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"Profile",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"total_section_raw_score"8.0,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"total_section_max_score":20.0,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2.0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profile lacks .... professional identity.."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6.0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"The profile includes … current status."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"While contact information ....  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8F2E41-AB95-3CB3-9AE0-81CA5CEDF3DC}"/>
              </a:ext>
            </a:extLst>
          </p:cNvPr>
          <p:cNvSpPr txBox="1"/>
          <p:nvPr/>
        </p:nvSpPr>
        <p:spPr>
          <a:xfrm>
            <a:off x="8134276" y="2737338"/>
            <a:ext cx="3512317" cy="3416320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Conclution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global_grade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“A",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total_weighted_raw_score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4.8,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total_weighted_max_score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6.0,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section_contribution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"Profile":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“C",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8.0,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0.1,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0.8,   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 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2.0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"Education":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“A",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0.2,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4.0,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 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4.0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globalfeedback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"response": "Strong education clearly supports the role; however, define your professional title for instant clarity and stronger impact."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pic>
        <p:nvPicPr>
          <p:cNvPr id="18" name="Picture 17" descr="A red arrow pointing at a rectangle&#10;&#10;AI-generated content may be incorrect.">
            <a:extLst>
              <a:ext uri="{FF2B5EF4-FFF2-40B4-BE49-F238E27FC236}">
                <a16:creationId xmlns:a16="http://schemas.microsoft.com/office/drawing/2014/main" id="{58BF1473-0C9B-6303-0144-F87AFD4D0D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3" y="1209675"/>
            <a:ext cx="10277475" cy="11239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365BB4B-D151-42E1-D5AD-B04BD1D4C4D4}"/>
              </a:ext>
            </a:extLst>
          </p:cNvPr>
          <p:cNvSpPr txBox="1">
            <a:spLocks/>
          </p:cNvSpPr>
          <p:nvPr/>
        </p:nvSpPr>
        <p:spPr>
          <a:xfrm>
            <a:off x="990600" y="4859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Scoring Computation Flow</a:t>
            </a:r>
            <a:endParaRPr lang="en-US">
              <a:solidFill>
                <a:srgbClr val="519BC9"/>
              </a:solidFill>
              <a:latin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4387017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6CCD4-2ED1-D98E-9264-52157FFF5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937F616-0137-FC4A-4EDB-B72A09B5366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937F616-0137-FC4A-4EDB-B72A09B536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4B01B02B-B838-9F8C-DACC-540A91E4C327}"/>
              </a:ext>
            </a:extLst>
          </p:cNvPr>
          <p:cNvSpPr/>
          <p:nvPr/>
        </p:nvSpPr>
        <p:spPr>
          <a:xfrm>
            <a:off x="420338" y="1080924"/>
            <a:ext cx="11351322" cy="56209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D0B1C4-0850-4EB7-A484-1B3ACFFFC1F3}"/>
              </a:ext>
            </a:extLst>
          </p:cNvPr>
          <p:cNvSpPr txBox="1"/>
          <p:nvPr/>
        </p:nvSpPr>
        <p:spPr>
          <a:xfrm>
            <a:off x="556510" y="2464328"/>
            <a:ext cx="3512317" cy="1938992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"Profile",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ContentQuality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profile lacks .... professional identity.."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3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"The profile includes … current status."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"While contact information ....  scientist role.."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81E969-35CC-AE33-B8C3-32D39F4C254A}"/>
              </a:ext>
            </a:extLst>
          </p:cNvPr>
          <p:cNvSpPr txBox="1"/>
          <p:nvPr/>
        </p:nvSpPr>
        <p:spPr>
          <a:xfrm>
            <a:off x="4323246" y="4446675"/>
            <a:ext cx="3512317" cy="2185214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"Education",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"total_section_raw_score"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"total_section_max_score":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educational .... expected for the target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"Clearly presents. … candidate's education."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"The candidate's ....  the data 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41B90D-E05D-1810-BD05-A1B478B280FB}"/>
              </a:ext>
            </a:extLst>
          </p:cNvPr>
          <p:cNvSpPr txBox="1"/>
          <p:nvPr/>
        </p:nvSpPr>
        <p:spPr>
          <a:xfrm>
            <a:off x="556509" y="4465037"/>
            <a:ext cx="3512317" cy="1938992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"Education",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accent1">
                    <a:lumMod val="10000"/>
                  </a:schemeClr>
                </a:solidFill>
                <a:latin typeface="Poppins Light"/>
                <a:cs typeface="Poppins Light"/>
              </a:rPr>
              <a:t>5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educational .... expected for the target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accent1">
                    <a:lumMod val="10000"/>
                  </a:schemeClr>
                </a:solidFill>
                <a:latin typeface="Poppins Light"/>
                <a:cs typeface="Poppins Light"/>
              </a:rPr>
              <a:t>5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"Clearly presents. … candidate's education."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"The candidate's ....  the data 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746D07-FD18-9650-331D-2F1856F0AAAC}"/>
              </a:ext>
            </a:extLst>
          </p:cNvPr>
          <p:cNvSpPr txBox="1"/>
          <p:nvPr/>
        </p:nvSpPr>
        <p:spPr>
          <a:xfrm>
            <a:off x="4323245" y="2336830"/>
            <a:ext cx="3512317" cy="2062103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"Profile",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"total_section_raw_score"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8.0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"total_section_max_score":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2.0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profile lacks .... professional identity.."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6.0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"The profile includes … current status."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"While contact information ....  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756ADE-C081-84C8-097B-2B56E5F2974A}"/>
              </a:ext>
            </a:extLst>
          </p:cNvPr>
          <p:cNvSpPr txBox="1"/>
          <p:nvPr/>
        </p:nvSpPr>
        <p:spPr>
          <a:xfrm>
            <a:off x="8134276" y="2737338"/>
            <a:ext cx="3512317" cy="3416320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Conclution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global_grade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“A"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total_weighted_raw_score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4.8,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total_weighted_max_score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6.0,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section_contribution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"Profile":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“C",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8.0,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0.1,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0.8,   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 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2.0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"Education":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“A",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0.2,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4.0,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 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4.0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globalfeedback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"response": "Strong education clearly supports the role; however, define your professional title for instant clarity and stronger impact."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pic>
        <p:nvPicPr>
          <p:cNvPr id="18" name="Picture 17" descr="A red arrow pointing at a rectangle&#10;&#10;AI-generated content may be incorrect.">
            <a:extLst>
              <a:ext uri="{FF2B5EF4-FFF2-40B4-BE49-F238E27FC236}">
                <a16:creationId xmlns:a16="http://schemas.microsoft.com/office/drawing/2014/main" id="{2E9E6844-5A40-C642-F62B-C3729D0EE7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3" y="1209675"/>
            <a:ext cx="10277475" cy="11239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4D4C531-6D8C-1CAA-5F59-11C5D41DD394}"/>
              </a:ext>
            </a:extLst>
          </p:cNvPr>
          <p:cNvSpPr txBox="1">
            <a:spLocks/>
          </p:cNvSpPr>
          <p:nvPr/>
        </p:nvSpPr>
        <p:spPr>
          <a:xfrm>
            <a:off x="990600" y="4859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Scoring Computation Flow</a:t>
            </a:r>
            <a:endParaRPr lang="en-US">
              <a:solidFill>
                <a:srgbClr val="519BC9"/>
              </a:solidFill>
              <a:latin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42821477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078D5-D222-FE78-1BEA-481D5B435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7E028AC-4AFC-3410-DB5E-5CAA72C9BF5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7E028AC-4AFC-3410-DB5E-5CAA72C9BF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5765D6CD-3191-BE62-C2D1-7C883D28C2D2}"/>
              </a:ext>
            </a:extLst>
          </p:cNvPr>
          <p:cNvSpPr/>
          <p:nvPr/>
        </p:nvSpPr>
        <p:spPr>
          <a:xfrm>
            <a:off x="420338" y="1080924"/>
            <a:ext cx="11351322" cy="56209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E2101B-29B7-10D5-54EB-6B0AB7E5EF3F}"/>
              </a:ext>
            </a:extLst>
          </p:cNvPr>
          <p:cNvSpPr txBox="1"/>
          <p:nvPr/>
        </p:nvSpPr>
        <p:spPr>
          <a:xfrm>
            <a:off x="556510" y="2464328"/>
            <a:ext cx="3512317" cy="1938992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"Profile",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ContentQuality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profile lacks .... professional identity.."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3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"The profile includes … current status."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"While contact information ....  scientist role.."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8D0F15-042C-91C7-CA1D-6F4B2EE5D4CF}"/>
              </a:ext>
            </a:extLst>
          </p:cNvPr>
          <p:cNvSpPr txBox="1"/>
          <p:nvPr/>
        </p:nvSpPr>
        <p:spPr>
          <a:xfrm>
            <a:off x="4323246" y="4446675"/>
            <a:ext cx="3512317" cy="2185214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"Education",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"total_section_raw_score"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"total_section_max_score":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educational .... expected for the target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"Clearly presents. … candidate's education."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"The candidate's ....  the data 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4ACE3A-A196-9036-5185-549924F147DD}"/>
              </a:ext>
            </a:extLst>
          </p:cNvPr>
          <p:cNvSpPr txBox="1"/>
          <p:nvPr/>
        </p:nvSpPr>
        <p:spPr>
          <a:xfrm>
            <a:off x="556509" y="4465037"/>
            <a:ext cx="3512317" cy="1938992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"Education",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accent1">
                    <a:lumMod val="10000"/>
                  </a:schemeClr>
                </a:solidFill>
                <a:latin typeface="Poppins Light"/>
                <a:cs typeface="Poppins Light"/>
              </a:rPr>
              <a:t>5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educational .... expected for the target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accent1">
                    <a:lumMod val="10000"/>
                  </a:schemeClr>
                </a:solidFill>
                <a:latin typeface="Poppins Light"/>
                <a:cs typeface="Poppins Light"/>
              </a:rPr>
              <a:t>5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"Clearly presents. … candidate's education."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"The candidate's ....  the data 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6E9EF7-075F-E2A0-12C7-5BF36C6F3F97}"/>
              </a:ext>
            </a:extLst>
          </p:cNvPr>
          <p:cNvSpPr txBox="1"/>
          <p:nvPr/>
        </p:nvSpPr>
        <p:spPr>
          <a:xfrm>
            <a:off x="4323245" y="2336830"/>
            <a:ext cx="3512317" cy="2062103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"Profile",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"total_section_raw_score"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8.0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"total_section_max_score":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2.0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profile lacks .... professional identity.."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6.0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"The profile includes … current status."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"While contact information ....  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5C18C2-C74D-DF5E-E91A-0756341CD389}"/>
              </a:ext>
            </a:extLst>
          </p:cNvPr>
          <p:cNvSpPr txBox="1"/>
          <p:nvPr/>
        </p:nvSpPr>
        <p:spPr>
          <a:xfrm>
            <a:off x="8134276" y="2737338"/>
            <a:ext cx="3512317" cy="3416320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Conclution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global_grade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“A"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total_weighted_raw_score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4.8,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total_weighted_max_score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6.0,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section_contribution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"Profile":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“C",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8.0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0.1,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0.8,   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 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2.0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"Education":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“A",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0.2,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4.0,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 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4.0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globalfeedback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"response": "Strong education clearly supports the role; however, define your professional title for instant clarity and stronger impact."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pic>
        <p:nvPicPr>
          <p:cNvPr id="18" name="Picture 17" descr="A red arrow pointing at a rectangle&#10;&#10;AI-generated content may be incorrect.">
            <a:extLst>
              <a:ext uri="{FF2B5EF4-FFF2-40B4-BE49-F238E27FC236}">
                <a16:creationId xmlns:a16="http://schemas.microsoft.com/office/drawing/2014/main" id="{D7FF1297-BB93-E7CC-D9BA-B2DC078B93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3" y="1209675"/>
            <a:ext cx="10277475" cy="11239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6A7EDAD-3E35-0B39-6948-811C0139CD7B}"/>
              </a:ext>
            </a:extLst>
          </p:cNvPr>
          <p:cNvSpPr txBox="1">
            <a:spLocks/>
          </p:cNvSpPr>
          <p:nvPr/>
        </p:nvSpPr>
        <p:spPr>
          <a:xfrm>
            <a:off x="990600" y="4859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Scoring Computation Flow</a:t>
            </a:r>
            <a:endParaRPr lang="en-US">
              <a:solidFill>
                <a:srgbClr val="519BC9"/>
              </a:solidFill>
              <a:latin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2669920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2CFFD-F101-4B72-2806-16BB4F6AA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F18BF47-5F47-38AC-19A7-B7160C5BDC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18BF47-5F47-38AC-19A7-B7160C5BD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117CC76-D347-1449-C6C2-D62AB1DDAA82}"/>
              </a:ext>
            </a:extLst>
          </p:cNvPr>
          <p:cNvSpPr/>
          <p:nvPr/>
        </p:nvSpPr>
        <p:spPr>
          <a:xfrm>
            <a:off x="420338" y="1080924"/>
            <a:ext cx="11351322" cy="56209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B5A5E8-DF88-D05F-11AF-8BCB1CCA6807}"/>
              </a:ext>
            </a:extLst>
          </p:cNvPr>
          <p:cNvSpPr txBox="1"/>
          <p:nvPr/>
        </p:nvSpPr>
        <p:spPr>
          <a:xfrm>
            <a:off x="556510" y="2464328"/>
            <a:ext cx="3512317" cy="1938992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"Profile",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ContentQuality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profile lacks .... professional identity.."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3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"The profile includes … current status."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"While contact information ....  scientist role.."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5B0A3A-2008-2997-9ED4-5009603CBC69}"/>
              </a:ext>
            </a:extLst>
          </p:cNvPr>
          <p:cNvSpPr txBox="1"/>
          <p:nvPr/>
        </p:nvSpPr>
        <p:spPr>
          <a:xfrm>
            <a:off x="4323246" y="4446675"/>
            <a:ext cx="3512317" cy="2185214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"Education",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"total_section_raw_score"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"total_section_max_score":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educational .... expected for the target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"Clearly presents. … candidate's education."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"The candidate's ....  the data 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3830F5-A16E-AEB5-8031-40F4B3277EB0}"/>
              </a:ext>
            </a:extLst>
          </p:cNvPr>
          <p:cNvSpPr txBox="1"/>
          <p:nvPr/>
        </p:nvSpPr>
        <p:spPr>
          <a:xfrm>
            <a:off x="556509" y="4465037"/>
            <a:ext cx="3512317" cy="1938992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"Education",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accent1">
                    <a:lumMod val="10000"/>
                  </a:schemeClr>
                </a:solidFill>
                <a:latin typeface="Poppins Light"/>
                <a:cs typeface="Poppins Light"/>
              </a:rPr>
              <a:t>5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educational .... expected for the target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accent1">
                    <a:lumMod val="10000"/>
                  </a:schemeClr>
                </a:solidFill>
                <a:latin typeface="Poppins Light"/>
                <a:cs typeface="Poppins Light"/>
              </a:rPr>
              <a:t>5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"Clearly presents. … candidate's education."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"The candidate's ....  the data 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35BBD7-C8C7-A702-22E3-9187533EAE9D}"/>
              </a:ext>
            </a:extLst>
          </p:cNvPr>
          <p:cNvSpPr txBox="1"/>
          <p:nvPr/>
        </p:nvSpPr>
        <p:spPr>
          <a:xfrm>
            <a:off x="4323245" y="2336830"/>
            <a:ext cx="3512317" cy="2062103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"Profile",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"total_section_raw_score"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8.0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"total_section_max_score":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2.0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profile lacks .... professional identity.."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6.0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"The profile includes … current status."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"While contact information ....  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E79A61-5172-0B91-6FC9-CB0E764DC4B7}"/>
              </a:ext>
            </a:extLst>
          </p:cNvPr>
          <p:cNvSpPr txBox="1"/>
          <p:nvPr/>
        </p:nvSpPr>
        <p:spPr>
          <a:xfrm>
            <a:off x="8134276" y="2737338"/>
            <a:ext cx="3512317" cy="3416320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Conclution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global_grade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“A"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total_weighted_raw_score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4.8,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total_weighted_max_score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6.0,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section_contribution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"Profile":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“C",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8.0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0.1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0.8,   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 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2.0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"Education":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“A",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0.2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4.0,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 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4.0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globalfeedback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"response": "Strong education clearly supports the role; however, define your professional title for instant clarity and stronger impact."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pic>
        <p:nvPicPr>
          <p:cNvPr id="18" name="Picture 17" descr="A red arrow pointing at a rectangle&#10;&#10;AI-generated content may be incorrect.">
            <a:extLst>
              <a:ext uri="{FF2B5EF4-FFF2-40B4-BE49-F238E27FC236}">
                <a16:creationId xmlns:a16="http://schemas.microsoft.com/office/drawing/2014/main" id="{85A26F05-6485-0C93-C1D8-172F50A062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3" y="1209675"/>
            <a:ext cx="10277475" cy="11239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0376968-A912-D05D-7E0C-9D98FFE23BD1}"/>
              </a:ext>
            </a:extLst>
          </p:cNvPr>
          <p:cNvSpPr txBox="1">
            <a:spLocks/>
          </p:cNvSpPr>
          <p:nvPr/>
        </p:nvSpPr>
        <p:spPr>
          <a:xfrm>
            <a:off x="990600" y="4859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Scoring Computation Flow</a:t>
            </a:r>
            <a:endParaRPr lang="en-US">
              <a:solidFill>
                <a:srgbClr val="519BC9"/>
              </a:solidFill>
              <a:latin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9800344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66BDE-9DC6-25D4-5C35-67BE2CBED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3E4561D-CA6E-1C5D-C6AE-FA2C6CFE0B0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E4561D-CA6E-1C5D-C6AE-FA2C6CFE0B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C07961EF-449C-B7E4-4CE7-3B141B4D58B9}"/>
              </a:ext>
            </a:extLst>
          </p:cNvPr>
          <p:cNvSpPr/>
          <p:nvPr/>
        </p:nvSpPr>
        <p:spPr>
          <a:xfrm>
            <a:off x="582264" y="1300424"/>
            <a:ext cx="3516769" cy="46283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DFD0052-77A8-E962-1CC1-07D73413CB65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 err="1">
                <a:solidFill>
                  <a:srgbClr val="519BC9"/>
                </a:solidFill>
                <a:latin typeface="Poppins Light"/>
                <a:cs typeface="Poppins Light"/>
              </a:rPr>
              <a:t>CVResume</a:t>
            </a: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Score Normalization &amp; Grade Mapping</a:t>
            </a:r>
            <a:endParaRPr lang="en-US">
              <a:solidFill>
                <a:srgbClr val="519BC9"/>
              </a:solidFill>
              <a:latin typeface="Poppins Ligh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C51FAB-679E-32B1-8CAA-1682D1607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278234"/>
              </p:ext>
            </p:extLst>
          </p:nvPr>
        </p:nvGraphicFramePr>
        <p:xfrm>
          <a:off x="4514850" y="2771775"/>
          <a:ext cx="6962484" cy="31507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0262">
                  <a:extLst>
                    <a:ext uri="{9D8B030D-6E8A-4147-A177-3AD203B41FA5}">
                      <a16:colId xmlns:a16="http://schemas.microsoft.com/office/drawing/2014/main" val="2615654620"/>
                    </a:ext>
                  </a:extLst>
                </a:gridCol>
                <a:gridCol w="1002037">
                  <a:extLst>
                    <a:ext uri="{9D8B030D-6E8A-4147-A177-3AD203B41FA5}">
                      <a16:colId xmlns:a16="http://schemas.microsoft.com/office/drawing/2014/main" val="2666134677"/>
                    </a:ext>
                  </a:extLst>
                </a:gridCol>
                <a:gridCol w="1002037">
                  <a:extLst>
                    <a:ext uri="{9D8B030D-6E8A-4147-A177-3AD203B41FA5}">
                      <a16:colId xmlns:a16="http://schemas.microsoft.com/office/drawing/2014/main" val="1474476578"/>
                    </a:ext>
                  </a:extLst>
                </a:gridCol>
                <a:gridCol w="1002037">
                  <a:extLst>
                    <a:ext uri="{9D8B030D-6E8A-4147-A177-3AD203B41FA5}">
                      <a16:colId xmlns:a16="http://schemas.microsoft.com/office/drawing/2014/main" val="3016239017"/>
                    </a:ext>
                  </a:extLst>
                </a:gridCol>
                <a:gridCol w="1002037">
                  <a:extLst>
                    <a:ext uri="{9D8B030D-6E8A-4147-A177-3AD203B41FA5}">
                      <a16:colId xmlns:a16="http://schemas.microsoft.com/office/drawing/2014/main" val="140374584"/>
                    </a:ext>
                  </a:extLst>
                </a:gridCol>
                <a:gridCol w="1002037">
                  <a:extLst>
                    <a:ext uri="{9D8B030D-6E8A-4147-A177-3AD203B41FA5}">
                      <a16:colId xmlns:a16="http://schemas.microsoft.com/office/drawing/2014/main" val="3587445227"/>
                    </a:ext>
                  </a:extLst>
                </a:gridCol>
                <a:gridCol w="1002037">
                  <a:extLst>
                    <a:ext uri="{9D8B030D-6E8A-4147-A177-3AD203B41FA5}">
                      <a16:colId xmlns:a16="http://schemas.microsoft.com/office/drawing/2014/main" val="485861284"/>
                    </a:ext>
                  </a:extLst>
                </a:gridCol>
              </a:tblGrid>
              <a:tr h="68154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Section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Complete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GB" sz="105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Content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GB" sz="110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Quality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Grammar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Length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Role</a:t>
                      </a:r>
                    </a:p>
                    <a:p>
                      <a:pPr lvl="0" algn="ctr">
                        <a:buNone/>
                      </a:pPr>
                      <a:r>
                        <a:rPr lang="en-GB" sz="110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Relevance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Section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GB" sz="110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Weight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995445"/>
                  </a:ext>
                </a:extLst>
              </a:tr>
              <a:tr h="4022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bg1"/>
                          </a:solidFill>
                        </a:rPr>
                        <a:t>0.10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768461"/>
                  </a:ext>
                </a:extLst>
              </a:tr>
              <a:tr h="4133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noProof="0">
                          <a:solidFill>
                            <a:schemeClr val="bg1"/>
                          </a:solidFill>
                        </a:rPr>
                        <a:t>Summary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bg1"/>
                          </a:solidFill>
                        </a:rPr>
                        <a:t>0.10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4855725"/>
                  </a:ext>
                </a:extLst>
              </a:tr>
              <a:tr h="4133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Education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rgbClr val="FF0000"/>
                          </a:solidFill>
                          <a:latin typeface="Poppins Light"/>
                        </a:rPr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rgbClr val="FF0000"/>
                          </a:solidFill>
                          <a:latin typeface="Poppins Light"/>
                        </a:rPr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rgbClr val="FF0000"/>
                          </a:solidFill>
                          <a:latin typeface="Poppins Light"/>
                        </a:rPr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0.20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7005145"/>
                  </a:ext>
                </a:extLst>
              </a:tr>
              <a:tr h="4133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Experience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0.20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337563"/>
                  </a:ext>
                </a:extLst>
              </a:tr>
              <a:tr h="4133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baseline="0" noProof="0">
                          <a:solidFill>
                            <a:srgbClr val="272428"/>
                          </a:solidFill>
                        </a:rPr>
                        <a:t>Activities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0.20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775761"/>
                  </a:ext>
                </a:extLst>
              </a:tr>
              <a:tr h="4133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Skills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rgbClr val="FF0000"/>
                          </a:solidFill>
                          <a:latin typeface="Poppins Light"/>
                        </a:rPr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rgbClr val="FF0000"/>
                          </a:solidFill>
                          <a:latin typeface="Poppins Light"/>
                        </a:rPr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0.20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85332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5EB67E1-3DFC-80DC-A730-8F423B03008D}"/>
              </a:ext>
            </a:extLst>
          </p:cNvPr>
          <p:cNvSpPr txBox="1"/>
          <p:nvPr/>
        </p:nvSpPr>
        <p:spPr>
          <a:xfrm>
            <a:off x="580951" y="1299063"/>
            <a:ext cx="3512317" cy="4616648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Conclution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{ </a:t>
            </a:r>
            <a:endParaRPr lang="en-US" sz="105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global_grade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“A", </a:t>
            </a:r>
            <a:endParaRPr lang="en-US" sz="105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total_weighted_raw_score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4.8, </a:t>
            </a:r>
            <a:endParaRPr lang="en-US" sz="105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total_weighted_max_score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6.0, </a:t>
            </a:r>
            <a:endParaRPr lang="en-US" sz="105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section_contribution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{ </a:t>
            </a:r>
            <a:endParaRPr lang="en-US" sz="105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"Profile": { </a:t>
            </a:r>
            <a:endParaRPr lang="en-US" sz="105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session_grade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“C", </a:t>
            </a:r>
            <a:endParaRPr lang="en-US" sz="105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8.0,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section_weight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0.1,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0.8,   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 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2.0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},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"Education": {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session_grade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“A",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section_weight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0.2,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4.0,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 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4.0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globalfeedback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"response": "Strong education clearly supports the role; however, define your professional title for instant clarity and stronger impact."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}</a:t>
            </a:r>
            <a:endParaRPr lang="en-US" sz="1050">
              <a:solidFill>
                <a:srgbClr val="272428"/>
              </a:solidFill>
              <a:cs typeface="Poppins Ligh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C4D670-5871-6EA2-97CA-2C8D69B6654B}"/>
              </a:ext>
            </a:extLst>
          </p:cNvPr>
          <p:cNvSpPr/>
          <p:nvPr/>
        </p:nvSpPr>
        <p:spPr>
          <a:xfrm>
            <a:off x="4516089" y="1299176"/>
            <a:ext cx="6960297" cy="12348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buFont typeface="Calibri"/>
              <a:buChar char="-"/>
              <a:defRPr/>
            </a:pPr>
            <a:r>
              <a:rPr lang="en-GB" sz="1400">
                <a:solidFill>
                  <a:srgbClr val="519BC9"/>
                </a:solidFill>
                <a:ea typeface="+mn-lt"/>
                <a:cs typeface="+mn-lt"/>
              </a:rPr>
              <a:t>Each criterion is scored independently per section. A value of </a:t>
            </a:r>
            <a:r>
              <a:rPr lang="en-GB" sz="1400" b="1">
                <a:solidFill>
                  <a:srgbClr val="519BC9"/>
                </a:solidFill>
                <a:ea typeface="+mn-lt"/>
                <a:cs typeface="+mn-lt"/>
              </a:rPr>
              <a:t>0</a:t>
            </a:r>
            <a:r>
              <a:rPr lang="en-GB" sz="1400">
                <a:solidFill>
                  <a:srgbClr val="519BC9"/>
                </a:solidFill>
                <a:ea typeface="+mn-lt"/>
                <a:cs typeface="+mn-lt"/>
              </a:rPr>
              <a:t> indicates the criterion is not applied to that section.</a:t>
            </a:r>
            <a:endParaRPr lang="en-GB" sz="1400">
              <a:cs typeface="Poppins Light"/>
            </a:endParaRPr>
          </a:p>
          <a:p>
            <a:pPr marL="285750" indent="-285750">
              <a:buFont typeface="Calibri"/>
              <a:buChar char="-"/>
              <a:defRPr/>
            </a:pPr>
            <a:r>
              <a:rPr lang="en-GB" sz="1400">
                <a:ea typeface="+mn-lt"/>
                <a:cs typeface="+mn-lt"/>
              </a:rPr>
              <a:t>Section weight determines how much each resume section contributes to the final score. The sum of all section weights equals </a:t>
            </a:r>
            <a:r>
              <a:rPr lang="en-GB" sz="1400" b="1">
                <a:ea typeface="+mn-lt"/>
                <a:cs typeface="+mn-lt"/>
              </a:rPr>
              <a:t>1.0</a:t>
            </a:r>
          </a:p>
          <a:p>
            <a:pPr marL="285750" indent="-285750">
              <a:buFont typeface="Calibri"/>
              <a:buChar char="-"/>
              <a:defRPr/>
            </a:pPr>
            <a:r>
              <a:rPr lang="en-GB" sz="1400">
                <a:ea typeface="+mn-lt"/>
                <a:cs typeface="+mn-lt"/>
              </a:rPr>
              <a:t>Sections with no data or disabled criteria do not affect the final score.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6B546B-21BE-3D7F-FFFA-7F63C7269CA8}"/>
              </a:ext>
            </a:extLst>
          </p:cNvPr>
          <p:cNvSpPr/>
          <p:nvPr/>
        </p:nvSpPr>
        <p:spPr>
          <a:xfrm>
            <a:off x="12083796" y="41939"/>
            <a:ext cx="62837" cy="62837"/>
          </a:xfrm>
          <a:prstGeom prst="ellipse">
            <a:avLst/>
          </a:prstGeom>
          <a:solidFill>
            <a:schemeClr val="tx1"/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18658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A759B-E58F-B148-3831-99EE40B4E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2197D5C-295C-ABD2-155D-DEF39AD8247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2197D5C-295C-ABD2-155D-DEF39AD824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CB3EC7D-D168-5424-CD42-6A61732138C5}"/>
              </a:ext>
            </a:extLst>
          </p:cNvPr>
          <p:cNvSpPr/>
          <p:nvPr/>
        </p:nvSpPr>
        <p:spPr>
          <a:xfrm>
            <a:off x="582264" y="1300424"/>
            <a:ext cx="3516769" cy="46283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881881-6D60-91F5-46C4-0235D816949E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 err="1">
                <a:solidFill>
                  <a:srgbClr val="519BC9"/>
                </a:solidFill>
                <a:latin typeface="Poppins Light"/>
                <a:cs typeface="Poppins Light"/>
              </a:rPr>
              <a:t>CVResume</a:t>
            </a: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Score Normalization &amp; Grade Mapping</a:t>
            </a:r>
            <a:endParaRPr lang="en-US">
              <a:solidFill>
                <a:srgbClr val="519BC9"/>
              </a:solidFill>
              <a:latin typeface="Poppins Ligh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38CAB8-57E3-1482-66BA-3352E808D7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21732"/>
              </p:ext>
            </p:extLst>
          </p:nvPr>
        </p:nvGraphicFramePr>
        <p:xfrm>
          <a:off x="4514850" y="2771775"/>
          <a:ext cx="6962484" cy="31507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0262">
                  <a:extLst>
                    <a:ext uri="{9D8B030D-6E8A-4147-A177-3AD203B41FA5}">
                      <a16:colId xmlns:a16="http://schemas.microsoft.com/office/drawing/2014/main" val="2615654620"/>
                    </a:ext>
                  </a:extLst>
                </a:gridCol>
                <a:gridCol w="1002037">
                  <a:extLst>
                    <a:ext uri="{9D8B030D-6E8A-4147-A177-3AD203B41FA5}">
                      <a16:colId xmlns:a16="http://schemas.microsoft.com/office/drawing/2014/main" val="2666134677"/>
                    </a:ext>
                  </a:extLst>
                </a:gridCol>
                <a:gridCol w="1002037">
                  <a:extLst>
                    <a:ext uri="{9D8B030D-6E8A-4147-A177-3AD203B41FA5}">
                      <a16:colId xmlns:a16="http://schemas.microsoft.com/office/drawing/2014/main" val="1474476578"/>
                    </a:ext>
                  </a:extLst>
                </a:gridCol>
                <a:gridCol w="1002037">
                  <a:extLst>
                    <a:ext uri="{9D8B030D-6E8A-4147-A177-3AD203B41FA5}">
                      <a16:colId xmlns:a16="http://schemas.microsoft.com/office/drawing/2014/main" val="3016239017"/>
                    </a:ext>
                  </a:extLst>
                </a:gridCol>
                <a:gridCol w="1002037">
                  <a:extLst>
                    <a:ext uri="{9D8B030D-6E8A-4147-A177-3AD203B41FA5}">
                      <a16:colId xmlns:a16="http://schemas.microsoft.com/office/drawing/2014/main" val="140374584"/>
                    </a:ext>
                  </a:extLst>
                </a:gridCol>
                <a:gridCol w="1002037">
                  <a:extLst>
                    <a:ext uri="{9D8B030D-6E8A-4147-A177-3AD203B41FA5}">
                      <a16:colId xmlns:a16="http://schemas.microsoft.com/office/drawing/2014/main" val="3587445227"/>
                    </a:ext>
                  </a:extLst>
                </a:gridCol>
                <a:gridCol w="1002037">
                  <a:extLst>
                    <a:ext uri="{9D8B030D-6E8A-4147-A177-3AD203B41FA5}">
                      <a16:colId xmlns:a16="http://schemas.microsoft.com/office/drawing/2014/main" val="485861284"/>
                    </a:ext>
                  </a:extLst>
                </a:gridCol>
              </a:tblGrid>
              <a:tr h="68154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Section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Complete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GB" sz="105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Content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GB" sz="110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Quality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Grammar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Length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Role</a:t>
                      </a:r>
                    </a:p>
                    <a:p>
                      <a:pPr lvl="0" algn="ctr">
                        <a:buNone/>
                      </a:pPr>
                      <a:r>
                        <a:rPr lang="en-GB" sz="110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Relevance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Section</a:t>
                      </a:r>
                      <a:endParaRPr lang="en-US"/>
                    </a:p>
                    <a:p>
                      <a:pPr lvl="0" algn="ctr">
                        <a:buNone/>
                      </a:pPr>
                      <a:r>
                        <a:rPr lang="en-GB" sz="110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Weight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  <a:solidFill>
                      <a:srgbClr val="EB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995445"/>
                  </a:ext>
                </a:extLst>
              </a:tr>
              <a:tr h="4022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Profile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>
                          <a:solidFill>
                            <a:schemeClr val="bg1"/>
                          </a:solidFill>
                        </a:rPr>
                        <a:t>0.10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768461"/>
                  </a:ext>
                </a:extLst>
              </a:tr>
              <a:tr h="4133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noProof="0">
                          <a:solidFill>
                            <a:schemeClr val="bg1"/>
                          </a:solidFill>
                        </a:rPr>
                        <a:t>Summary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>
                          <a:solidFill>
                            <a:schemeClr val="bg1"/>
                          </a:solidFill>
                        </a:rPr>
                        <a:t>0.10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4855725"/>
                  </a:ext>
                </a:extLst>
              </a:tr>
              <a:tr h="4133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Education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  <a:latin typeface="Poppins Light"/>
                        </a:rPr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  <a:latin typeface="Poppins Light"/>
                        </a:rPr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  <a:latin typeface="Poppins Light"/>
                        </a:rPr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0.20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7005145"/>
                  </a:ext>
                </a:extLst>
              </a:tr>
              <a:tr h="4133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Experience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0.20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337563"/>
                  </a:ext>
                </a:extLst>
              </a:tr>
              <a:tr h="4133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baseline="0" noProof="0">
                          <a:solidFill>
                            <a:srgbClr val="272428"/>
                          </a:solidFill>
                        </a:rPr>
                        <a:t>Activities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0.20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775761"/>
                  </a:ext>
                </a:extLst>
              </a:tr>
              <a:tr h="41339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Skills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  <a:latin typeface="Poppins Light"/>
                        </a:rPr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  <a:latin typeface="Poppins Light"/>
                        </a:rPr>
                        <a:t>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>
                              <a:lumMod val="25000"/>
                              <a:lumOff val="75000"/>
                            </a:schemeClr>
                          </a:solidFill>
                          <a:latin typeface="Poppins Light"/>
                        </a:rPr>
                        <a:t>10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600" b="1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0.20</a:t>
                      </a: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85332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D5D8AE1-5133-F1D0-E368-5916E374107A}"/>
              </a:ext>
            </a:extLst>
          </p:cNvPr>
          <p:cNvSpPr txBox="1"/>
          <p:nvPr/>
        </p:nvSpPr>
        <p:spPr>
          <a:xfrm>
            <a:off x="580951" y="1299063"/>
            <a:ext cx="3512317" cy="4616648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Conclution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{ </a:t>
            </a:r>
            <a:endParaRPr lang="en-US" sz="105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global_grade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“A", </a:t>
            </a:r>
            <a:endParaRPr lang="en-US" sz="105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total_weighted_raw_score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4.8, </a:t>
            </a:r>
            <a:endParaRPr lang="en-US" sz="105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total_weighted_max_score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6.0, </a:t>
            </a:r>
            <a:endParaRPr lang="en-US" sz="105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section_contribution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{ </a:t>
            </a:r>
            <a:endParaRPr lang="en-US" sz="105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"Profile": { </a:t>
            </a:r>
            <a:endParaRPr lang="en-US" sz="105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session_grade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“C", </a:t>
            </a:r>
            <a:endParaRPr lang="en-US" sz="105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8.0,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section_weight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0.1,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0.8,   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 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2.0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},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"Education": {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session_grade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“A",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section_weight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0.2,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4.0,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 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4.0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globalfeedback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"response": "Strong education clearly supports the role; however, define your professional title for instant clarity and stronger impact."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}</a:t>
            </a:r>
            <a:endParaRPr lang="en-US" sz="1050">
              <a:solidFill>
                <a:srgbClr val="272428"/>
              </a:solidFill>
              <a:cs typeface="Poppins Ligh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10E0CE-1AD1-CE5C-5F61-1065A0B1ACAE}"/>
              </a:ext>
            </a:extLst>
          </p:cNvPr>
          <p:cNvSpPr/>
          <p:nvPr/>
        </p:nvSpPr>
        <p:spPr>
          <a:xfrm>
            <a:off x="4516089" y="1299176"/>
            <a:ext cx="6960297" cy="12348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285750" indent="-285750">
              <a:buFont typeface="Calibri"/>
              <a:buChar char="-"/>
              <a:defRPr/>
            </a:pPr>
            <a:r>
              <a:rPr lang="en-GB" sz="1400">
                <a:solidFill>
                  <a:srgbClr val="519BC9"/>
                </a:solidFill>
                <a:ea typeface="+mn-lt"/>
                <a:cs typeface="+mn-lt"/>
              </a:rPr>
              <a:t>Each criterion is scored independently per section. A value of </a:t>
            </a:r>
            <a:r>
              <a:rPr lang="en-GB" sz="1400" b="1">
                <a:solidFill>
                  <a:srgbClr val="519BC9"/>
                </a:solidFill>
                <a:ea typeface="+mn-lt"/>
                <a:cs typeface="+mn-lt"/>
              </a:rPr>
              <a:t>0</a:t>
            </a:r>
            <a:r>
              <a:rPr lang="en-GB" sz="1400">
                <a:solidFill>
                  <a:srgbClr val="519BC9"/>
                </a:solidFill>
                <a:ea typeface="+mn-lt"/>
                <a:cs typeface="+mn-lt"/>
              </a:rPr>
              <a:t> indicates the criterion is not applied to that section.</a:t>
            </a:r>
            <a:endParaRPr lang="en-GB" sz="1400">
              <a:cs typeface="Poppins Light"/>
            </a:endParaRPr>
          </a:p>
          <a:p>
            <a:pPr marL="285750" indent="-285750">
              <a:buFont typeface="Calibri"/>
              <a:buChar char="-"/>
              <a:defRPr/>
            </a:pPr>
            <a:r>
              <a:rPr lang="en-GB" sz="1400">
                <a:ea typeface="+mn-lt"/>
                <a:cs typeface="+mn-lt"/>
              </a:rPr>
              <a:t>Section weight determines how much each resume section contributes to the final score. The sum of all section weights equals </a:t>
            </a:r>
            <a:r>
              <a:rPr lang="en-GB" sz="1400" b="1">
                <a:ea typeface="+mn-lt"/>
                <a:cs typeface="+mn-lt"/>
              </a:rPr>
              <a:t>1.0</a:t>
            </a:r>
          </a:p>
          <a:p>
            <a:pPr marL="285750" indent="-285750">
              <a:buFont typeface="Calibri"/>
              <a:buChar char="-"/>
              <a:defRPr/>
            </a:pPr>
            <a:r>
              <a:rPr lang="en-GB" sz="1400">
                <a:ea typeface="+mn-lt"/>
                <a:cs typeface="+mn-lt"/>
              </a:rPr>
              <a:t>Sections with no data or disabled criteria do not affect the final score.</a:t>
            </a:r>
          </a:p>
        </p:txBody>
      </p:sp>
    </p:spTree>
    <p:extLst>
      <p:ext uri="{BB962C8B-B14F-4D97-AF65-F5344CB8AC3E}">
        <p14:creationId xmlns:p14="http://schemas.microsoft.com/office/powerpoint/2010/main" val="35248370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FE901-772D-250C-CB1E-E09D2F134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7D9CCF2-8DC4-AF34-E101-6B38788AB2E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D9CCF2-8DC4-AF34-E101-6B38788AB2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0973DDEE-6AE7-40AF-AA51-586A90C5FD6B}"/>
              </a:ext>
            </a:extLst>
          </p:cNvPr>
          <p:cNvSpPr/>
          <p:nvPr/>
        </p:nvSpPr>
        <p:spPr>
          <a:xfrm>
            <a:off x="420338" y="1080924"/>
            <a:ext cx="11351322" cy="56209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E017C1-7630-9E13-A6D3-5DFF579D00AB}"/>
              </a:ext>
            </a:extLst>
          </p:cNvPr>
          <p:cNvSpPr txBox="1"/>
          <p:nvPr/>
        </p:nvSpPr>
        <p:spPr>
          <a:xfrm>
            <a:off x="556510" y="2464328"/>
            <a:ext cx="3512317" cy="1938992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"Profile",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ContentQuality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profile lacks .... professional identity.."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3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"The profile includes … current status."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"While contact information ....  scientist role.."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A71ED8-0A96-6CA8-89C8-CF4A30773208}"/>
              </a:ext>
            </a:extLst>
          </p:cNvPr>
          <p:cNvSpPr txBox="1"/>
          <p:nvPr/>
        </p:nvSpPr>
        <p:spPr>
          <a:xfrm>
            <a:off x="4323246" y="4446675"/>
            <a:ext cx="3512317" cy="2185214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"Education",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"total_section_raw_score"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"total_section_max_score":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educational .... expected for the target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"Clearly presents. … candidate's education."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"The candidate's ....  the data 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53C626-94AB-992C-01A3-364B9E40C564}"/>
              </a:ext>
            </a:extLst>
          </p:cNvPr>
          <p:cNvSpPr txBox="1"/>
          <p:nvPr/>
        </p:nvSpPr>
        <p:spPr>
          <a:xfrm>
            <a:off x="556509" y="4465037"/>
            <a:ext cx="3512317" cy="1938992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"Education",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accent1">
                    <a:lumMod val="10000"/>
                  </a:schemeClr>
                </a:solidFill>
                <a:latin typeface="Poppins Light"/>
                <a:cs typeface="Poppins Light"/>
              </a:rPr>
              <a:t>5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educational .... expected for the target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accent1">
                    <a:lumMod val="10000"/>
                  </a:schemeClr>
                </a:solidFill>
                <a:latin typeface="Poppins Light"/>
                <a:cs typeface="Poppins Light"/>
              </a:rPr>
              <a:t>5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"Clearly presents. … candidate's education."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"The candidate's ....  the data 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78C240-9C87-D572-E0A0-02830303A351}"/>
              </a:ext>
            </a:extLst>
          </p:cNvPr>
          <p:cNvSpPr txBox="1"/>
          <p:nvPr/>
        </p:nvSpPr>
        <p:spPr>
          <a:xfrm>
            <a:off x="4323245" y="2336830"/>
            <a:ext cx="3512317" cy="2062103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"Profile",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"total_section_raw_score"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8.0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"total_section_max_score":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2.0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profile lacks .... professional identity.."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6.0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"The profile includes … current status."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"While contact information ....  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5B1965-EC4E-39DF-3F3E-39198785EF5B}"/>
              </a:ext>
            </a:extLst>
          </p:cNvPr>
          <p:cNvSpPr txBox="1"/>
          <p:nvPr/>
        </p:nvSpPr>
        <p:spPr>
          <a:xfrm>
            <a:off x="8134276" y="2737338"/>
            <a:ext cx="3512317" cy="3416320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Conclution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global_grade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“A"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total_weighted_raw_score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4.8,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total_weighted_max_score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6.0,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section_contribution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"Profile":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“C",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8.0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0.1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0.8,   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 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2.0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"Education":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“A",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0.2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4.0,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 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4.0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globalfeedback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"response": "Strong education clearly supports the role; however, define your professional title for instant clarity and stronger impact."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pic>
        <p:nvPicPr>
          <p:cNvPr id="18" name="Picture 17" descr="A red arrow pointing at a rectangle&#10;&#10;AI-generated content may be incorrect.">
            <a:extLst>
              <a:ext uri="{FF2B5EF4-FFF2-40B4-BE49-F238E27FC236}">
                <a16:creationId xmlns:a16="http://schemas.microsoft.com/office/drawing/2014/main" id="{33E12869-0501-47E7-0FC6-C136076E68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3" y="1209675"/>
            <a:ext cx="10277475" cy="11239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EE3540B-4774-657A-BC22-48CA2F114915}"/>
              </a:ext>
            </a:extLst>
          </p:cNvPr>
          <p:cNvSpPr txBox="1">
            <a:spLocks/>
          </p:cNvSpPr>
          <p:nvPr/>
        </p:nvSpPr>
        <p:spPr>
          <a:xfrm>
            <a:off x="990600" y="4859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Scoring Computation Flow</a:t>
            </a:r>
            <a:endParaRPr lang="en-US">
              <a:solidFill>
                <a:srgbClr val="519BC9"/>
              </a:solidFill>
              <a:latin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302556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CC1D0-5FE4-EB4B-8A7F-66B4E133D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6BDDDF9-CA57-9B6D-305A-8F79DDC2B74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BDDDF9-CA57-9B6D-305A-8F79DDC2B7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3327BC67-9CAF-1ECF-6D6A-1A2BA05CD14B}"/>
              </a:ext>
            </a:extLst>
          </p:cNvPr>
          <p:cNvSpPr/>
          <p:nvPr/>
        </p:nvSpPr>
        <p:spPr>
          <a:xfrm>
            <a:off x="420338" y="1080924"/>
            <a:ext cx="11351322" cy="56209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DDE85A-3CB4-A834-C765-288C574F2954}"/>
              </a:ext>
            </a:extLst>
          </p:cNvPr>
          <p:cNvSpPr txBox="1"/>
          <p:nvPr/>
        </p:nvSpPr>
        <p:spPr>
          <a:xfrm>
            <a:off x="556510" y="2464328"/>
            <a:ext cx="3512317" cy="1938992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"Profile",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ContentQuality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profile lacks .... professional identity.."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3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"The profile includes … current status."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"While contact information ....  scientist role.."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B87578-EF20-3112-327C-27E473679B10}"/>
              </a:ext>
            </a:extLst>
          </p:cNvPr>
          <p:cNvSpPr txBox="1"/>
          <p:nvPr/>
        </p:nvSpPr>
        <p:spPr>
          <a:xfrm>
            <a:off x="4323246" y="4446675"/>
            <a:ext cx="3512317" cy="2185214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"Education",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"total_section_raw_score"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"total_section_max_score":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educational .... expected for the target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"Clearly presents. … candidate's education."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"The candidate's ....  the data 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6BB37F-A91E-1C5B-601C-35DFF16A5337}"/>
              </a:ext>
            </a:extLst>
          </p:cNvPr>
          <p:cNvSpPr txBox="1"/>
          <p:nvPr/>
        </p:nvSpPr>
        <p:spPr>
          <a:xfrm>
            <a:off x="556509" y="4465037"/>
            <a:ext cx="3512317" cy="1938992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"Education",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accent1">
                    <a:lumMod val="10000"/>
                  </a:schemeClr>
                </a:solidFill>
                <a:latin typeface="Poppins Light"/>
                <a:cs typeface="Poppins Light"/>
              </a:rPr>
              <a:t>5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educational .... expected for the target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accent1">
                    <a:lumMod val="10000"/>
                  </a:schemeClr>
                </a:solidFill>
                <a:latin typeface="Poppins Light"/>
                <a:cs typeface="Poppins Light"/>
              </a:rPr>
              <a:t>5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"Clearly presents. … candidate's education."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"The candidate's ....  the data 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73A765-D3D9-95D1-F614-F2BE63AEF2F3}"/>
              </a:ext>
            </a:extLst>
          </p:cNvPr>
          <p:cNvSpPr txBox="1"/>
          <p:nvPr/>
        </p:nvSpPr>
        <p:spPr>
          <a:xfrm>
            <a:off x="4323245" y="2336830"/>
            <a:ext cx="3512317" cy="2062103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"Profile",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"total_section_raw_score"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8.0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"total_section_max_score":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2.0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profile lacks .... professional identity.."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6.0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"The profile includes … current status."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"While contact information ....  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90EAB4-46AC-5443-0908-3F4AB07730E2}"/>
              </a:ext>
            </a:extLst>
          </p:cNvPr>
          <p:cNvSpPr txBox="1"/>
          <p:nvPr/>
        </p:nvSpPr>
        <p:spPr>
          <a:xfrm>
            <a:off x="8134276" y="2737338"/>
            <a:ext cx="3512317" cy="3416320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Conclution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global_grade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“A"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total_weighted_raw_score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4.8,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total_weighted_max_score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6.0,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section_contribution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"Profile":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“C",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8.0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0.1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0.8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  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 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"Education":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“A",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0.2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4.0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 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4.0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globalfeedback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"response": "Strong education clearly supports the role; however, define your professional title for instant clarity and stronger impact."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pic>
        <p:nvPicPr>
          <p:cNvPr id="18" name="Picture 17" descr="A red arrow pointing at a rectangle&#10;&#10;AI-generated content may be incorrect.">
            <a:extLst>
              <a:ext uri="{FF2B5EF4-FFF2-40B4-BE49-F238E27FC236}">
                <a16:creationId xmlns:a16="http://schemas.microsoft.com/office/drawing/2014/main" id="{2CD882D0-BB82-65F2-1EC7-E65610A8DF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3" y="1209675"/>
            <a:ext cx="10277475" cy="11239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93F9989-CFF2-A512-6109-FD51F774476E}"/>
              </a:ext>
            </a:extLst>
          </p:cNvPr>
          <p:cNvSpPr txBox="1">
            <a:spLocks/>
          </p:cNvSpPr>
          <p:nvPr/>
        </p:nvSpPr>
        <p:spPr>
          <a:xfrm>
            <a:off x="990600" y="4859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Scoring Computation Flow</a:t>
            </a:r>
            <a:endParaRPr lang="en-US">
              <a:solidFill>
                <a:srgbClr val="519BC9"/>
              </a:solidFill>
              <a:latin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6664099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9D216-4B8B-6F23-7417-0779D3C42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894B16E-9E7E-E3D3-A8E5-7C103A5596B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94B16E-9E7E-E3D3-A8E5-7C103A5596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EC59B9F5-7292-3153-1A37-C6F07275AC4E}"/>
              </a:ext>
            </a:extLst>
          </p:cNvPr>
          <p:cNvSpPr/>
          <p:nvPr/>
        </p:nvSpPr>
        <p:spPr>
          <a:xfrm>
            <a:off x="420338" y="1080924"/>
            <a:ext cx="11351322" cy="56209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EB56FE-60D7-882A-992F-C47D3947E637}"/>
              </a:ext>
            </a:extLst>
          </p:cNvPr>
          <p:cNvSpPr txBox="1"/>
          <p:nvPr/>
        </p:nvSpPr>
        <p:spPr>
          <a:xfrm>
            <a:off x="556510" y="2464328"/>
            <a:ext cx="3512317" cy="1938992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"Profile",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ContentQuality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profile lacks .... professional identity.."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3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"The profile includes … current status."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"While contact information ....  scientist role.."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918C19-7483-E2F4-4535-AB43547B967E}"/>
              </a:ext>
            </a:extLst>
          </p:cNvPr>
          <p:cNvSpPr txBox="1"/>
          <p:nvPr/>
        </p:nvSpPr>
        <p:spPr>
          <a:xfrm>
            <a:off x="4323246" y="4446675"/>
            <a:ext cx="3512317" cy="2185214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"Education",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"total_section_raw_score"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"total_section_max_score":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educational .... expected for the target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"Clearly presents. … candidate's education."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"The candidate's ....  the data 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5778E0-42BB-F009-3F58-E83F64FD0837}"/>
              </a:ext>
            </a:extLst>
          </p:cNvPr>
          <p:cNvSpPr txBox="1"/>
          <p:nvPr/>
        </p:nvSpPr>
        <p:spPr>
          <a:xfrm>
            <a:off x="556509" y="4465037"/>
            <a:ext cx="3512317" cy="1938992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"Education",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accent1">
                    <a:lumMod val="10000"/>
                  </a:schemeClr>
                </a:solidFill>
                <a:latin typeface="Poppins Light"/>
                <a:cs typeface="Poppins Light"/>
              </a:rPr>
              <a:t>5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educational .... expected for the target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accent1">
                    <a:lumMod val="10000"/>
                  </a:schemeClr>
                </a:solidFill>
                <a:latin typeface="Poppins Light"/>
                <a:cs typeface="Poppins Light"/>
              </a:rPr>
              <a:t>5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"Clearly presents. … candidate's education."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"The candidate's ....  the data 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65EEB0-C2F4-2C42-FED4-17F8975D4E4F}"/>
              </a:ext>
            </a:extLst>
          </p:cNvPr>
          <p:cNvSpPr txBox="1"/>
          <p:nvPr/>
        </p:nvSpPr>
        <p:spPr>
          <a:xfrm>
            <a:off x="4323245" y="2336830"/>
            <a:ext cx="3512317" cy="2062103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"Profile",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"total_section_raw_score"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8.0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"total_section_max_score":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2.0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profile lacks .... professional identity.."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6.0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"The profile includes … current status."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"While contact information ....  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0173FB-6A86-6F57-58E0-D83BF43DF2A1}"/>
              </a:ext>
            </a:extLst>
          </p:cNvPr>
          <p:cNvSpPr txBox="1"/>
          <p:nvPr/>
        </p:nvSpPr>
        <p:spPr>
          <a:xfrm>
            <a:off x="8134276" y="2737338"/>
            <a:ext cx="3512317" cy="3416320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Conclution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global_grade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“A"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total_weighted_raw_score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4.8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total_weighted_max_score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6.0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section_contribution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"Profile":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“C",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8.0,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0.1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0.8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  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 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"Education":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“A",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0.2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4.0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 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4.0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globalfeedback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"response": "Strong education clearly supports the role; however, define your professional title for instant clarity and stronger impact."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pic>
        <p:nvPicPr>
          <p:cNvPr id="18" name="Picture 17" descr="A red arrow pointing at a rectangle&#10;&#10;AI-generated content may be incorrect.">
            <a:extLst>
              <a:ext uri="{FF2B5EF4-FFF2-40B4-BE49-F238E27FC236}">
                <a16:creationId xmlns:a16="http://schemas.microsoft.com/office/drawing/2014/main" id="{57D757C6-170B-E17F-B557-00DB075473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3" y="1209675"/>
            <a:ext cx="10277475" cy="11239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1E99B7F-8887-1DB6-4715-E59D7629A393}"/>
              </a:ext>
            </a:extLst>
          </p:cNvPr>
          <p:cNvSpPr txBox="1">
            <a:spLocks/>
          </p:cNvSpPr>
          <p:nvPr/>
        </p:nvSpPr>
        <p:spPr>
          <a:xfrm>
            <a:off x="990600" y="4859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Scoring Computation Flow</a:t>
            </a:r>
            <a:endParaRPr lang="en-US">
              <a:solidFill>
                <a:srgbClr val="519BC9"/>
              </a:solidFill>
              <a:latin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3190897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CB3F7-9DAD-1291-224E-245551518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2B3941F-9CC2-6C8B-CB31-2CAC5573C25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2B3941F-9CC2-6C8B-CB31-2CAC5573C2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466A4A27-7414-4532-AAF4-28029C67FD7B}"/>
              </a:ext>
            </a:extLst>
          </p:cNvPr>
          <p:cNvSpPr/>
          <p:nvPr/>
        </p:nvSpPr>
        <p:spPr>
          <a:xfrm>
            <a:off x="582264" y="1300424"/>
            <a:ext cx="3516769" cy="46283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B496790-901D-5646-431F-3C243E99670A}"/>
              </a:ext>
            </a:extLst>
          </p:cNvPr>
          <p:cNvSpPr txBox="1">
            <a:spLocks/>
          </p:cNvSpPr>
          <p:nvPr/>
        </p:nvSpPr>
        <p:spPr>
          <a:xfrm>
            <a:off x="838200" y="3335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Scoring Weights Configuration</a:t>
            </a:r>
            <a:endParaRPr lang="en-US">
              <a:solidFill>
                <a:srgbClr val="519BC9"/>
              </a:solidFill>
              <a:latin typeface="Poppins Ligh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747061C-E9E9-C968-BDF0-B4234B7F6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073036"/>
              </p:ext>
            </p:extLst>
          </p:nvPr>
        </p:nvGraphicFramePr>
        <p:xfrm>
          <a:off x="4514850" y="2009775"/>
          <a:ext cx="6962494" cy="32042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88925">
                  <a:extLst>
                    <a:ext uri="{9D8B030D-6E8A-4147-A177-3AD203B41FA5}">
                      <a16:colId xmlns:a16="http://schemas.microsoft.com/office/drawing/2014/main" val="2615654620"/>
                    </a:ext>
                  </a:extLst>
                </a:gridCol>
                <a:gridCol w="3573569">
                  <a:extLst>
                    <a:ext uri="{9D8B030D-6E8A-4147-A177-3AD203B41FA5}">
                      <a16:colId xmlns:a16="http://schemas.microsoft.com/office/drawing/2014/main" val="266613467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Normalized Score (%)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baseline="0" noProof="0">
                          <a:solidFill>
                            <a:srgbClr val="272428"/>
                          </a:solidFill>
                          <a:latin typeface="Poppins Light"/>
                        </a:rPr>
                        <a:t>Grade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995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 i="0" u="none" strike="noStrike" noProof="0">
                          <a:solidFill>
                            <a:schemeClr val="bg1">
                              <a:lumMod val="50000"/>
                              <a:lumOff val="50000"/>
                            </a:schemeClr>
                          </a:solidFill>
                          <a:latin typeface="Poppins Light"/>
                        </a:rPr>
                        <a:t>90 – 100</a:t>
                      </a:r>
                      <a:endParaRPr lang="en-GB" sz="1050">
                        <a:solidFill>
                          <a:schemeClr val="bg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>
                          <a:solidFill>
                            <a:schemeClr val="bg1">
                              <a:lumMod val="50000"/>
                              <a:lumOff val="50000"/>
                            </a:schemeClr>
                          </a:solidFill>
                        </a:rPr>
                        <a:t>A+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768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0" i="0" u="none" strike="noStrike" noProof="0">
                          <a:solidFill>
                            <a:schemeClr val="bg1">
                              <a:lumMod val="50000"/>
                              <a:lumOff val="50000"/>
                            </a:schemeClr>
                          </a:solidFill>
                        </a:rPr>
                        <a:t>80 – 89</a:t>
                      </a:r>
                      <a:endParaRPr lang="en-US">
                        <a:solidFill>
                          <a:schemeClr val="bg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>
                          <a:solidFill>
                            <a:schemeClr val="bg1">
                              <a:lumMod val="50000"/>
                              <a:lumOff val="50000"/>
                            </a:schemeClr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4855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 i="0" u="none" strike="noStrike" noProof="0">
                          <a:solidFill>
                            <a:schemeClr val="bg1">
                              <a:lumMod val="50000"/>
                              <a:lumOff val="50000"/>
                            </a:schemeClr>
                          </a:solidFill>
                          <a:latin typeface="Poppins Light"/>
                        </a:rPr>
                        <a:t>70 – 79</a:t>
                      </a:r>
                      <a:endParaRPr lang="en-GB" sz="1050">
                        <a:solidFill>
                          <a:schemeClr val="bg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noProof="0">
                          <a:solidFill>
                            <a:schemeClr val="bg1">
                              <a:lumMod val="50000"/>
                              <a:lumOff val="50000"/>
                            </a:schemeClr>
                          </a:solidFill>
                          <a:latin typeface="Poppins Light"/>
                        </a:rPr>
                        <a:t>B+</a:t>
                      </a:r>
                      <a:endParaRPr lang="en-US">
                        <a:solidFill>
                          <a:schemeClr val="bg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7005145"/>
                  </a:ext>
                </a:extLst>
              </a:tr>
              <a:tr h="14340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 i="0" u="none" strike="noStrike" noProof="0">
                          <a:solidFill>
                            <a:schemeClr val="bg1">
                              <a:lumMod val="50000"/>
                              <a:lumOff val="50000"/>
                            </a:schemeClr>
                          </a:solidFill>
                          <a:latin typeface="Poppins Light"/>
                        </a:rPr>
                        <a:t>60 – 69</a:t>
                      </a:r>
                      <a:endParaRPr lang="en-GB" sz="1050">
                        <a:solidFill>
                          <a:schemeClr val="bg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noProof="0">
                          <a:solidFill>
                            <a:schemeClr val="bg1">
                              <a:lumMod val="50000"/>
                              <a:lumOff val="50000"/>
                            </a:schemeClr>
                          </a:solidFill>
                          <a:latin typeface="Poppins Light"/>
                        </a:rPr>
                        <a:t>B</a:t>
                      </a:r>
                      <a:endParaRPr lang="en-US">
                        <a:solidFill>
                          <a:schemeClr val="bg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337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 i="0" u="none" strike="noStrike" baseline="0" noProof="0">
                          <a:solidFill>
                            <a:schemeClr val="bg1">
                              <a:lumMod val="50000"/>
                              <a:lumOff val="50000"/>
                            </a:schemeClr>
                          </a:solidFill>
                        </a:rPr>
                        <a:t>50 – 59</a:t>
                      </a:r>
                      <a:endParaRPr lang="en-US">
                        <a:solidFill>
                          <a:schemeClr val="bg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noProof="0">
                          <a:solidFill>
                            <a:schemeClr val="bg1">
                              <a:lumMod val="50000"/>
                              <a:lumOff val="50000"/>
                            </a:schemeClr>
                          </a:solidFill>
                          <a:latin typeface="Poppins Light"/>
                        </a:rPr>
                        <a:t>C+</a:t>
                      </a:r>
                      <a:endParaRPr lang="en-US">
                        <a:solidFill>
                          <a:schemeClr val="bg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775761"/>
                  </a:ext>
                </a:extLst>
              </a:tr>
              <a:tr h="1991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 i="0" u="none" strike="noStrike" noProof="0">
                          <a:solidFill>
                            <a:schemeClr val="bg1">
                              <a:lumMod val="50000"/>
                              <a:lumOff val="50000"/>
                            </a:schemeClr>
                          </a:solidFill>
                          <a:latin typeface="Poppins Light"/>
                        </a:rPr>
                        <a:t>40 – 49</a:t>
                      </a:r>
                      <a:endParaRPr lang="en-GB" sz="1050">
                        <a:solidFill>
                          <a:schemeClr val="bg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noProof="0">
                          <a:solidFill>
                            <a:schemeClr val="bg1">
                              <a:lumMod val="50000"/>
                              <a:lumOff val="50000"/>
                            </a:schemeClr>
                          </a:solidFill>
                          <a:latin typeface="Poppins Light"/>
                        </a:rPr>
                        <a:t>C</a:t>
                      </a:r>
                      <a:endParaRPr lang="en-US">
                        <a:solidFill>
                          <a:schemeClr val="bg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853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 i="0" u="none" strike="noStrike" noProof="0">
                          <a:solidFill>
                            <a:schemeClr val="bg1">
                              <a:lumMod val="50000"/>
                              <a:lumOff val="50000"/>
                            </a:schemeClr>
                          </a:solidFill>
                          <a:latin typeface="Poppins Light"/>
                        </a:rPr>
                        <a:t>30 – 39</a:t>
                      </a:r>
                      <a:endParaRPr lang="en-GB" sz="1050">
                        <a:solidFill>
                          <a:schemeClr val="bg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noProof="0">
                          <a:solidFill>
                            <a:schemeClr val="bg1">
                              <a:lumMod val="50000"/>
                              <a:lumOff val="50000"/>
                            </a:schemeClr>
                          </a:solidFill>
                          <a:latin typeface="Poppins Light"/>
                        </a:rPr>
                        <a:t>D+</a:t>
                      </a:r>
                      <a:endParaRPr lang="en-US">
                        <a:solidFill>
                          <a:schemeClr val="bg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02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0" i="0" u="none" strike="noStrike" noProof="0">
                          <a:solidFill>
                            <a:schemeClr val="bg1">
                              <a:lumMod val="50000"/>
                              <a:lumOff val="50000"/>
                            </a:schemeClr>
                          </a:solidFill>
                          <a:latin typeface="Poppins Light"/>
                        </a:rPr>
                        <a:t>20 – 29</a:t>
                      </a:r>
                      <a:endParaRPr lang="en-GB" sz="1050">
                        <a:solidFill>
                          <a:schemeClr val="bg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noProof="0">
                          <a:solidFill>
                            <a:schemeClr val="bg1">
                              <a:lumMod val="50000"/>
                              <a:lumOff val="50000"/>
                            </a:schemeClr>
                          </a:solidFill>
                          <a:latin typeface="Poppins Light"/>
                        </a:rPr>
                        <a:t>D</a:t>
                      </a:r>
                      <a:endParaRPr lang="en-US">
                        <a:solidFill>
                          <a:schemeClr val="bg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0368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1 – 19</a:t>
                      </a:r>
                      <a:endParaRPr lang="en-GB" sz="105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noProof="0">
                          <a:solidFill>
                            <a:schemeClr val="bg1"/>
                          </a:solidFill>
                          <a:latin typeface="Poppins Light"/>
                        </a:rPr>
                        <a:t>F</a:t>
                      </a:r>
                      <a:endParaRPr lang="en-US" b="1"/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78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noProof="0">
                          <a:solidFill>
                            <a:schemeClr val="bg1"/>
                          </a:solidFill>
                        </a:rPr>
                        <a:t>0</a:t>
                      </a:r>
                      <a:r>
                        <a:rPr lang="th-TH" sz="1050" b="1" i="0" u="none" strike="noStrike" noProof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050" b="1" i="0" u="none" strike="noStrike" noProof="0">
                          <a:solidFill>
                            <a:schemeClr val="bg1"/>
                          </a:solidFill>
                        </a:rPr>
                        <a:t>(undefine)</a:t>
                      </a:r>
                      <a:endParaRPr lang="en-US" b="1"/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noProof="0">
                          <a:solidFill>
                            <a:schemeClr val="bg1"/>
                          </a:solidFill>
                        </a:rPr>
                        <a:t>–</a:t>
                      </a:r>
                      <a:endParaRPr lang="en-US" b="1"/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 cap="flat" cmpd="sng" algn="ctr">
                      <a:solidFill>
                        <a:schemeClr val="tx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1312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050" b="1" i="0" u="none" strike="noStrike" noProof="0" err="1">
                          <a:solidFill>
                            <a:schemeClr val="bg1"/>
                          </a:solidFill>
                        </a:rPr>
                        <a:t>total_max_score</a:t>
                      </a:r>
                      <a:r>
                        <a:rPr lang="en-GB" sz="1050" b="1" i="0" u="none" strike="noStrike" noProof="0">
                          <a:solidFill>
                            <a:schemeClr val="bg1"/>
                          </a:solidFill>
                        </a:rPr>
                        <a:t> = 0 (error)</a:t>
                      </a:r>
                      <a:endParaRPr lang="en-US" b="1"/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 i="0" u="none" strike="noStrike" noProof="0">
                          <a:solidFill>
                            <a:schemeClr val="bg1"/>
                          </a:solidFill>
                        </a:rPr>
                        <a:t>–</a:t>
                      </a:r>
                      <a:endParaRPr lang="en-US" b="1"/>
                    </a:p>
                  </a:txBody>
                  <a:tcPr anchor="ctr">
                    <a:lnL w="12700">
                      <a:solidFill>
                        <a:schemeClr val="tx2">
                          <a:lumMod val="90000"/>
                        </a:schemeClr>
                      </a:solidFill>
                    </a:lnL>
                    <a:lnR w="12700">
                      <a:solidFill>
                        <a:schemeClr val="tx2">
                          <a:lumMod val="90000"/>
                        </a:schemeClr>
                      </a:solidFill>
                    </a:lnR>
                    <a:lnT w="12700">
                      <a:solidFill>
                        <a:schemeClr val="tx2">
                          <a:lumMod val="90000"/>
                        </a:schemeClr>
                      </a:solidFill>
                    </a:lnT>
                    <a:lnB w="12700">
                      <a:solidFill>
                        <a:schemeClr val="tx2">
                          <a:lumMod val="9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873851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3632F3FF-1DE2-D7DA-BAD0-5C9F341B20C4}"/>
              </a:ext>
            </a:extLst>
          </p:cNvPr>
          <p:cNvSpPr/>
          <p:nvPr/>
        </p:nvSpPr>
        <p:spPr>
          <a:xfrm>
            <a:off x="4516089" y="1298029"/>
            <a:ext cx="6960297" cy="5187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 b="1">
                <a:solidFill>
                  <a:srgbClr val="519BC9"/>
                </a:solidFill>
                <a:latin typeface="Poppins Light"/>
                <a:cs typeface="Poppins Light"/>
              </a:rPr>
              <a:t>Score (%) = round( (total_raw_score / total_max_score) × 100 )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183023-12CE-33EA-06D3-9F2C42E58E9F}"/>
              </a:ext>
            </a:extLst>
          </p:cNvPr>
          <p:cNvSpPr txBox="1"/>
          <p:nvPr/>
        </p:nvSpPr>
        <p:spPr>
          <a:xfrm>
            <a:off x="580951" y="1299063"/>
            <a:ext cx="3512317" cy="4616648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Conclution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{ </a:t>
            </a:r>
            <a:endParaRPr lang="en-US" sz="105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global_grade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“A", </a:t>
            </a:r>
            <a:endParaRPr lang="en-US" sz="105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total_weighted_raw_score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4.8, </a:t>
            </a:r>
            <a:endParaRPr lang="en-US" sz="105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total_weighted_max_score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6.0, </a:t>
            </a:r>
            <a:endParaRPr lang="en-US" sz="105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section_contribution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{ </a:t>
            </a:r>
            <a:endParaRPr lang="en-US" sz="105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"Profile": { </a:t>
            </a:r>
            <a:endParaRPr lang="en-US" sz="105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session_grade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“C", </a:t>
            </a:r>
            <a:endParaRPr lang="en-US" sz="1050">
              <a:solidFill>
                <a:srgbClr val="519BC9"/>
              </a:solidFill>
              <a:latin typeface="Poppins Light"/>
              <a:cs typeface="Poppins Light"/>
            </a:endParaRP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8.0,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section_weight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0.1,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0.8,   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 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2.0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},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"Education": {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session_grade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“A",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section_weight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0.2,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4.0,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  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4.0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"</a:t>
            </a:r>
            <a:r>
              <a:rPr lang="en-US" sz="1050" err="1">
                <a:solidFill>
                  <a:srgbClr val="272428"/>
                </a:solidFill>
                <a:latin typeface="Poppins Light"/>
                <a:cs typeface="Poppins Light"/>
              </a:rPr>
              <a:t>globalfeedback</a:t>
            </a:r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      "response": "Strong education clearly supports the role; however, define your professional title for instant clarity and stronger impact." </a:t>
            </a:r>
          </a:p>
          <a:p>
            <a:r>
              <a:rPr lang="en-US" sz="1050">
                <a:solidFill>
                  <a:srgbClr val="272428"/>
                </a:solidFill>
                <a:latin typeface="Poppins Light"/>
                <a:cs typeface="Poppins Light"/>
              </a:rPr>
              <a:t>    }</a:t>
            </a:r>
            <a:endParaRPr lang="en-US" sz="1050">
              <a:solidFill>
                <a:srgbClr val="272428"/>
              </a:solidFill>
              <a:cs typeface="Poppins Ligh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21B2C6-D6C0-3A45-265A-689B6878912B}"/>
              </a:ext>
            </a:extLst>
          </p:cNvPr>
          <p:cNvSpPr/>
          <p:nvPr/>
        </p:nvSpPr>
        <p:spPr>
          <a:xfrm>
            <a:off x="4516089" y="5393778"/>
            <a:ext cx="6960297" cy="5187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GB" sz="1400">
                <a:solidFill>
                  <a:srgbClr val="519BC9"/>
                </a:solidFill>
                <a:ea typeface="+mn-lt"/>
                <a:cs typeface="+mn-lt"/>
              </a:rPr>
              <a:t>If Total Max Score = 0 or score = 0, the grade is shown as ‘–’.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0297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D3D4F-B3A3-5F24-2F46-312451D81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982BADA-B766-ABB3-085C-6B0F22FEDC1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982BADA-B766-ABB3-085C-6B0F22FEDC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52D1F2D1-C819-3804-5979-6434A9506FB6}"/>
              </a:ext>
            </a:extLst>
          </p:cNvPr>
          <p:cNvSpPr/>
          <p:nvPr/>
        </p:nvSpPr>
        <p:spPr>
          <a:xfrm>
            <a:off x="420338" y="1080924"/>
            <a:ext cx="11351322" cy="56209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E80DC0-CEEC-7936-473E-E26D3674020D}"/>
              </a:ext>
            </a:extLst>
          </p:cNvPr>
          <p:cNvSpPr txBox="1"/>
          <p:nvPr/>
        </p:nvSpPr>
        <p:spPr>
          <a:xfrm>
            <a:off x="556510" y="2464328"/>
            <a:ext cx="3512317" cy="1938992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"Profile",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ContentQuality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profile lacks .... professional identity.."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3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"The profile includes … current status."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"While contact information ....  scientist role.."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268B5E-84D9-A402-41AA-E5C68D47BA31}"/>
              </a:ext>
            </a:extLst>
          </p:cNvPr>
          <p:cNvSpPr txBox="1"/>
          <p:nvPr/>
        </p:nvSpPr>
        <p:spPr>
          <a:xfrm>
            <a:off x="4323246" y="4446675"/>
            <a:ext cx="3512317" cy="2185214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"Education",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"total_section_raw_score"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"total_section_max_score":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educational .... expected for the target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"Clearly presents. … candidate's education."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"The candidate's ....  the data 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B46FB8-7BBB-7029-1463-3EE8AAFEF88A}"/>
              </a:ext>
            </a:extLst>
          </p:cNvPr>
          <p:cNvSpPr txBox="1"/>
          <p:nvPr/>
        </p:nvSpPr>
        <p:spPr>
          <a:xfrm>
            <a:off x="556509" y="4465037"/>
            <a:ext cx="3512317" cy="1938992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"Education",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accent1">
                    <a:lumMod val="10000"/>
                  </a:schemeClr>
                </a:solidFill>
                <a:latin typeface="Poppins Light"/>
                <a:cs typeface="Poppins Light"/>
              </a:rPr>
              <a:t>5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educational .... expected for the target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accent1">
                    <a:lumMod val="10000"/>
                  </a:schemeClr>
                </a:solidFill>
                <a:latin typeface="Poppins Light"/>
                <a:cs typeface="Poppins Light"/>
              </a:rPr>
              <a:t>5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"Clearly presents. … candidate's education."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"The candidate's ....  the data 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83D094-4818-602A-FDFB-0BE964C43CE5}"/>
              </a:ext>
            </a:extLst>
          </p:cNvPr>
          <p:cNvSpPr txBox="1"/>
          <p:nvPr/>
        </p:nvSpPr>
        <p:spPr>
          <a:xfrm>
            <a:off x="4323245" y="2336830"/>
            <a:ext cx="3512317" cy="2062103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"Profile",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"total_section_raw_score"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8.0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"total_section_max_score":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2.0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profile lacks .... professional identity.."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6.0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"The profile includes … current status."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"While contact information ....  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1E190A-AC20-BD59-A117-7507BE106B0B}"/>
              </a:ext>
            </a:extLst>
          </p:cNvPr>
          <p:cNvSpPr txBox="1"/>
          <p:nvPr/>
        </p:nvSpPr>
        <p:spPr>
          <a:xfrm>
            <a:off x="8134276" y="2737338"/>
            <a:ext cx="3512317" cy="3416320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Conclution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global_grade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“A"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total_weighted_raw_score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4.8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total_weighted_max_score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6.0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section_contribution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"Profile":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“C",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8.0,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0.1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0.8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  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 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"Education":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“A",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0.2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4.0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 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4.0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globalfeedback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"response": "Strong education clearly supports the role; however, define your professional title for instant clarity and stronger impact."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pic>
        <p:nvPicPr>
          <p:cNvPr id="18" name="Picture 17" descr="A red arrow pointing at a rectangle&#10;&#10;AI-generated content may be incorrect.">
            <a:extLst>
              <a:ext uri="{FF2B5EF4-FFF2-40B4-BE49-F238E27FC236}">
                <a16:creationId xmlns:a16="http://schemas.microsoft.com/office/drawing/2014/main" id="{E500EE3A-3C51-BB0F-B448-AFC3CA2FB1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3" y="1209675"/>
            <a:ext cx="10277475" cy="11239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6AF0D9A-4E63-F962-7557-4997F43F8478}"/>
              </a:ext>
            </a:extLst>
          </p:cNvPr>
          <p:cNvSpPr txBox="1">
            <a:spLocks/>
          </p:cNvSpPr>
          <p:nvPr/>
        </p:nvSpPr>
        <p:spPr>
          <a:xfrm>
            <a:off x="990600" y="4859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Scoring Computation Flow</a:t>
            </a:r>
            <a:endParaRPr lang="en-US">
              <a:solidFill>
                <a:srgbClr val="519BC9"/>
              </a:solidFill>
              <a:latin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3639481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4FE45-347D-4D21-F1D7-B65DD4433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5A2B0B2-0235-9A44-A6F8-94631D649E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A2B0B2-0235-9A44-A6F8-94631D649E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6EFA0F5D-3D7B-1004-8CB3-D75210054E76}"/>
              </a:ext>
            </a:extLst>
          </p:cNvPr>
          <p:cNvSpPr/>
          <p:nvPr/>
        </p:nvSpPr>
        <p:spPr>
          <a:xfrm>
            <a:off x="420338" y="1080924"/>
            <a:ext cx="11351322" cy="56209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519BC9"/>
              </a:solidFill>
              <a:effectLst/>
              <a:uLnTx/>
              <a:uFillTx/>
              <a:latin typeface="Poppins Light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326FB8-428C-0F1E-012D-07881D7FE2E9}"/>
              </a:ext>
            </a:extLst>
          </p:cNvPr>
          <p:cNvSpPr txBox="1"/>
          <p:nvPr/>
        </p:nvSpPr>
        <p:spPr>
          <a:xfrm>
            <a:off x="556510" y="2464328"/>
            <a:ext cx="3512317" cy="1938992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"Profile",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ContentQuality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profile lacks .... professional identity.."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3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"The profile includes … current status."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"While contact information ....  scientist role.."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5AFB3B-84E5-F0F4-46A5-940528AB2E18}"/>
              </a:ext>
            </a:extLst>
          </p:cNvPr>
          <p:cNvSpPr txBox="1"/>
          <p:nvPr/>
        </p:nvSpPr>
        <p:spPr>
          <a:xfrm>
            <a:off x="4323246" y="4446675"/>
            <a:ext cx="3512317" cy="2185214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"Education",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"total_section_raw_score"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"total_section_max_score":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educational .... expected for the target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10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"Clearly presents. … candidate's education."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"The candidate's ....  the data 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38FFCE-661B-B4B6-0EFB-F846C43E0C25}"/>
              </a:ext>
            </a:extLst>
          </p:cNvPr>
          <p:cNvSpPr txBox="1"/>
          <p:nvPr/>
        </p:nvSpPr>
        <p:spPr>
          <a:xfrm>
            <a:off x="556509" y="4465037"/>
            <a:ext cx="3512317" cy="1938992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"Education",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accent1">
                    <a:lumMod val="10000"/>
                  </a:schemeClr>
                </a:solidFill>
                <a:latin typeface="Poppins Light"/>
                <a:cs typeface="Poppins Light"/>
              </a:rPr>
              <a:t>5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educational .... expected for the target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accent1">
                    <a:lumMod val="10000"/>
                  </a:schemeClr>
                </a:solidFill>
                <a:latin typeface="Poppins Light"/>
                <a:cs typeface="Poppins Light"/>
              </a:rPr>
              <a:t>5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"Clearly presents. … candidate's education."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"The candidate's ....  the data 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48CCD9-38B7-E840-1402-5CCAE99E2041}"/>
              </a:ext>
            </a:extLst>
          </p:cNvPr>
          <p:cNvSpPr txBox="1"/>
          <p:nvPr/>
        </p:nvSpPr>
        <p:spPr>
          <a:xfrm>
            <a:off x="4323245" y="2336830"/>
            <a:ext cx="3512317" cy="2062103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"section": "Profile",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"total_section_raw_score"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8.0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"total_section_max_score":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20.0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"scores":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RoleRelevance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2.0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"feedback": "The profile lacks .... professional identity.."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       },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"Completeness":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"score": </a:t>
            </a:r>
            <a:r>
              <a:rPr lang="en-US" sz="800" b="1">
                <a:solidFill>
                  <a:schemeClr val="bg1"/>
                </a:solidFill>
                <a:latin typeface="Poppins Light"/>
                <a:cs typeface="Poppins Light"/>
              </a:rPr>
              <a:t>6.0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 "feedback": "The profile includes … current status."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"While contact information ....  scientist role."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2D1015-2693-CBAE-7849-C8C2716E1012}"/>
              </a:ext>
            </a:extLst>
          </p:cNvPr>
          <p:cNvSpPr txBox="1"/>
          <p:nvPr/>
        </p:nvSpPr>
        <p:spPr>
          <a:xfrm>
            <a:off x="8134276" y="2737338"/>
            <a:ext cx="3512317" cy="3416320"/>
          </a:xfrm>
          <a:prstGeom prst="rect">
            <a:avLst/>
          </a:prstGeom>
          <a:noFill/>
          <a:ln w="28575" cap="rnd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t">
            <a:spAutoFit/>
          </a:bodyPr>
          <a:lstStyle/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Conclution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global_grade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“</a:t>
            </a:r>
            <a:r>
              <a:rPr lang="en-US" sz="800">
                <a:solidFill>
                  <a:schemeClr val="bg1"/>
                </a:solidFill>
                <a:cs typeface="Poppins Light"/>
              </a:rPr>
              <a:t>A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cs typeface="Poppins Light"/>
              </a:rPr>
              <a:t>"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total_weighted_raw_score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4.8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total_weighted_max_score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6.0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section_contribution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"Profile": {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“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C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", </a:t>
            </a:r>
            <a:endParaRPr lang="en-US">
              <a:solidFill>
                <a:schemeClr val="bg1">
                  <a:lumMod val="25000"/>
                  <a:lumOff val="75000"/>
                </a:schemeClr>
              </a:solidFill>
              <a:latin typeface="Poppins Light"/>
              <a:cs typeface="Poppins Light"/>
            </a:endParaRP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8.0,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0.1,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0.8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   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 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2.0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"Education":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session_grade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“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A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20.0,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section_weight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0.2,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total_section_raw_score_x_weight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4.0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,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  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total_section_max_score_x_weight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</a:t>
            </a:r>
            <a:r>
              <a:rPr lang="en-US" sz="800">
                <a:solidFill>
                  <a:schemeClr val="bg1"/>
                </a:solidFill>
                <a:latin typeface="Poppins Light"/>
                <a:cs typeface="Poppins Light"/>
              </a:rPr>
              <a:t>4.0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}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},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"</a:t>
            </a:r>
            <a:r>
              <a:rPr lang="en-US" sz="800" err="1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globalfeedback</a:t>
            </a:r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": {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      "response": "Strong education clearly supports the role; however, define your professional title for instant clarity and stronger impact." </a:t>
            </a:r>
          </a:p>
          <a:p>
            <a:r>
              <a:rPr lang="en-US" sz="800">
                <a:solidFill>
                  <a:schemeClr val="bg1">
                    <a:lumMod val="25000"/>
                    <a:lumOff val="75000"/>
                  </a:schemeClr>
                </a:solidFill>
                <a:latin typeface="Poppins Light"/>
                <a:cs typeface="Poppins Light"/>
              </a:rPr>
              <a:t>    }</a:t>
            </a:r>
            <a:endParaRPr lang="en-US" sz="800">
              <a:solidFill>
                <a:schemeClr val="bg1">
                  <a:lumMod val="25000"/>
                  <a:lumOff val="75000"/>
                </a:schemeClr>
              </a:solidFill>
              <a:cs typeface="Poppins Light"/>
            </a:endParaRPr>
          </a:p>
        </p:txBody>
      </p:sp>
      <p:pic>
        <p:nvPicPr>
          <p:cNvPr id="18" name="Picture 17" descr="A red arrow pointing at a rectangle&#10;&#10;AI-generated content may be incorrect.">
            <a:extLst>
              <a:ext uri="{FF2B5EF4-FFF2-40B4-BE49-F238E27FC236}">
                <a16:creationId xmlns:a16="http://schemas.microsoft.com/office/drawing/2014/main" id="{BE5EF022-1112-F30B-9EA2-BDD97B942E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3" y="1209675"/>
            <a:ext cx="10277475" cy="11239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6A53DB0-3AA2-790B-92A1-1704710BA03B}"/>
              </a:ext>
            </a:extLst>
          </p:cNvPr>
          <p:cNvSpPr txBox="1">
            <a:spLocks/>
          </p:cNvSpPr>
          <p:nvPr/>
        </p:nvSpPr>
        <p:spPr>
          <a:xfrm>
            <a:off x="990600" y="485995"/>
            <a:ext cx="10515600" cy="528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2400">
                <a:solidFill>
                  <a:srgbClr val="519BC9"/>
                </a:solidFill>
                <a:latin typeface="Poppins Light"/>
                <a:cs typeface="Poppins Light"/>
              </a:rPr>
              <a:t>CVResume evaluation</a:t>
            </a:r>
            <a:r>
              <a:rPr lang="en-TH" sz="2400">
                <a:solidFill>
                  <a:srgbClr val="519BC9"/>
                </a:solidFill>
                <a:latin typeface="Poppins Light"/>
              </a:rPr>
              <a:t> </a:t>
            </a:r>
            <a:r>
              <a:rPr kumimoji="0" lang="en-TH" sz="2400" b="0" i="0" u="none" strike="noStrike" kern="1200" cap="none" spc="0" normalizeH="0" baseline="0" noProof="0">
                <a:ln>
                  <a:noFill/>
                </a:ln>
                <a:solidFill>
                  <a:srgbClr val="519BC9"/>
                </a:solidFill>
                <a:effectLst/>
                <a:uLnTx/>
                <a:uFillTx/>
                <a:latin typeface="Poppins Light"/>
                <a:ea typeface="+mj-ea"/>
              </a:rPr>
              <a:t>– </a:t>
            </a:r>
            <a:r>
              <a:rPr lang="en-US" sz="2400">
                <a:solidFill>
                  <a:srgbClr val="519BC9"/>
                </a:solidFill>
                <a:ea typeface="+mj-lt"/>
                <a:cs typeface="+mj-lt"/>
              </a:rPr>
              <a:t>Scoring Computation Flow</a:t>
            </a:r>
            <a:endParaRPr lang="en-US">
              <a:solidFill>
                <a:srgbClr val="519BC9"/>
              </a:solidFill>
              <a:latin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7310858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3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&quot;&gt;&lt;elem m_fUsage=&quot;4.09510000000000040643E+00&quot;&gt;&lt;m_msothmcolidx val=&quot;0&quot;/&gt;&lt;m_rgb r=&quot;A7&quot; g=&quot;E2&quot; b=&quot;1C&quot;/&gt;&lt;/elem&gt;&lt;/m_vecMRU&gt;&lt;/m_mruColor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DV 16:9">
  <a:themeElements>
    <a:clrScheme name="TDV_PPT">
      <a:dk1>
        <a:srgbClr val="272428"/>
      </a:dk1>
      <a:lt1>
        <a:srgbClr val="519BC9"/>
      </a:lt1>
      <a:dk2>
        <a:srgbClr val="FFFFFF"/>
      </a:dk2>
      <a:lt2>
        <a:srgbClr val="E7E7E7"/>
      </a:lt2>
      <a:accent1>
        <a:srgbClr val="B9D7E9"/>
      </a:accent1>
      <a:accent2>
        <a:srgbClr val="96C2DE"/>
      </a:accent2>
      <a:accent3>
        <a:srgbClr val="21A2E0"/>
      </a:accent3>
      <a:accent4>
        <a:srgbClr val="C4D9DA"/>
      </a:accent4>
      <a:accent5>
        <a:srgbClr val="357887"/>
      </a:accent5>
      <a:accent6>
        <a:srgbClr val="EE9D59"/>
      </a:accent6>
      <a:hlink>
        <a:srgbClr val="C4D9DA"/>
      </a:hlink>
      <a:folHlink>
        <a:srgbClr val="C4D9DA"/>
      </a:folHlink>
    </a:clrScheme>
    <a:fontScheme name="TDV_EN">
      <a:majorFont>
        <a:latin typeface="Poppins Light"/>
        <a:ea typeface=""/>
        <a:cs typeface="Sarabun Light"/>
      </a:majorFont>
      <a:minorFont>
        <a:latin typeface="Poppins Light"/>
        <a:ea typeface=""/>
        <a:cs typeface="Sarabun Light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 cap="rnd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800" dirty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 cmpd="sng" algn="ctr">
          <a:solidFill>
            <a:srgbClr val="808080"/>
          </a:solidFill>
          <a:prstDash val="solid"/>
          <a:round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 cap="rnd">
          <a:noFill/>
          <a:prstDash val="solid"/>
          <a:round/>
        </a:ln>
        <a:extLst>
          <a:ext uri="{909E8E84-426E-40DD-AFC4-6F175D3DCCD1}">
            <a14:hiddenFill xmlns:a14="http://schemas.microsoft.com/office/drawing/2010/main">
              <a:solidFill>
                <a:srgbClr val="29BA74"/>
              </a:solidFill>
            </a14:hiddenFill>
          </a:ext>
        </a:ex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extLst>
    <a:ext uri="{05A4C25C-085E-4340-85A3-A5531E510DB2}">
      <thm15:themeFamily xmlns:thm15="http://schemas.microsoft.com/office/thememl/2012/main" name="Blank_16x9.potx" id="{F1417891-ADEE-4A5A-84BF-A61365689D8D}" vid="{7D249777-7FCF-437A-B862-D77B0EF45D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เอกสาร" ma:contentTypeID="0x010100530E0C104CB45049989F34FCC0B168EC" ma:contentTypeVersion="17" ma:contentTypeDescription="สร้างเอกสารใหม่" ma:contentTypeScope="" ma:versionID="e214cc5e78c9727a84d2f0c178040d3c">
  <xsd:schema xmlns:xsd="http://www.w3.org/2001/XMLSchema" xmlns:xs="http://www.w3.org/2001/XMLSchema" xmlns:p="http://schemas.microsoft.com/office/2006/metadata/properties" xmlns:ns1="http://schemas.microsoft.com/sharepoint/v3" xmlns:ns2="09f3555d-c171-41b2-b494-f2476553e307" xmlns:ns3="2f6aa249-39cd-4473-a0f3-9079d45ceca4" targetNamespace="http://schemas.microsoft.com/office/2006/metadata/properties" ma:root="true" ma:fieldsID="ba8e6f85855b0b33eaa14723613f2aea" ns1:_="" ns2:_="" ns3:_="">
    <xsd:import namespace="http://schemas.microsoft.com/sharepoint/v3"/>
    <xsd:import namespace="09f3555d-c171-41b2-b494-f2476553e307"/>
    <xsd:import namespace="2f6aa249-39cd-4473-a0f3-9079d45cec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Datetime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คุณสมบัตินโยบายการปฏิบัติตามกฎระเบียบแบบรวมเป็นหนึ่ง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การดำเนินการ UI นโยบายการปฏิบัติตามกฎระเบียบแบบรวมเป็นหนึ่ง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f3555d-c171-41b2-b494-f2476553e3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แท็กรูป" ma:readOnly="false" ma:fieldId="{5cf76f15-5ced-4ddc-b409-7134ff3c332f}" ma:taxonomyMulti="true" ma:sspId="9ea676a8-7fb5-4be3-ac72-dad1d723d2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Datetime" ma:index="19" nillable="true" ma:displayName="Datetime" ma:format="DateOnly" ma:internalName="Datetime">
      <xsd:simpleType>
        <xsd:restriction base="dms:DateTim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6aa249-39cd-4473-a0f3-9079d45ceca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0dda714c-ba30-4eba-ba5a-6a9297a7581a}" ma:internalName="TaxCatchAll" ma:showField="CatchAllData" ma:web="2f6aa249-39cd-4473-a0f3-9079d45ceca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แชร์กับ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แชร์พร้อมกับรายละเอียด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ชนิดเนื้อหา"/>
        <xsd:element ref="dc:title" minOccurs="0" maxOccurs="1" ma:index="4" ma:displayName="ชื่อเรื่อง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Datetime xmlns="09f3555d-c171-41b2-b494-f2476553e307" xsi:nil="true"/>
    <lcf76f155ced4ddcb4097134ff3c332f xmlns="09f3555d-c171-41b2-b494-f2476553e307">
      <Terms xmlns="http://schemas.microsoft.com/office/infopath/2007/PartnerControls"/>
    </lcf76f155ced4ddcb4097134ff3c332f>
    <_ip_UnifiedCompliancePolicyProperties xmlns="http://schemas.microsoft.com/sharepoint/v3" xsi:nil="true"/>
    <TaxCatchAll xmlns="2f6aa249-39cd-4473-a0f3-9079d45ceca4" xsi:nil="true"/>
  </documentManagement>
</p:properties>
</file>

<file path=customXml/itemProps1.xml><?xml version="1.0" encoding="utf-8"?>
<ds:datastoreItem xmlns:ds="http://schemas.openxmlformats.org/officeDocument/2006/customXml" ds:itemID="{FC05A11D-ADF7-4BE7-ACA6-BACA0423A948}">
  <ds:schemaRefs>
    <ds:schemaRef ds:uri="09f3555d-c171-41b2-b494-f2476553e307"/>
    <ds:schemaRef ds:uri="2f6aa249-39cd-4473-a0f3-9079d45ceca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0AC116F-9AFC-49E4-9155-77726DFC1D1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D32051-5CEC-48EF-B102-4F2FA5F022A3}">
  <ds:schemaRefs>
    <ds:schemaRef ds:uri="09f3555d-c171-41b2-b494-f2476553e307"/>
    <ds:schemaRef ds:uri="2f6aa249-39cd-4473-a0f3-9079d45ceca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37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TDV 16:9</vt:lpstr>
      <vt:lpstr>PowerPoint Presentation</vt:lpstr>
      <vt:lpstr>CVResume evaluation – System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Oranid Yenradee</dc:creator>
  <cp:revision>4</cp:revision>
  <dcterms:created xsi:type="dcterms:W3CDTF">2025-10-29T05:34:16Z</dcterms:created>
  <dcterms:modified xsi:type="dcterms:W3CDTF">2026-01-21T02:42:29Z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0x010100530E0C104CB45049989F34FCC0B168EC</vt:lpwstr>
  </property>
  <property fmtid="{D5CDD505-2E9C-101B-9397-08002B2CF9AE}" pid="3" name="MediaServiceImageTags">
    <vt:lpwstr/>
  </property>
</Properties>
</file>